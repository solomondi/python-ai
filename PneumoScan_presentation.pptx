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Норма</c:v>
                </c:pt>
              </c:strCache>
            </c:strRef>
          </c:tx>
          <c:spPr>
            <a:solidFill>
              <a:srgbClr val="34C47C"/>
            </a:solidFill>
          </c:spPr>
          <c:cat>
            <c:strRef>
              <c:f>Sheet1!$A$2:$A$3</c:f>
              <c:strCache>
                <c:ptCount val="2"/>
                <c:pt idx="0">
                  <c:v>Обучение</c:v>
                </c:pt>
                <c:pt idx="1">
                  <c:v>Проверка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1341</c:v>
                </c:pt>
                <c:pt idx="1">
                  <c:v>234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Пневмония</c:v>
                </c:pt>
              </c:strCache>
            </c:strRef>
          </c:tx>
          <c:spPr>
            <a:solidFill>
              <a:srgbClr val="F0565B"/>
            </a:solidFill>
          </c:spPr>
          <c:cat>
            <c:strRef>
              <c:f>Sheet1!$A$2:$A$3</c:f>
              <c:strCache>
                <c:ptCount val="2"/>
                <c:pt idx="0">
                  <c:v>Обучение</c:v>
                </c:pt>
                <c:pt idx="1">
                  <c:v>Проверка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3875</c:v>
                </c:pt>
                <c:pt idx="1">
                  <c:v>390</c:v>
                </c:pt>
              </c:numCache>
            </c:numRef>
          </c:val>
        </c:ser>
        <c:dLbls>
          <c:txPr>
            <a:bodyPr/>
            <a:lstStyle/>
            <a:p>
              <a:pPr>
                <a:defRPr sz="1200">
                  <a:solidFill>
                    <a:srgbClr val="EEF0F3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293040"/>
            </a:solidFill>
          </a:ln>
        </c:spPr>
        <c:txPr>
          <a:bodyPr/>
          <a:lstStyle/>
          <a:p>
            <a:pPr>
              <a:defRPr>
                <a:solidFill>
                  <a:srgbClr val="EEF0F3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>
              <a:solidFill>
                <a:srgbClr val="EEF0F3"/>
              </a:solidFill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A3ABBA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PneumoScan — система, которая по рентгеновскому снимку грудной клетки определяет признаки пневмонии. Она состоит из обученной нейросети и приложения для Windows. Авторы проекта — Соломонов Д. М. и Калашников Н. 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Задача — по рентгеновскому снимку определить: норма или пневмония. Для обучения использован открытый набор Kermany et al.: 5 856 снимков детей от 1 до 5 лет. Пневмоний почти в три раза больше, чем нормы, и это учтено при обучении.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Снимок проходит пять шагов. Он приводится к одному размеру, сверточная нейросеть анализирует его и выдаёт число, которое переводится в вероятность пневмонии. Если вероятность выше порога — вердикт «пневмония». Одновременно строится тепловая карта, показывающая, на что смотрела модель.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Нейросеть написана с нуля на PyTorch и обучена без готовых весов. Она состоит из четырёх сверточных блоков: свёртка 3×3, нормализация BatchNorm, активация ReLU и пулинг, который уменьшает изображение вдвое. Затем берётся среднее по каждому из 256 признаков, дальше полносвязный слой на 128 нейронов с Dropout и один выход — вероятность пневмонии. Всего 422 тысячи параметров.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Чтобы модель не запоминала конкретные снимки, при обучении каждый снимок каждый раз немного изменяется: поворачивается, сдвигается, обрезается, меняется яркость и контраст. Сеть обучалась с нуля на видеокарте 40 эпох; лучшая модель получена на 34-й эпохе, порог решения подобран на отдельной валидационной выборке.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Проверка — на 624 снимках, которые модель не видела при обучении. ROC-AUC 0.971 означает, что модель хорошо отделяет пневмонию от нормы. Модель нашла 386 пневмоний из 390. Часть здоровых снимков она отмечает как подозрительные — для скрининга это безопаснее, чем пропустить болезнь.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Чтобы решению можно было доверять, для каждого снимка строится тепловая карта Grad-CAM. Она показывает, какие участки сильнее всего повлияли на ответ. Здесь модель смотрит на затемнённые участки в обоих лёгких, а не на рёбра и надписи.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Приложение запускается ярлыком с рабочего стола. Слева — список снимков с метками, в центре — снимок или тепловая карта, справа — вердикт, вероятность и порог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Приложение обрабатывает сразу много снимков в фоне, позволяет менять порог, сохранять тепловые карты и выгружать отчёт. Кроме настольной версии есть веб-версия, которая открывается в браузере.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Итог: написана и обучена с нуля нейросеть, которая находит 99% пневмоний при ROC-AUC 0.971, добавлены тепловые карты для объяснения решений, сделаны приложение для Windows и веб-версия. Код проекта, обученная модель и примеры снимков выложены на GitHub — ссылка и QR-код на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Relationship Id="rId4" Type="http://schemas.openxmlformats.org/officeDocument/2006/relationships/chart" Target="../charts/chart1.xml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Relationship Id="rId4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Relationship Id="rId10" Type="http://schemas.openxmlformats.org/officeDocument/2006/relationships/image" Target="../media/image16.png"/><Relationship Id="rId11" Type="http://schemas.openxmlformats.org/officeDocument/2006/relationships/image" Target="../media/image17.png"/><Relationship Id="rId12" Type="http://schemas.openxmlformats.org/officeDocument/2006/relationships/image" Target="../media/image18.png"/><Relationship Id="rId13" Type="http://schemas.openxmlformats.org/officeDocument/2006/relationships/image" Target="../media/image19.png"/><Relationship Id="rId14" Type="http://schemas.openxmlformats.org/officeDocument/2006/relationships/image" Target="../media/image2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16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Relationship Id="rId8" Type="http://schemas.openxmlformats.org/officeDocument/2006/relationships/image" Target="../media/image31.png"/><Relationship Id="rId9" Type="http://schemas.openxmlformats.org/officeDocument/2006/relationships/image" Target="../media/image18.png"/><Relationship Id="rId10" Type="http://schemas.openxmlformats.org/officeDocument/2006/relationships/image" Target="../media/image3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Relationship Id="rId7" Type="http://schemas.openxmlformats.org/officeDocument/2006/relationships/image" Target="../media/image36.png"/><Relationship Id="rId8" Type="http://schemas.openxmlformats.org/officeDocument/2006/relationships/image" Target="../media/image37.png"/><Relationship Id="rId9" Type="http://schemas.openxmlformats.org/officeDocument/2006/relationships/hyperlink" Target="https://github.com/SolomonDi/Python-AI" TargetMode="External"/><Relationship Id="rId10" Type="http://schemas.openxmlformats.org/officeDocument/2006/relationships/image" Target="../media/image3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Background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1965960"/>
            <a:ext cx="5120640" cy="1005840"/>
          </a:xfrm>
        </p:spPr>
        <p:txBody>
          <a:bodyPr lIns="0" rIns="0" tIns="0" bIns="0" anchor="ctr"/>
          <a:lstStyle/>
          <a:p>
            <a:pPr algn="l"/>
            <a:r>
              <a:rPr sz="6000">
                <a:solidFill>
                  <a:srgbClr val="EEF0F3"/>
                </a:solidFill>
                <a:latin typeface="Segoe UI Semibold"/>
              </a:rPr>
              <a:t>PneumoScan</a:t>
            </a:r>
          </a:p>
        </p:txBody>
      </p:sp>
      <p:pic>
        <p:nvPicPr>
          <p:cNvPr id="4" name="Logo" descr="Иконка PneumoSca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005840"/>
            <a:ext cx="822960" cy="822960"/>
          </a:xfrm>
          <a:prstGeom prst="rect">
            <a:avLst/>
          </a:prstGeom>
        </p:spPr>
      </p:pic>
      <p:sp>
        <p:nvSpPr>
          <p:cNvPr id="5" name="Subtitle"/>
          <p:cNvSpPr txBox="1"/>
          <p:nvPr/>
        </p:nvSpPr>
        <p:spPr>
          <a:xfrm>
            <a:off x="548640" y="3063240"/>
            <a:ext cx="48463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>
                <a:solidFill>
                  <a:srgbClr val="A3ABBA"/>
                </a:solidFill>
                <a:latin typeface="Segoe UI"/>
              </a:rPr>
              <a:t>Распознавание пневмонии по рентгеновским снимкам грудной клетки</a:t>
            </a:r>
          </a:p>
        </p:txBody>
      </p:sp>
      <p:sp>
        <p:nvSpPr>
          <p:cNvPr id="6" name="Chip 1"/>
          <p:cNvSpPr/>
          <p:nvPr/>
        </p:nvSpPr>
        <p:spPr>
          <a:xfrm>
            <a:off x="548640" y="4434840"/>
            <a:ext cx="1600200" cy="868680"/>
          </a:xfrm>
          <a:prstGeom prst="roundRect">
            <a:avLst>
              <a:gd name="adj" fmla="val 15000"/>
            </a:avLst>
          </a:prstGeom>
          <a:solidFill>
            <a:srgbClr val="1C222D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hip 1 label"/>
          <p:cNvSpPr txBox="1"/>
          <p:nvPr/>
        </p:nvSpPr>
        <p:spPr>
          <a:xfrm>
            <a:off x="731520" y="454456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A3ABBA"/>
                </a:solidFill>
                <a:latin typeface="Segoe UI"/>
              </a:rPr>
              <a:t>ROC-AUC</a:t>
            </a:r>
          </a:p>
        </p:txBody>
      </p:sp>
      <p:sp>
        <p:nvSpPr>
          <p:cNvPr id="8" name="Chip 1 value"/>
          <p:cNvSpPr txBox="1"/>
          <p:nvPr/>
        </p:nvSpPr>
        <p:spPr>
          <a:xfrm>
            <a:off x="731520" y="4773168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>
                <a:solidFill>
                  <a:srgbClr val="EEF0F3"/>
                </a:solidFill>
                <a:latin typeface="Segoe UI Semibold"/>
              </a:rPr>
              <a:t>0.971</a:t>
            </a:r>
          </a:p>
        </p:txBody>
      </p:sp>
      <p:sp>
        <p:nvSpPr>
          <p:cNvPr id="9" name="Chip 2"/>
          <p:cNvSpPr/>
          <p:nvPr/>
        </p:nvSpPr>
        <p:spPr>
          <a:xfrm>
            <a:off x="2286000" y="4434840"/>
            <a:ext cx="1600200" cy="868680"/>
          </a:xfrm>
          <a:prstGeom prst="roundRect">
            <a:avLst>
              <a:gd name="adj" fmla="val 15000"/>
            </a:avLst>
          </a:prstGeom>
          <a:solidFill>
            <a:srgbClr val="1C222D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ip 2 label"/>
          <p:cNvSpPr txBox="1"/>
          <p:nvPr/>
        </p:nvSpPr>
        <p:spPr>
          <a:xfrm>
            <a:off x="2468880" y="454456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A3ABBA"/>
                </a:solidFill>
                <a:latin typeface="Segoe UI"/>
              </a:rPr>
              <a:t>Найдено пневмоний</a:t>
            </a:r>
          </a:p>
        </p:txBody>
      </p:sp>
      <p:sp>
        <p:nvSpPr>
          <p:cNvPr id="11" name="Chip 2 value"/>
          <p:cNvSpPr txBox="1"/>
          <p:nvPr/>
        </p:nvSpPr>
        <p:spPr>
          <a:xfrm>
            <a:off x="2468880" y="4773168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>
                <a:solidFill>
                  <a:srgbClr val="EEF0F3"/>
                </a:solidFill>
                <a:latin typeface="Segoe UI Semibold"/>
              </a:rPr>
              <a:t>99.0%</a:t>
            </a:r>
          </a:p>
        </p:txBody>
      </p:sp>
      <p:sp>
        <p:nvSpPr>
          <p:cNvPr id="12" name="Chip 3"/>
          <p:cNvSpPr/>
          <p:nvPr/>
        </p:nvSpPr>
        <p:spPr>
          <a:xfrm>
            <a:off x="4023359" y="4434840"/>
            <a:ext cx="1600200" cy="868680"/>
          </a:xfrm>
          <a:prstGeom prst="roundRect">
            <a:avLst>
              <a:gd name="adj" fmla="val 15000"/>
            </a:avLst>
          </a:prstGeom>
          <a:solidFill>
            <a:srgbClr val="1C222D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hip 3 label"/>
          <p:cNvSpPr txBox="1"/>
          <p:nvPr/>
        </p:nvSpPr>
        <p:spPr>
          <a:xfrm>
            <a:off x="4206240" y="454456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A3ABBA"/>
                </a:solidFill>
                <a:latin typeface="Segoe UI"/>
              </a:rPr>
              <a:t>Нейросеть</a:t>
            </a:r>
          </a:p>
        </p:txBody>
      </p:sp>
      <p:sp>
        <p:nvSpPr>
          <p:cNvPr id="14" name="Chip 3 value"/>
          <p:cNvSpPr txBox="1"/>
          <p:nvPr/>
        </p:nvSpPr>
        <p:spPr>
          <a:xfrm>
            <a:off x="4206240" y="4773168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>
                <a:solidFill>
                  <a:srgbClr val="EEF0F3"/>
                </a:solidFill>
                <a:latin typeface="Segoe UI Semibold"/>
              </a:rPr>
              <a:t>с нуля</a:t>
            </a:r>
          </a:p>
        </p:txBody>
      </p:sp>
      <p:pic>
        <p:nvPicPr>
          <p:cNvPr id="15" name="Hero screenshot" descr="Главное окно PneumoScan: снимок с тепловой картой и вердиктом «Pneumonia»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06440" y="1325880"/>
            <a:ext cx="5852160" cy="3528508"/>
          </a:xfrm>
          <a:prstGeom prst="roundRect">
            <a:avLst>
              <a:gd name="adj" fmla="val 2500"/>
            </a:avLst>
          </a:prstGeom>
          <a:ln w="9525">
            <a:solidFill>
              <a:srgbClr val="293040"/>
            </a:solidFill>
          </a:ln>
          <a:effectLst>
            <a:outerShdw blurRad="381000" dist="101600" dir="5400000" algn="t" rotWithShape="0">
              <a:srgbClr val="000000">
                <a:alpha val="55000"/>
              </a:srgbClr>
            </a:outerShdw>
          </a:effectLst>
        </p:spPr>
      </p:pic>
      <p:sp>
        <p:nvSpPr>
          <p:cNvPr id="16" name="Authors label"/>
          <p:cNvSpPr txBox="1"/>
          <p:nvPr/>
        </p:nvSpPr>
        <p:spPr>
          <a:xfrm>
            <a:off x="548640" y="559612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spc="200">
                <a:solidFill>
                  <a:srgbClr val="4F8CFF"/>
                </a:solidFill>
                <a:latin typeface="Segoe UI Semibold"/>
              </a:rPr>
              <a:t>АВТОРЫ ПРОЕКТА</a:t>
            </a:r>
          </a:p>
        </p:txBody>
      </p:sp>
      <p:sp>
        <p:nvSpPr>
          <p:cNvPr id="17" name="Author 1 card"/>
          <p:cNvSpPr/>
          <p:nvPr/>
        </p:nvSpPr>
        <p:spPr>
          <a:xfrm>
            <a:off x="548640" y="5870448"/>
            <a:ext cx="2468880" cy="566928"/>
          </a:xfrm>
          <a:prstGeom prst="roundRect">
            <a:avLst>
              <a:gd name="adj" fmla="val 50000"/>
            </a:avLst>
          </a:prstGeom>
          <a:solidFill>
            <a:srgbClr val="1C222D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uthor 1 initials"/>
          <p:cNvSpPr/>
          <p:nvPr/>
        </p:nvSpPr>
        <p:spPr>
          <a:xfrm>
            <a:off x="640080" y="5961888"/>
            <a:ext cx="384048" cy="384048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Segoe UI Semibold"/>
              </a:rPr>
              <a:t>ДС</a:t>
            </a:r>
          </a:p>
        </p:txBody>
      </p:sp>
      <p:sp>
        <p:nvSpPr>
          <p:cNvPr id="19" name="Author 1 name"/>
          <p:cNvSpPr txBox="1"/>
          <p:nvPr/>
        </p:nvSpPr>
        <p:spPr>
          <a:xfrm>
            <a:off x="1143000" y="5870448"/>
            <a:ext cx="1783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>
                <a:solidFill>
                  <a:srgbClr val="EEF0F3"/>
                </a:solidFill>
                <a:latin typeface="Segoe UI Semibold"/>
              </a:rPr>
              <a:t>Соломонов Д. М.</a:t>
            </a:r>
          </a:p>
        </p:txBody>
      </p:sp>
      <p:sp>
        <p:nvSpPr>
          <p:cNvPr id="20" name="Author 2 card"/>
          <p:cNvSpPr/>
          <p:nvPr/>
        </p:nvSpPr>
        <p:spPr>
          <a:xfrm>
            <a:off x="3154680" y="5870448"/>
            <a:ext cx="2468880" cy="566928"/>
          </a:xfrm>
          <a:prstGeom prst="roundRect">
            <a:avLst>
              <a:gd name="adj" fmla="val 50000"/>
            </a:avLst>
          </a:prstGeom>
          <a:solidFill>
            <a:srgbClr val="1C222D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Author 2 initials"/>
          <p:cNvSpPr/>
          <p:nvPr/>
        </p:nvSpPr>
        <p:spPr>
          <a:xfrm>
            <a:off x="3246120" y="5961888"/>
            <a:ext cx="384048" cy="384048"/>
          </a:xfrm>
          <a:prstGeom prst="ellipse">
            <a:avLst/>
          </a:prstGeom>
          <a:solidFill>
            <a:srgbClr val="34C4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Segoe UI Semibold"/>
              </a:rPr>
              <a:t>НК</a:t>
            </a:r>
          </a:p>
        </p:txBody>
      </p:sp>
      <p:sp>
        <p:nvSpPr>
          <p:cNvPr id="22" name="Author 2 name"/>
          <p:cNvSpPr txBox="1"/>
          <p:nvPr/>
        </p:nvSpPr>
        <p:spPr>
          <a:xfrm>
            <a:off x="3749040" y="5870448"/>
            <a:ext cx="1783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>
                <a:solidFill>
                  <a:srgbClr val="EEF0F3"/>
                </a:solidFill>
                <a:latin typeface="Segoe UI Semibold"/>
              </a:rPr>
              <a:t>Калашников Н. Д.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Background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58368"/>
            <a:ext cx="11091672" cy="685800"/>
          </a:xfrm>
        </p:spPr>
        <p:txBody>
          <a:bodyPr lIns="0" rIns="0" tIns="0" bIns="0" anchor="ctr" wrap="square"/>
          <a:lstStyle/>
          <a:p>
            <a:pPr algn="l"/>
            <a:r>
              <a:rPr sz="3200">
                <a:solidFill>
                  <a:srgbClr val="EEF0F3"/>
                </a:solidFill>
                <a:latin typeface="Segoe UI Semibold"/>
              </a:rPr>
              <a:t>Задача и данные</a:t>
            </a:r>
          </a:p>
        </p:txBody>
      </p:sp>
      <p:sp>
        <p:nvSpPr>
          <p:cNvPr id="4" name="Kicker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spc="200">
                <a:solidFill>
                  <a:srgbClr val="4F8CFF"/>
                </a:solidFill>
                <a:latin typeface="Segoe UI Semibold"/>
              </a:rPr>
              <a:t>01 · ЗАДАЧА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6E7688"/>
                </a:solidFill>
                <a:latin typeface="Segoe UI"/>
              </a:rPr>
              <a:t>PneumoScan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9811512" y="64008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>
                <a:solidFill>
                  <a:srgbClr val="6E7688"/>
                </a:solidFill>
                <a:latin typeface="Segoe UI"/>
              </a:rPr>
              <a:t>02</a:t>
            </a:r>
          </a:p>
        </p:txBody>
      </p:sp>
      <p:sp>
        <p:nvSpPr>
          <p:cNvPr id="7" name="Progress 1"/>
          <p:cNvSpPr/>
          <p:nvPr/>
        </p:nvSpPr>
        <p:spPr>
          <a:xfrm>
            <a:off x="9454896" y="6478524"/>
            <a:ext cx="310896" cy="54864"/>
          </a:xfrm>
          <a:prstGeom prst="roundRect">
            <a:avLst>
              <a:gd name="adj" fmla="val 50000"/>
            </a:avLst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rogress 2"/>
          <p:cNvSpPr/>
          <p:nvPr/>
        </p:nvSpPr>
        <p:spPr>
          <a:xfrm>
            <a:off x="982065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rogress 3"/>
          <p:cNvSpPr/>
          <p:nvPr/>
        </p:nvSpPr>
        <p:spPr>
          <a:xfrm>
            <a:off x="1000353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rogress 4"/>
          <p:cNvSpPr/>
          <p:nvPr/>
        </p:nvSpPr>
        <p:spPr>
          <a:xfrm>
            <a:off x="1018641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rogress 5"/>
          <p:cNvSpPr/>
          <p:nvPr/>
        </p:nvSpPr>
        <p:spPr>
          <a:xfrm>
            <a:off x="1036929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rogress 6"/>
          <p:cNvSpPr/>
          <p:nvPr/>
        </p:nvSpPr>
        <p:spPr>
          <a:xfrm>
            <a:off x="1055217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rogress 7"/>
          <p:cNvSpPr/>
          <p:nvPr/>
        </p:nvSpPr>
        <p:spPr>
          <a:xfrm>
            <a:off x="1073505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rogress 8"/>
          <p:cNvSpPr/>
          <p:nvPr/>
        </p:nvSpPr>
        <p:spPr>
          <a:xfrm>
            <a:off x="1091793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Progress 9"/>
          <p:cNvSpPr/>
          <p:nvPr/>
        </p:nvSpPr>
        <p:spPr>
          <a:xfrm>
            <a:off x="1110081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ask"/>
          <p:cNvSpPr txBox="1"/>
          <p:nvPr/>
        </p:nvSpPr>
        <p:spPr>
          <a:xfrm>
            <a:off x="548640" y="1600200"/>
            <a:ext cx="5669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>
                <a:solidFill>
                  <a:srgbClr val="EEF0F3"/>
                </a:solidFill>
                <a:latin typeface="Segoe UI"/>
              </a:rPr>
              <a:t>По рентгеновскому снимку грудной клетки определить: норма или пневмония</a:t>
            </a:r>
          </a:p>
        </p:txBody>
      </p:sp>
      <p:sp>
        <p:nvSpPr>
          <p:cNvPr id="17" name="Stat 1"/>
          <p:cNvSpPr txBox="1"/>
          <p:nvPr/>
        </p:nvSpPr>
        <p:spPr>
          <a:xfrm>
            <a:off x="548640" y="2514600"/>
            <a:ext cx="18288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>
                <a:solidFill>
                  <a:srgbClr val="4F8CFF"/>
                </a:solidFill>
                <a:latin typeface="Segoe UI Semibold"/>
              </a:rPr>
              <a:t>5 216</a:t>
            </a:r>
          </a:p>
        </p:txBody>
      </p:sp>
      <p:sp>
        <p:nvSpPr>
          <p:cNvPr id="18" name="Stat 1 label"/>
          <p:cNvSpPr txBox="1"/>
          <p:nvPr/>
        </p:nvSpPr>
        <p:spPr>
          <a:xfrm>
            <a:off x="548640" y="312724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A3ABBA"/>
                </a:solidFill>
                <a:latin typeface="Segoe UI"/>
              </a:rPr>
              <a:t>снимков
для обучения</a:t>
            </a:r>
          </a:p>
        </p:txBody>
      </p:sp>
      <p:sp>
        <p:nvSpPr>
          <p:cNvPr id="19" name="Stat 2"/>
          <p:cNvSpPr txBox="1"/>
          <p:nvPr/>
        </p:nvSpPr>
        <p:spPr>
          <a:xfrm>
            <a:off x="2468880" y="2514600"/>
            <a:ext cx="18288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>
                <a:solidFill>
                  <a:srgbClr val="4F8CFF"/>
                </a:solidFill>
                <a:latin typeface="Segoe UI Semibold"/>
              </a:rPr>
              <a:t>624</a:t>
            </a:r>
          </a:p>
        </p:txBody>
      </p:sp>
      <p:sp>
        <p:nvSpPr>
          <p:cNvPr id="20" name="Stat 2 label"/>
          <p:cNvSpPr txBox="1"/>
          <p:nvPr/>
        </p:nvSpPr>
        <p:spPr>
          <a:xfrm>
            <a:off x="2468880" y="312724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A3ABBA"/>
                </a:solidFill>
                <a:latin typeface="Segoe UI"/>
              </a:rPr>
              <a:t>снимка
для проверки</a:t>
            </a:r>
          </a:p>
        </p:txBody>
      </p:sp>
      <p:sp>
        <p:nvSpPr>
          <p:cNvPr id="21" name="Stat 3"/>
          <p:cNvSpPr txBox="1"/>
          <p:nvPr/>
        </p:nvSpPr>
        <p:spPr>
          <a:xfrm>
            <a:off x="4389120" y="2514600"/>
            <a:ext cx="18288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>
                <a:solidFill>
                  <a:srgbClr val="4F8CFF"/>
                </a:solidFill>
                <a:latin typeface="Segoe UI Semibold"/>
              </a:rPr>
              <a:t>1 : 2.9</a:t>
            </a:r>
          </a:p>
        </p:txBody>
      </p:sp>
      <p:sp>
        <p:nvSpPr>
          <p:cNvPr id="22" name="Stat 3 label"/>
          <p:cNvSpPr txBox="1"/>
          <p:nvPr/>
        </p:nvSpPr>
        <p:spPr>
          <a:xfrm>
            <a:off x="4389120" y="312724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A3ABBA"/>
                </a:solidFill>
                <a:latin typeface="Segoe UI"/>
              </a:rPr>
              <a:t>норма к пневмонии
в обучении</a:t>
            </a:r>
          </a:p>
        </p:txBody>
      </p:sp>
      <p:graphicFrame>
        <p:nvGraphicFramePr>
          <p:cNvPr id="23" name="Class distribution chart"/>
          <p:cNvGraphicFramePr>
            <a:graphicFrameLocks noGrp="1"/>
          </p:cNvGraphicFramePr>
          <p:nvPr/>
        </p:nvGraphicFramePr>
        <p:xfrm>
          <a:off x="457200" y="3886200"/>
          <a:ext cx="5760720" cy="23774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pic>
        <p:nvPicPr>
          <p:cNvPr id="24" name="Sample normal" descr="Пример снимка: норма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5120" y="1600200"/>
            <a:ext cx="2377440" cy="2377440"/>
          </a:xfrm>
          <a:prstGeom prst="roundRect">
            <a:avLst>
              <a:gd name="adj" fmla="val 4000"/>
            </a:avLst>
          </a:prstGeom>
        </p:spPr>
      </p:pic>
      <p:pic>
        <p:nvPicPr>
          <p:cNvPr id="25" name="Sample pneumonia" descr="Пример снимка: пневмония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62872" y="1600200"/>
            <a:ext cx="2377440" cy="2377440"/>
          </a:xfrm>
          <a:prstGeom prst="roundRect">
            <a:avLst>
              <a:gd name="adj" fmla="val 4000"/>
            </a:avLst>
          </a:prstGeom>
        </p:spPr>
      </p:pic>
      <p:sp>
        <p:nvSpPr>
          <p:cNvPr id="26" name="Caption normal"/>
          <p:cNvSpPr txBox="1"/>
          <p:nvPr/>
        </p:nvSpPr>
        <p:spPr>
          <a:xfrm>
            <a:off x="6675120" y="411480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34C47C"/>
                </a:solidFill>
                <a:latin typeface="Segoe UI Semibold"/>
              </a:rPr>
              <a:t>Норма</a:t>
            </a:r>
          </a:p>
        </p:txBody>
      </p:sp>
      <p:sp>
        <p:nvSpPr>
          <p:cNvPr id="27" name="Caption pneumonia"/>
          <p:cNvSpPr txBox="1"/>
          <p:nvPr/>
        </p:nvSpPr>
        <p:spPr>
          <a:xfrm>
            <a:off x="9262872" y="411480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F0565B"/>
                </a:solidFill>
                <a:latin typeface="Segoe UI Semibold"/>
              </a:rPr>
              <a:t>Пневмония</a:t>
            </a:r>
          </a:p>
        </p:txBody>
      </p:sp>
      <p:sp>
        <p:nvSpPr>
          <p:cNvPr id="28" name="Dataset note"/>
          <p:cNvSpPr txBox="1"/>
          <p:nvPr/>
        </p:nvSpPr>
        <p:spPr>
          <a:xfrm>
            <a:off x="6675120" y="4754880"/>
            <a:ext cx="496519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A3ABBA"/>
                </a:solidFill>
                <a:latin typeface="Segoe UI"/>
              </a:rPr>
              <a:t>Набор Chest X-Ray Images, Kermany et al. 2018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A3ABBA"/>
                </a:solidFill>
                <a:latin typeface="Segoe UI"/>
              </a:rPr>
              <a:t>5 856 снимков детей от 1 до 5 лет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A3ABBA"/>
                </a:solidFill>
                <a:latin typeface="Segoe UI"/>
              </a:rPr>
              <a:t>Пневмония видна на снимке как затемнения в лёгких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Background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58368"/>
            <a:ext cx="11091672" cy="685800"/>
          </a:xfrm>
        </p:spPr>
        <p:txBody>
          <a:bodyPr lIns="0" rIns="0" tIns="0" bIns="0" anchor="ctr" wrap="square"/>
          <a:lstStyle/>
          <a:p>
            <a:pPr algn="l"/>
            <a:r>
              <a:rPr sz="3200">
                <a:solidFill>
                  <a:srgbClr val="EEF0F3"/>
                </a:solidFill>
                <a:latin typeface="Segoe UI Semibold"/>
              </a:rPr>
              <a:t>Как это работает</a:t>
            </a:r>
          </a:p>
        </p:txBody>
      </p:sp>
      <p:sp>
        <p:nvSpPr>
          <p:cNvPr id="4" name="Kicker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spc="200">
                <a:solidFill>
                  <a:srgbClr val="4F8CFF"/>
                </a:solidFill>
                <a:latin typeface="Segoe UI Semibold"/>
              </a:rPr>
              <a:t>02 · ПРИНЦИП РАБОТЫ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6E7688"/>
                </a:solidFill>
                <a:latin typeface="Segoe UI"/>
              </a:rPr>
              <a:t>PneumoScan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9811512" y="64008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>
                <a:solidFill>
                  <a:srgbClr val="6E7688"/>
                </a:solidFill>
                <a:latin typeface="Segoe UI"/>
              </a:rPr>
              <a:t>03</a:t>
            </a:r>
          </a:p>
        </p:txBody>
      </p:sp>
      <p:sp>
        <p:nvSpPr>
          <p:cNvPr id="7" name="Progress 1"/>
          <p:cNvSpPr/>
          <p:nvPr/>
        </p:nvSpPr>
        <p:spPr>
          <a:xfrm>
            <a:off x="945489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rogress 2"/>
          <p:cNvSpPr/>
          <p:nvPr/>
        </p:nvSpPr>
        <p:spPr>
          <a:xfrm>
            <a:off x="9637776" y="6478524"/>
            <a:ext cx="310896" cy="54864"/>
          </a:xfrm>
          <a:prstGeom prst="roundRect">
            <a:avLst>
              <a:gd name="adj" fmla="val 50000"/>
            </a:avLst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rogress 3"/>
          <p:cNvSpPr/>
          <p:nvPr/>
        </p:nvSpPr>
        <p:spPr>
          <a:xfrm>
            <a:off x="1000353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rogress 4"/>
          <p:cNvSpPr/>
          <p:nvPr/>
        </p:nvSpPr>
        <p:spPr>
          <a:xfrm>
            <a:off x="1018641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rogress 5"/>
          <p:cNvSpPr/>
          <p:nvPr/>
        </p:nvSpPr>
        <p:spPr>
          <a:xfrm>
            <a:off x="1036929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rogress 6"/>
          <p:cNvSpPr/>
          <p:nvPr/>
        </p:nvSpPr>
        <p:spPr>
          <a:xfrm>
            <a:off x="1055217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rogress 7"/>
          <p:cNvSpPr/>
          <p:nvPr/>
        </p:nvSpPr>
        <p:spPr>
          <a:xfrm>
            <a:off x="1073505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rogress 8"/>
          <p:cNvSpPr/>
          <p:nvPr/>
        </p:nvSpPr>
        <p:spPr>
          <a:xfrm>
            <a:off x="1091793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Progress 9"/>
          <p:cNvSpPr/>
          <p:nvPr/>
        </p:nvSpPr>
        <p:spPr>
          <a:xfrm>
            <a:off x="1110081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Step 1 card"/>
          <p:cNvSpPr/>
          <p:nvPr/>
        </p:nvSpPr>
        <p:spPr>
          <a:xfrm>
            <a:off x="548640" y="1691640"/>
            <a:ext cx="1962302" cy="406908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Step 1 image" descr="Исходный рентгеновский снимок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874519"/>
            <a:ext cx="1596542" cy="1596542"/>
          </a:xfrm>
          <a:prstGeom prst="roundRect">
            <a:avLst>
              <a:gd name="adj" fmla="val 4000"/>
            </a:avLst>
          </a:prstGeom>
        </p:spPr>
      </p:pic>
      <p:sp>
        <p:nvSpPr>
          <p:cNvPr id="18" name="Step 1 number"/>
          <p:cNvSpPr/>
          <p:nvPr/>
        </p:nvSpPr>
        <p:spPr>
          <a:xfrm>
            <a:off x="731520" y="3699662"/>
            <a:ext cx="365760" cy="365760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9" name="Step 1 title"/>
          <p:cNvSpPr txBox="1"/>
          <p:nvPr/>
        </p:nvSpPr>
        <p:spPr>
          <a:xfrm>
            <a:off x="731520" y="4202582"/>
            <a:ext cx="159654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EEF0F3"/>
                </a:solidFill>
                <a:latin typeface="Segoe UI Semibold"/>
              </a:rPr>
              <a:t>Снимок</a:t>
            </a:r>
          </a:p>
        </p:txBody>
      </p:sp>
      <p:sp>
        <p:nvSpPr>
          <p:cNvPr id="20" name="Step 1 text"/>
          <p:cNvSpPr txBox="1"/>
          <p:nvPr/>
        </p:nvSpPr>
        <p:spPr>
          <a:xfrm>
            <a:off x="731520" y="4568342"/>
            <a:ext cx="159654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A3ABBA"/>
                </a:solidFill>
                <a:latin typeface="Segoe UI"/>
              </a:rPr>
              <a:t>Рентген грудной клетки в JPEG, PNG, BMP или TIFF</a:t>
            </a:r>
          </a:p>
        </p:txBody>
      </p:sp>
      <p:sp>
        <p:nvSpPr>
          <p:cNvPr id="21" name="Arrow 1"/>
          <p:cNvSpPr txBox="1"/>
          <p:nvPr/>
        </p:nvSpPr>
        <p:spPr>
          <a:xfrm>
            <a:off x="2510942" y="2489911"/>
            <a:ext cx="320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>
                <a:solidFill>
                  <a:srgbClr val="4F8CFF"/>
                </a:solidFill>
                <a:latin typeface="Segoe UI Semibold"/>
              </a:rPr>
              <a:t>›</a:t>
            </a:r>
          </a:p>
        </p:txBody>
      </p:sp>
      <p:sp>
        <p:nvSpPr>
          <p:cNvPr id="22" name="Step 2 card"/>
          <p:cNvSpPr/>
          <p:nvPr/>
        </p:nvSpPr>
        <p:spPr>
          <a:xfrm>
            <a:off x="2830982" y="1691640"/>
            <a:ext cx="1962302" cy="406908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Step 2 canvas"/>
          <p:cNvSpPr/>
          <p:nvPr/>
        </p:nvSpPr>
        <p:spPr>
          <a:xfrm>
            <a:off x="3013862" y="1874519"/>
            <a:ext cx="1596542" cy="1596542"/>
          </a:xfrm>
          <a:prstGeom prst="roundRect">
            <a:avLst>
              <a:gd name="adj" fmla="val 4000"/>
            </a:avLst>
          </a:prstGeom>
          <a:solidFill>
            <a:srgbClr val="0E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Step 2 image" descr="Снимок, уменьшенный до 224 на 22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09213" y="2057400"/>
            <a:ext cx="1005840" cy="1005840"/>
          </a:xfrm>
          <a:prstGeom prst="roundRect">
            <a:avLst>
              <a:gd name="adj" fmla="val 2000"/>
            </a:avLst>
          </a:prstGeom>
          <a:ln w="9525">
            <a:solidFill>
              <a:srgbClr val="4F8CFF"/>
            </a:solidFill>
          </a:ln>
        </p:spPr>
      </p:pic>
      <p:sp>
        <p:nvSpPr>
          <p:cNvPr id="25" name="Step 2 size"/>
          <p:cNvSpPr txBox="1"/>
          <p:nvPr/>
        </p:nvSpPr>
        <p:spPr>
          <a:xfrm>
            <a:off x="3013862" y="3154679"/>
            <a:ext cx="159654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>
                <a:solidFill>
                  <a:srgbClr val="A3ABBA"/>
                </a:solidFill>
                <a:latin typeface="Segoe UI"/>
              </a:rPr>
              <a:t>224 × 224 px</a:t>
            </a:r>
          </a:p>
        </p:txBody>
      </p:sp>
      <p:sp>
        <p:nvSpPr>
          <p:cNvPr id="26" name="Step 2 number"/>
          <p:cNvSpPr/>
          <p:nvPr/>
        </p:nvSpPr>
        <p:spPr>
          <a:xfrm>
            <a:off x="3013862" y="3699662"/>
            <a:ext cx="365760" cy="365760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27" name="Step 2 title"/>
          <p:cNvSpPr txBox="1"/>
          <p:nvPr/>
        </p:nvSpPr>
        <p:spPr>
          <a:xfrm>
            <a:off x="3013862" y="4202582"/>
            <a:ext cx="159654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EEF0F3"/>
                </a:solidFill>
                <a:latin typeface="Segoe UI Semibold"/>
              </a:rPr>
              <a:t>Подготовка</a:t>
            </a:r>
          </a:p>
        </p:txBody>
      </p:sp>
      <p:sp>
        <p:nvSpPr>
          <p:cNvPr id="28" name="Step 2 text"/>
          <p:cNvSpPr txBox="1"/>
          <p:nvPr/>
        </p:nvSpPr>
        <p:spPr>
          <a:xfrm>
            <a:off x="3013862" y="4568342"/>
            <a:ext cx="159654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A3ABBA"/>
                </a:solidFill>
                <a:latin typeface="Segoe UI"/>
              </a:rPr>
              <a:t>Оттенки серого, 224 × 224 пикселя, нормализация</a:t>
            </a:r>
          </a:p>
        </p:txBody>
      </p:sp>
      <p:sp>
        <p:nvSpPr>
          <p:cNvPr id="29" name="Arrow 2"/>
          <p:cNvSpPr txBox="1"/>
          <p:nvPr/>
        </p:nvSpPr>
        <p:spPr>
          <a:xfrm>
            <a:off x="4793284" y="2489911"/>
            <a:ext cx="320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>
                <a:solidFill>
                  <a:srgbClr val="4F8CFF"/>
                </a:solidFill>
                <a:latin typeface="Segoe UI Semibold"/>
              </a:rPr>
              <a:t>›</a:t>
            </a:r>
          </a:p>
        </p:txBody>
      </p:sp>
      <p:sp>
        <p:nvSpPr>
          <p:cNvPr id="30" name="Step 3 card"/>
          <p:cNvSpPr/>
          <p:nvPr/>
        </p:nvSpPr>
        <p:spPr>
          <a:xfrm>
            <a:off x="5113324" y="1691640"/>
            <a:ext cx="1962302" cy="406908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Step 3 canvas"/>
          <p:cNvSpPr/>
          <p:nvPr/>
        </p:nvSpPr>
        <p:spPr>
          <a:xfrm>
            <a:off x="5296204" y="1874519"/>
            <a:ext cx="1596542" cy="1596542"/>
          </a:xfrm>
          <a:prstGeom prst="roundRect">
            <a:avLst>
              <a:gd name="adj" fmla="val 4000"/>
            </a:avLst>
          </a:prstGeom>
          <a:solidFill>
            <a:srgbClr val="0E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Layer 1"/>
          <p:cNvSpPr/>
          <p:nvPr/>
        </p:nvSpPr>
        <p:spPr>
          <a:xfrm>
            <a:off x="5454396" y="2055571"/>
            <a:ext cx="182880" cy="1234440"/>
          </a:xfrm>
          <a:prstGeom prst="roundRect">
            <a:avLst>
              <a:gd name="adj" fmla="val 25000"/>
            </a:avLst>
          </a:prstGeom>
          <a:solidFill>
            <a:srgbClr val="9DB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Layer 2"/>
          <p:cNvSpPr/>
          <p:nvPr/>
        </p:nvSpPr>
        <p:spPr>
          <a:xfrm>
            <a:off x="5728716" y="2147011"/>
            <a:ext cx="182880" cy="1051560"/>
          </a:xfrm>
          <a:prstGeom prst="roundRect">
            <a:avLst>
              <a:gd name="adj" fmla="val 25000"/>
            </a:avLst>
          </a:prstGeom>
          <a:solidFill>
            <a:srgbClr val="79A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Layer 3"/>
          <p:cNvSpPr/>
          <p:nvPr/>
        </p:nvSpPr>
        <p:spPr>
          <a:xfrm>
            <a:off x="6003036" y="2238451"/>
            <a:ext cx="182880" cy="868680"/>
          </a:xfrm>
          <a:prstGeom prst="roundRect">
            <a:avLst>
              <a:gd name="adj" fmla="val 25000"/>
            </a:avLst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Layer 4"/>
          <p:cNvSpPr/>
          <p:nvPr/>
        </p:nvSpPr>
        <p:spPr>
          <a:xfrm>
            <a:off x="6277356" y="2329891"/>
            <a:ext cx="182880" cy="685800"/>
          </a:xfrm>
          <a:prstGeom prst="roundRect">
            <a:avLst>
              <a:gd name="adj" fmla="val 25000"/>
            </a:avLst>
          </a:prstGeom>
          <a:solidFill>
            <a:srgbClr val="3A7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Layer 5"/>
          <p:cNvSpPr/>
          <p:nvPr/>
        </p:nvSpPr>
        <p:spPr>
          <a:xfrm>
            <a:off x="6551676" y="2421331"/>
            <a:ext cx="182880" cy="502920"/>
          </a:xfrm>
          <a:prstGeom prst="roundRect">
            <a:avLst>
              <a:gd name="adj" fmla="val 25000"/>
            </a:avLst>
          </a:prstGeom>
          <a:solidFill>
            <a:srgbClr val="2F5C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Step 3 number"/>
          <p:cNvSpPr/>
          <p:nvPr/>
        </p:nvSpPr>
        <p:spPr>
          <a:xfrm>
            <a:off x="5296204" y="3699662"/>
            <a:ext cx="365760" cy="365760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38" name="Step 3 title"/>
          <p:cNvSpPr txBox="1"/>
          <p:nvPr/>
        </p:nvSpPr>
        <p:spPr>
          <a:xfrm>
            <a:off x="5296204" y="4202582"/>
            <a:ext cx="159654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EEF0F3"/>
                </a:solidFill>
                <a:latin typeface="Segoe UI Semibold"/>
              </a:rPr>
              <a:t>Нейросеть</a:t>
            </a:r>
          </a:p>
        </p:txBody>
      </p:sp>
      <p:sp>
        <p:nvSpPr>
          <p:cNvPr id="39" name="Step 3 text"/>
          <p:cNvSpPr txBox="1"/>
          <p:nvPr/>
        </p:nvSpPr>
        <p:spPr>
          <a:xfrm>
            <a:off x="5296204" y="4568342"/>
            <a:ext cx="159654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A3ABBA"/>
                </a:solidFill>
                <a:latin typeface="Segoe UI"/>
              </a:rPr>
              <a:t>Сверточная сеть находит признаки воспаления</a:t>
            </a:r>
          </a:p>
        </p:txBody>
      </p:sp>
      <p:sp>
        <p:nvSpPr>
          <p:cNvPr id="40" name="Arrow 3"/>
          <p:cNvSpPr txBox="1"/>
          <p:nvPr/>
        </p:nvSpPr>
        <p:spPr>
          <a:xfrm>
            <a:off x="7075627" y="2489911"/>
            <a:ext cx="320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>
                <a:solidFill>
                  <a:srgbClr val="4F8CFF"/>
                </a:solidFill>
                <a:latin typeface="Segoe UI Semibold"/>
              </a:rPr>
              <a:t>›</a:t>
            </a:r>
          </a:p>
        </p:txBody>
      </p:sp>
      <p:sp>
        <p:nvSpPr>
          <p:cNvPr id="41" name="Step 4 card"/>
          <p:cNvSpPr/>
          <p:nvPr/>
        </p:nvSpPr>
        <p:spPr>
          <a:xfrm>
            <a:off x="7395667" y="1691640"/>
            <a:ext cx="1962302" cy="406908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Step 4 canvas"/>
          <p:cNvSpPr/>
          <p:nvPr/>
        </p:nvSpPr>
        <p:spPr>
          <a:xfrm>
            <a:off x="7578547" y="1874519"/>
            <a:ext cx="1596542" cy="1596542"/>
          </a:xfrm>
          <a:prstGeom prst="roundRect">
            <a:avLst>
              <a:gd name="adj" fmla="val 4000"/>
            </a:avLst>
          </a:prstGeom>
          <a:solidFill>
            <a:srgbClr val="0E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Probability value"/>
          <p:cNvSpPr txBox="1"/>
          <p:nvPr/>
        </p:nvSpPr>
        <p:spPr>
          <a:xfrm>
            <a:off x="7578547" y="2286000"/>
            <a:ext cx="159654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>
                <a:solidFill>
                  <a:srgbClr val="EEF0F3"/>
                </a:solidFill>
                <a:latin typeface="Segoe UI Semibold"/>
              </a:rPr>
              <a:t>99.6%</a:t>
            </a:r>
          </a:p>
        </p:txBody>
      </p:sp>
      <p:sp>
        <p:nvSpPr>
          <p:cNvPr id="44" name="Probability track"/>
          <p:cNvSpPr/>
          <p:nvPr/>
        </p:nvSpPr>
        <p:spPr>
          <a:xfrm>
            <a:off x="7761427" y="2971800"/>
            <a:ext cx="1230782" cy="82296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Probability fill"/>
          <p:cNvSpPr/>
          <p:nvPr/>
        </p:nvSpPr>
        <p:spPr>
          <a:xfrm>
            <a:off x="7761427" y="2971800"/>
            <a:ext cx="1225859" cy="82296"/>
          </a:xfrm>
          <a:prstGeom prst="roundRect">
            <a:avLst>
              <a:gd name="adj" fmla="val 50000"/>
            </a:avLst>
          </a:prstGeom>
          <a:solidFill>
            <a:srgbClr val="F056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Step 4 number"/>
          <p:cNvSpPr/>
          <p:nvPr/>
        </p:nvSpPr>
        <p:spPr>
          <a:xfrm>
            <a:off x="7578547" y="3699662"/>
            <a:ext cx="365760" cy="365760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47" name="Step 4 title"/>
          <p:cNvSpPr txBox="1"/>
          <p:nvPr/>
        </p:nvSpPr>
        <p:spPr>
          <a:xfrm>
            <a:off x="7578547" y="4202582"/>
            <a:ext cx="159654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EEF0F3"/>
                </a:solidFill>
                <a:latin typeface="Segoe UI Semibold"/>
              </a:rPr>
              <a:t>Вероятность</a:t>
            </a:r>
          </a:p>
        </p:txBody>
      </p:sp>
      <p:sp>
        <p:nvSpPr>
          <p:cNvPr id="48" name="Step 4 text"/>
          <p:cNvSpPr txBox="1"/>
          <p:nvPr/>
        </p:nvSpPr>
        <p:spPr>
          <a:xfrm>
            <a:off x="7578547" y="4568342"/>
            <a:ext cx="159654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A3ABBA"/>
                </a:solidFill>
                <a:latin typeface="Segoe UI"/>
              </a:rPr>
              <a:t>Ответ сети переводится в вероятность от 0 до 100%</a:t>
            </a:r>
          </a:p>
        </p:txBody>
      </p:sp>
      <p:sp>
        <p:nvSpPr>
          <p:cNvPr id="49" name="Arrow 4"/>
          <p:cNvSpPr txBox="1"/>
          <p:nvPr/>
        </p:nvSpPr>
        <p:spPr>
          <a:xfrm>
            <a:off x="9357969" y="2489911"/>
            <a:ext cx="320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>
                <a:solidFill>
                  <a:srgbClr val="4F8CFF"/>
                </a:solidFill>
                <a:latin typeface="Segoe UI Semibold"/>
              </a:rPr>
              <a:t>›</a:t>
            </a:r>
          </a:p>
        </p:txBody>
      </p:sp>
      <p:sp>
        <p:nvSpPr>
          <p:cNvPr id="50" name="Step 5 card"/>
          <p:cNvSpPr/>
          <p:nvPr/>
        </p:nvSpPr>
        <p:spPr>
          <a:xfrm>
            <a:off x="9678009" y="1691640"/>
            <a:ext cx="1962302" cy="406908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Step 5 image" descr="Снимок с тепловой картой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60889" y="1874519"/>
            <a:ext cx="1596542" cy="1596542"/>
          </a:xfrm>
          <a:prstGeom prst="roundRect">
            <a:avLst>
              <a:gd name="adj" fmla="val 4000"/>
            </a:avLst>
          </a:prstGeom>
        </p:spPr>
      </p:pic>
      <p:sp>
        <p:nvSpPr>
          <p:cNvPr id="52" name="Step 5 number"/>
          <p:cNvSpPr/>
          <p:nvPr/>
        </p:nvSpPr>
        <p:spPr>
          <a:xfrm>
            <a:off x="9860889" y="3699662"/>
            <a:ext cx="365760" cy="365760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53" name="Step 5 title"/>
          <p:cNvSpPr txBox="1"/>
          <p:nvPr/>
        </p:nvSpPr>
        <p:spPr>
          <a:xfrm>
            <a:off x="9860889" y="4202582"/>
            <a:ext cx="159654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EEF0F3"/>
                </a:solidFill>
                <a:latin typeface="Segoe UI Semibold"/>
              </a:rPr>
              <a:t>Результат</a:t>
            </a:r>
          </a:p>
        </p:txBody>
      </p:sp>
      <p:sp>
        <p:nvSpPr>
          <p:cNvPr id="54" name="Step 5 text"/>
          <p:cNvSpPr txBox="1"/>
          <p:nvPr/>
        </p:nvSpPr>
        <p:spPr>
          <a:xfrm>
            <a:off x="9860889" y="4568342"/>
            <a:ext cx="159654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A3ABBA"/>
                </a:solidFill>
                <a:latin typeface="Segoe UI"/>
              </a:rPr>
              <a:t>Сравнение с порогом 22% и тепловая карта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Background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58368"/>
            <a:ext cx="11091672" cy="685800"/>
          </a:xfrm>
        </p:spPr>
        <p:txBody>
          <a:bodyPr lIns="0" rIns="0" tIns="0" bIns="0" anchor="ctr" wrap="square"/>
          <a:lstStyle/>
          <a:p>
            <a:pPr algn="l"/>
            <a:r>
              <a:rPr sz="3200">
                <a:solidFill>
                  <a:srgbClr val="EEF0F3"/>
                </a:solidFill>
                <a:latin typeface="Segoe UI Semibold"/>
              </a:rPr>
              <a:t>Сверточная нейросеть</a:t>
            </a:r>
          </a:p>
        </p:txBody>
      </p:sp>
      <p:sp>
        <p:nvSpPr>
          <p:cNvPr id="4" name="Kicker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spc="200">
                <a:solidFill>
                  <a:srgbClr val="4F8CFF"/>
                </a:solidFill>
                <a:latin typeface="Segoe UI Semibold"/>
              </a:rPr>
              <a:t>03 · МОДЕЛЬ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6E7688"/>
                </a:solidFill>
                <a:latin typeface="Segoe UI"/>
              </a:rPr>
              <a:t>PneumoScan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9811512" y="64008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>
                <a:solidFill>
                  <a:srgbClr val="6E7688"/>
                </a:solidFill>
                <a:latin typeface="Segoe UI"/>
              </a:rPr>
              <a:t>04</a:t>
            </a:r>
          </a:p>
        </p:txBody>
      </p:sp>
      <p:sp>
        <p:nvSpPr>
          <p:cNvPr id="7" name="Progress 1"/>
          <p:cNvSpPr/>
          <p:nvPr/>
        </p:nvSpPr>
        <p:spPr>
          <a:xfrm>
            <a:off x="945489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rogress 2"/>
          <p:cNvSpPr/>
          <p:nvPr/>
        </p:nvSpPr>
        <p:spPr>
          <a:xfrm>
            <a:off x="963777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rogress 3"/>
          <p:cNvSpPr/>
          <p:nvPr/>
        </p:nvSpPr>
        <p:spPr>
          <a:xfrm>
            <a:off x="9820656" y="6478524"/>
            <a:ext cx="310896" cy="54864"/>
          </a:xfrm>
          <a:prstGeom prst="roundRect">
            <a:avLst>
              <a:gd name="adj" fmla="val 50000"/>
            </a:avLst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rogress 4"/>
          <p:cNvSpPr/>
          <p:nvPr/>
        </p:nvSpPr>
        <p:spPr>
          <a:xfrm>
            <a:off x="1018641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rogress 5"/>
          <p:cNvSpPr/>
          <p:nvPr/>
        </p:nvSpPr>
        <p:spPr>
          <a:xfrm>
            <a:off x="1036929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rogress 6"/>
          <p:cNvSpPr/>
          <p:nvPr/>
        </p:nvSpPr>
        <p:spPr>
          <a:xfrm>
            <a:off x="1055217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rogress 7"/>
          <p:cNvSpPr/>
          <p:nvPr/>
        </p:nvSpPr>
        <p:spPr>
          <a:xfrm>
            <a:off x="1073505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rogress 8"/>
          <p:cNvSpPr/>
          <p:nvPr/>
        </p:nvSpPr>
        <p:spPr>
          <a:xfrm>
            <a:off x="1091793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Progress 9"/>
          <p:cNvSpPr/>
          <p:nvPr/>
        </p:nvSpPr>
        <p:spPr>
          <a:xfrm>
            <a:off x="1110081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Input image" descr="Входной снимок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" y="2057400"/>
            <a:ext cx="1097280" cy="1097280"/>
          </a:xfrm>
          <a:prstGeom prst="roundRect">
            <a:avLst>
              <a:gd name="adj" fmla="val 4000"/>
            </a:avLst>
          </a:prstGeom>
        </p:spPr>
      </p:pic>
      <p:sp>
        <p:nvSpPr>
          <p:cNvPr id="17" name="Вход label"/>
          <p:cNvSpPr txBox="1"/>
          <p:nvPr/>
        </p:nvSpPr>
        <p:spPr>
          <a:xfrm>
            <a:off x="557784" y="361188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>
                <a:solidFill>
                  <a:srgbClr val="EEF0F3"/>
                </a:solidFill>
                <a:latin typeface="Segoe UI Semibold"/>
              </a:rPr>
              <a:t>Вход</a:t>
            </a:r>
          </a:p>
        </p:txBody>
      </p:sp>
      <p:sp>
        <p:nvSpPr>
          <p:cNvPr id="18" name="Вход dims"/>
          <p:cNvSpPr txBox="1"/>
          <p:nvPr/>
        </p:nvSpPr>
        <p:spPr>
          <a:xfrm>
            <a:off x="512064" y="38862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>
                <a:solidFill>
                  <a:srgbClr val="A3ABBA"/>
                </a:solidFill>
                <a:latin typeface="Segoe UI"/>
              </a:rPr>
              <a:t>224 × 224</a:t>
            </a:r>
          </a:p>
        </p:txBody>
      </p:sp>
      <p:sp>
        <p:nvSpPr>
          <p:cNvPr id="19" name="Flow 1"/>
          <p:cNvSpPr txBox="1"/>
          <p:nvPr/>
        </p:nvSpPr>
        <p:spPr>
          <a:xfrm>
            <a:off x="1746504" y="2404872"/>
            <a:ext cx="30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>
                <a:solidFill>
                  <a:srgbClr val="6E7688"/>
                </a:solidFill>
                <a:latin typeface="Segoe UI Semibold"/>
              </a:rPr>
              <a:t>›</a:t>
            </a:r>
          </a:p>
        </p:txBody>
      </p:sp>
      <p:sp>
        <p:nvSpPr>
          <p:cNvPr id="20" name="Блок 1 block"/>
          <p:cNvSpPr/>
          <p:nvPr/>
        </p:nvSpPr>
        <p:spPr>
          <a:xfrm>
            <a:off x="2185416" y="1737360"/>
            <a:ext cx="822959" cy="1737360"/>
          </a:xfrm>
          <a:prstGeom prst="roundRect">
            <a:avLst>
              <a:gd name="adj" fmla="val 12000"/>
            </a:avLst>
          </a:prstGeom>
          <a:solidFill>
            <a:srgbClr val="9DB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Блок 1 label"/>
          <p:cNvSpPr txBox="1"/>
          <p:nvPr/>
        </p:nvSpPr>
        <p:spPr>
          <a:xfrm>
            <a:off x="1956816" y="361188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>
                <a:solidFill>
                  <a:srgbClr val="EEF0F3"/>
                </a:solidFill>
                <a:latin typeface="Segoe UI Semibold"/>
              </a:rPr>
              <a:t>Блок 1</a:t>
            </a:r>
          </a:p>
        </p:txBody>
      </p:sp>
      <p:sp>
        <p:nvSpPr>
          <p:cNvPr id="22" name="Блок 1 dims"/>
          <p:cNvSpPr txBox="1"/>
          <p:nvPr/>
        </p:nvSpPr>
        <p:spPr>
          <a:xfrm>
            <a:off x="1911096" y="38862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>
                <a:solidFill>
                  <a:srgbClr val="A3ABBA"/>
                </a:solidFill>
                <a:latin typeface="Segoe UI"/>
              </a:rPr>
              <a:t>112 × 112 · 32</a:t>
            </a:r>
          </a:p>
        </p:txBody>
      </p:sp>
      <p:sp>
        <p:nvSpPr>
          <p:cNvPr id="23" name="Flow 2"/>
          <p:cNvSpPr txBox="1"/>
          <p:nvPr/>
        </p:nvSpPr>
        <p:spPr>
          <a:xfrm>
            <a:off x="3145536" y="2404872"/>
            <a:ext cx="30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>
                <a:solidFill>
                  <a:srgbClr val="6E7688"/>
                </a:solidFill>
                <a:latin typeface="Segoe UI Semibold"/>
              </a:rPr>
              <a:t>›</a:t>
            </a:r>
          </a:p>
        </p:txBody>
      </p:sp>
      <p:sp>
        <p:nvSpPr>
          <p:cNvPr id="24" name="Блок 2 block"/>
          <p:cNvSpPr/>
          <p:nvPr/>
        </p:nvSpPr>
        <p:spPr>
          <a:xfrm>
            <a:off x="3584448" y="1874519"/>
            <a:ext cx="822959" cy="1463040"/>
          </a:xfrm>
          <a:prstGeom prst="roundRect">
            <a:avLst>
              <a:gd name="adj" fmla="val 12000"/>
            </a:avLst>
          </a:prstGeom>
          <a:solidFill>
            <a:srgbClr val="86A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Блок 2 label"/>
          <p:cNvSpPr txBox="1"/>
          <p:nvPr/>
        </p:nvSpPr>
        <p:spPr>
          <a:xfrm>
            <a:off x="3355848" y="361188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>
                <a:solidFill>
                  <a:srgbClr val="EEF0F3"/>
                </a:solidFill>
                <a:latin typeface="Segoe UI Semibold"/>
              </a:rPr>
              <a:t>Блок 2</a:t>
            </a:r>
          </a:p>
        </p:txBody>
      </p:sp>
      <p:sp>
        <p:nvSpPr>
          <p:cNvPr id="26" name="Блок 2 dims"/>
          <p:cNvSpPr txBox="1"/>
          <p:nvPr/>
        </p:nvSpPr>
        <p:spPr>
          <a:xfrm>
            <a:off x="3310128" y="38862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>
                <a:solidFill>
                  <a:srgbClr val="A3ABBA"/>
                </a:solidFill>
                <a:latin typeface="Segoe UI"/>
              </a:rPr>
              <a:t>56 × 56 · 64</a:t>
            </a:r>
          </a:p>
        </p:txBody>
      </p:sp>
      <p:sp>
        <p:nvSpPr>
          <p:cNvPr id="27" name="Flow 3"/>
          <p:cNvSpPr txBox="1"/>
          <p:nvPr/>
        </p:nvSpPr>
        <p:spPr>
          <a:xfrm>
            <a:off x="4544568" y="2404872"/>
            <a:ext cx="30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>
                <a:solidFill>
                  <a:srgbClr val="6E7688"/>
                </a:solidFill>
                <a:latin typeface="Segoe UI Semibold"/>
              </a:rPr>
              <a:t>›</a:t>
            </a:r>
          </a:p>
        </p:txBody>
      </p:sp>
      <p:sp>
        <p:nvSpPr>
          <p:cNvPr id="28" name="Блок 3 block"/>
          <p:cNvSpPr/>
          <p:nvPr/>
        </p:nvSpPr>
        <p:spPr>
          <a:xfrm>
            <a:off x="4983480" y="2011680"/>
            <a:ext cx="822959" cy="1188720"/>
          </a:xfrm>
          <a:prstGeom prst="roundRect">
            <a:avLst>
              <a:gd name="adj" fmla="val 12000"/>
            </a:avLst>
          </a:prstGeom>
          <a:solidFill>
            <a:srgbClr val="6F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Блок 3 label"/>
          <p:cNvSpPr txBox="1"/>
          <p:nvPr/>
        </p:nvSpPr>
        <p:spPr>
          <a:xfrm>
            <a:off x="4754880" y="361188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>
                <a:solidFill>
                  <a:srgbClr val="EEF0F3"/>
                </a:solidFill>
                <a:latin typeface="Segoe UI Semibold"/>
              </a:rPr>
              <a:t>Блок 3</a:t>
            </a:r>
          </a:p>
        </p:txBody>
      </p:sp>
      <p:sp>
        <p:nvSpPr>
          <p:cNvPr id="30" name="Блок 3 dims"/>
          <p:cNvSpPr txBox="1"/>
          <p:nvPr/>
        </p:nvSpPr>
        <p:spPr>
          <a:xfrm>
            <a:off x="4709159" y="38862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>
                <a:solidFill>
                  <a:srgbClr val="A3ABBA"/>
                </a:solidFill>
                <a:latin typeface="Segoe UI"/>
              </a:rPr>
              <a:t>28 × 28 · 128</a:t>
            </a:r>
          </a:p>
        </p:txBody>
      </p:sp>
      <p:sp>
        <p:nvSpPr>
          <p:cNvPr id="31" name="Flow 4"/>
          <p:cNvSpPr txBox="1"/>
          <p:nvPr/>
        </p:nvSpPr>
        <p:spPr>
          <a:xfrm>
            <a:off x="5943600" y="2404872"/>
            <a:ext cx="30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>
                <a:solidFill>
                  <a:srgbClr val="6E7688"/>
                </a:solidFill>
                <a:latin typeface="Segoe UI Semibold"/>
              </a:rPr>
              <a:t>›</a:t>
            </a:r>
          </a:p>
        </p:txBody>
      </p:sp>
      <p:sp>
        <p:nvSpPr>
          <p:cNvPr id="32" name="Блок 4 block"/>
          <p:cNvSpPr/>
          <p:nvPr/>
        </p:nvSpPr>
        <p:spPr>
          <a:xfrm>
            <a:off x="6382512" y="2148840"/>
            <a:ext cx="822959" cy="914400"/>
          </a:xfrm>
          <a:prstGeom prst="roundRect">
            <a:avLst>
              <a:gd name="adj" fmla="val 12000"/>
            </a:avLst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Блок 4 label"/>
          <p:cNvSpPr txBox="1"/>
          <p:nvPr/>
        </p:nvSpPr>
        <p:spPr>
          <a:xfrm>
            <a:off x="6153912" y="361188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>
                <a:solidFill>
                  <a:srgbClr val="EEF0F3"/>
                </a:solidFill>
                <a:latin typeface="Segoe UI Semibold"/>
              </a:rPr>
              <a:t>Блок 4</a:t>
            </a:r>
          </a:p>
        </p:txBody>
      </p:sp>
      <p:sp>
        <p:nvSpPr>
          <p:cNvPr id="34" name="Блок 4 dims"/>
          <p:cNvSpPr txBox="1"/>
          <p:nvPr/>
        </p:nvSpPr>
        <p:spPr>
          <a:xfrm>
            <a:off x="6108192" y="38862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>
                <a:solidFill>
                  <a:srgbClr val="A3ABBA"/>
                </a:solidFill>
                <a:latin typeface="Segoe UI"/>
              </a:rPr>
              <a:t>14 × 14 · 256</a:t>
            </a:r>
          </a:p>
        </p:txBody>
      </p:sp>
      <p:sp>
        <p:nvSpPr>
          <p:cNvPr id="35" name="Flow 5"/>
          <p:cNvSpPr txBox="1"/>
          <p:nvPr/>
        </p:nvSpPr>
        <p:spPr>
          <a:xfrm>
            <a:off x="7342631" y="2404872"/>
            <a:ext cx="30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>
                <a:solidFill>
                  <a:srgbClr val="6E7688"/>
                </a:solidFill>
                <a:latin typeface="Segoe UI Semibold"/>
              </a:rPr>
              <a:t>›</a:t>
            </a:r>
          </a:p>
        </p:txBody>
      </p:sp>
      <p:sp>
        <p:nvSpPr>
          <p:cNvPr id="36" name="Пулинг block"/>
          <p:cNvSpPr/>
          <p:nvPr/>
        </p:nvSpPr>
        <p:spPr>
          <a:xfrm>
            <a:off x="7781544" y="2286000"/>
            <a:ext cx="822959" cy="640080"/>
          </a:xfrm>
          <a:prstGeom prst="roundRect">
            <a:avLst>
              <a:gd name="adj" fmla="val 12000"/>
            </a:avLst>
          </a:prstGeom>
          <a:solidFill>
            <a:srgbClr val="3A7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Пулинг label"/>
          <p:cNvSpPr txBox="1"/>
          <p:nvPr/>
        </p:nvSpPr>
        <p:spPr>
          <a:xfrm>
            <a:off x="7552944" y="361188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>
                <a:solidFill>
                  <a:srgbClr val="EEF0F3"/>
                </a:solidFill>
                <a:latin typeface="Segoe UI Semibold"/>
              </a:rPr>
              <a:t>Пулинг</a:t>
            </a:r>
          </a:p>
        </p:txBody>
      </p:sp>
      <p:sp>
        <p:nvSpPr>
          <p:cNvPr id="38" name="Пулинг dims"/>
          <p:cNvSpPr txBox="1"/>
          <p:nvPr/>
        </p:nvSpPr>
        <p:spPr>
          <a:xfrm>
            <a:off x="7507224" y="38862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>
                <a:solidFill>
                  <a:srgbClr val="A3ABBA"/>
                </a:solidFill>
                <a:latin typeface="Segoe UI"/>
              </a:rPr>
              <a:t>256 признаков</a:t>
            </a:r>
          </a:p>
        </p:txBody>
      </p:sp>
      <p:sp>
        <p:nvSpPr>
          <p:cNvPr id="39" name="Flow 6"/>
          <p:cNvSpPr txBox="1"/>
          <p:nvPr/>
        </p:nvSpPr>
        <p:spPr>
          <a:xfrm>
            <a:off x="8741664" y="2404872"/>
            <a:ext cx="30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>
                <a:solidFill>
                  <a:srgbClr val="6E7688"/>
                </a:solidFill>
                <a:latin typeface="Segoe UI Semibold"/>
              </a:rPr>
              <a:t>›</a:t>
            </a:r>
          </a:p>
        </p:txBody>
      </p:sp>
      <p:sp>
        <p:nvSpPr>
          <p:cNvPr id="40" name="Слой 128 block"/>
          <p:cNvSpPr/>
          <p:nvPr/>
        </p:nvSpPr>
        <p:spPr>
          <a:xfrm>
            <a:off x="9180576" y="2354580"/>
            <a:ext cx="822959" cy="502920"/>
          </a:xfrm>
          <a:prstGeom prst="roundRect">
            <a:avLst>
              <a:gd name="adj" fmla="val 12000"/>
            </a:avLst>
          </a:prstGeom>
          <a:solidFill>
            <a:srgbClr val="2F5C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Слой 128 label"/>
          <p:cNvSpPr txBox="1"/>
          <p:nvPr/>
        </p:nvSpPr>
        <p:spPr>
          <a:xfrm>
            <a:off x="8951976" y="361188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>
                <a:solidFill>
                  <a:srgbClr val="EEF0F3"/>
                </a:solidFill>
                <a:latin typeface="Segoe UI Semibold"/>
              </a:rPr>
              <a:t>Слой 128</a:t>
            </a:r>
          </a:p>
        </p:txBody>
      </p:sp>
      <p:sp>
        <p:nvSpPr>
          <p:cNvPr id="42" name="Слой 128 dims"/>
          <p:cNvSpPr txBox="1"/>
          <p:nvPr/>
        </p:nvSpPr>
        <p:spPr>
          <a:xfrm>
            <a:off x="8906256" y="38862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>
                <a:solidFill>
                  <a:srgbClr val="A3ABBA"/>
                </a:solidFill>
                <a:latin typeface="Segoe UI"/>
              </a:rPr>
              <a:t>+ Dropout 0.4</a:t>
            </a:r>
          </a:p>
        </p:txBody>
      </p:sp>
      <p:sp>
        <p:nvSpPr>
          <p:cNvPr id="43" name="Flow 7"/>
          <p:cNvSpPr txBox="1"/>
          <p:nvPr/>
        </p:nvSpPr>
        <p:spPr>
          <a:xfrm>
            <a:off x="10140696" y="2404872"/>
            <a:ext cx="30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>
                <a:solidFill>
                  <a:srgbClr val="6E7688"/>
                </a:solidFill>
                <a:latin typeface="Segoe UI Semibold"/>
              </a:rPr>
              <a:t>›</a:t>
            </a:r>
          </a:p>
        </p:txBody>
      </p:sp>
      <p:sp>
        <p:nvSpPr>
          <p:cNvPr id="44" name="Output node"/>
          <p:cNvSpPr/>
          <p:nvPr/>
        </p:nvSpPr>
        <p:spPr>
          <a:xfrm>
            <a:off x="10625328" y="2240280"/>
            <a:ext cx="731520" cy="731520"/>
          </a:xfrm>
          <a:prstGeom prst="ellipse">
            <a:avLst/>
          </a:prstGeom>
          <a:solidFill>
            <a:srgbClr val="34C4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45" name="Выход label"/>
          <p:cNvSpPr txBox="1"/>
          <p:nvPr/>
        </p:nvSpPr>
        <p:spPr>
          <a:xfrm>
            <a:off x="10351008" y="361188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>
                <a:solidFill>
                  <a:srgbClr val="EEF0F3"/>
                </a:solidFill>
                <a:latin typeface="Segoe UI Semibold"/>
              </a:rPr>
              <a:t>Выход</a:t>
            </a:r>
          </a:p>
        </p:txBody>
      </p:sp>
      <p:sp>
        <p:nvSpPr>
          <p:cNvPr id="46" name="Выход dims"/>
          <p:cNvSpPr txBox="1"/>
          <p:nvPr/>
        </p:nvSpPr>
        <p:spPr>
          <a:xfrm>
            <a:off x="10305288" y="38862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>
                <a:solidFill>
                  <a:srgbClr val="A3ABBA"/>
                </a:solidFill>
                <a:latin typeface="Segoe UI"/>
              </a:rPr>
              <a:t>вероятность</a:t>
            </a:r>
          </a:p>
        </p:txBody>
      </p:sp>
      <p:sp>
        <p:nvSpPr>
          <p:cNvPr id="47" name="Fact 1 card"/>
          <p:cNvSpPr/>
          <p:nvPr/>
        </p:nvSpPr>
        <p:spPr>
          <a:xfrm>
            <a:off x="548640" y="4572000"/>
            <a:ext cx="3514344" cy="137160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act 1"/>
          <p:cNvSpPr txBox="1"/>
          <p:nvPr/>
        </p:nvSpPr>
        <p:spPr>
          <a:xfrm>
            <a:off x="822959" y="4773168"/>
            <a:ext cx="2965704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>
                <a:solidFill>
                  <a:srgbClr val="EEF0F3"/>
                </a:solidFill>
                <a:latin typeface="Segoe UI Semibold"/>
              </a:rPr>
              <a:t>Написана с нуля</a:t>
            </a:r>
          </a:p>
          <a:p>
            <a:pPr algn="l">
              <a:spcAft>
                <a:spcPts val="300"/>
              </a:spcAft>
            </a:pPr>
            <a:r>
              <a:rPr sz="1300">
                <a:solidFill>
                  <a:srgbClr val="A3ABBA"/>
                </a:solidFill>
                <a:latin typeface="Segoe UI"/>
              </a:rPr>
              <a:t>Архитектура на PyTorch, обучение без готовых весов</a:t>
            </a:r>
          </a:p>
        </p:txBody>
      </p:sp>
      <p:sp>
        <p:nvSpPr>
          <p:cNvPr id="49" name="Fact 2 card"/>
          <p:cNvSpPr/>
          <p:nvPr/>
        </p:nvSpPr>
        <p:spPr>
          <a:xfrm>
            <a:off x="4337304" y="4572000"/>
            <a:ext cx="3514344" cy="137160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act 2"/>
          <p:cNvSpPr txBox="1"/>
          <p:nvPr/>
        </p:nvSpPr>
        <p:spPr>
          <a:xfrm>
            <a:off x="4611624" y="4773168"/>
            <a:ext cx="2965704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>
                <a:solidFill>
                  <a:srgbClr val="EEF0F3"/>
                </a:solidFill>
                <a:latin typeface="Segoe UI Semibold"/>
              </a:rPr>
              <a:t>Сверточный блок</a:t>
            </a:r>
          </a:p>
          <a:p>
            <a:pPr algn="l">
              <a:spcAft>
                <a:spcPts val="300"/>
              </a:spcAft>
            </a:pPr>
            <a:r>
              <a:rPr sz="1300">
                <a:solidFill>
                  <a:srgbClr val="A3ABBA"/>
                </a:solidFill>
                <a:latin typeface="Segoe UI"/>
              </a:rPr>
              <a:t>Свёртка 3 × 3 → BatchNorm → ReLU → MaxPool</a:t>
            </a:r>
          </a:p>
        </p:txBody>
      </p:sp>
      <p:sp>
        <p:nvSpPr>
          <p:cNvPr id="51" name="Fact 3 card"/>
          <p:cNvSpPr/>
          <p:nvPr/>
        </p:nvSpPr>
        <p:spPr>
          <a:xfrm>
            <a:off x="8125968" y="4572000"/>
            <a:ext cx="3514344" cy="137160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act 3"/>
          <p:cNvSpPr txBox="1"/>
          <p:nvPr/>
        </p:nvSpPr>
        <p:spPr>
          <a:xfrm>
            <a:off x="8400288" y="4773168"/>
            <a:ext cx="2965704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>
                <a:solidFill>
                  <a:srgbClr val="EEF0F3"/>
                </a:solidFill>
                <a:latin typeface="Segoe UI Semibold"/>
              </a:rPr>
              <a:t>422 тыс. параметров</a:t>
            </a:r>
          </a:p>
          <a:p>
            <a:pPr algn="l">
              <a:spcAft>
                <a:spcPts val="300"/>
              </a:spcAft>
            </a:pPr>
            <a:r>
              <a:rPr sz="1300">
                <a:solidFill>
                  <a:srgbClr val="A3ABBA"/>
                </a:solidFill>
                <a:latin typeface="Segoe UI"/>
              </a:rPr>
              <a:t>Компактная модель: файл весит всего 1.7 МБ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Background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58368"/>
            <a:ext cx="11091672" cy="685800"/>
          </a:xfrm>
        </p:spPr>
        <p:txBody>
          <a:bodyPr lIns="0" rIns="0" tIns="0" bIns="0" anchor="ctr" wrap="square"/>
          <a:lstStyle/>
          <a:p>
            <a:pPr algn="l"/>
            <a:r>
              <a:rPr sz="3200">
                <a:solidFill>
                  <a:srgbClr val="EEF0F3"/>
                </a:solidFill>
                <a:latin typeface="Segoe UI Semibold"/>
              </a:rPr>
              <a:t>Как обучалась модель</a:t>
            </a:r>
          </a:p>
        </p:txBody>
      </p:sp>
      <p:sp>
        <p:nvSpPr>
          <p:cNvPr id="4" name="Kicker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spc="200">
                <a:solidFill>
                  <a:srgbClr val="4F8CFF"/>
                </a:solidFill>
                <a:latin typeface="Segoe UI Semibold"/>
              </a:rPr>
              <a:t>04 · ОБУЧЕНИЕ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6E7688"/>
                </a:solidFill>
                <a:latin typeface="Segoe UI"/>
              </a:rPr>
              <a:t>PneumoScan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9811512" y="64008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>
                <a:solidFill>
                  <a:srgbClr val="6E7688"/>
                </a:solidFill>
                <a:latin typeface="Segoe UI"/>
              </a:rPr>
              <a:t>05</a:t>
            </a:r>
          </a:p>
        </p:txBody>
      </p:sp>
      <p:sp>
        <p:nvSpPr>
          <p:cNvPr id="7" name="Progress 1"/>
          <p:cNvSpPr/>
          <p:nvPr/>
        </p:nvSpPr>
        <p:spPr>
          <a:xfrm>
            <a:off x="945489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rogress 2"/>
          <p:cNvSpPr/>
          <p:nvPr/>
        </p:nvSpPr>
        <p:spPr>
          <a:xfrm>
            <a:off x="963777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rogress 3"/>
          <p:cNvSpPr/>
          <p:nvPr/>
        </p:nvSpPr>
        <p:spPr>
          <a:xfrm>
            <a:off x="982065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rogress 4"/>
          <p:cNvSpPr/>
          <p:nvPr/>
        </p:nvSpPr>
        <p:spPr>
          <a:xfrm>
            <a:off x="10003536" y="6478524"/>
            <a:ext cx="310896" cy="54864"/>
          </a:xfrm>
          <a:prstGeom prst="roundRect">
            <a:avLst>
              <a:gd name="adj" fmla="val 50000"/>
            </a:avLst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rogress 5"/>
          <p:cNvSpPr/>
          <p:nvPr/>
        </p:nvSpPr>
        <p:spPr>
          <a:xfrm>
            <a:off x="1036929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rogress 6"/>
          <p:cNvSpPr/>
          <p:nvPr/>
        </p:nvSpPr>
        <p:spPr>
          <a:xfrm>
            <a:off x="1055217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rogress 7"/>
          <p:cNvSpPr/>
          <p:nvPr/>
        </p:nvSpPr>
        <p:spPr>
          <a:xfrm>
            <a:off x="1073505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rogress 8"/>
          <p:cNvSpPr/>
          <p:nvPr/>
        </p:nvSpPr>
        <p:spPr>
          <a:xfrm>
            <a:off x="1091793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Progress 9"/>
          <p:cNvSpPr/>
          <p:nvPr/>
        </p:nvSpPr>
        <p:spPr>
          <a:xfrm>
            <a:off x="1110081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Augment original" descr="Исходный обучающий снимок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600200"/>
            <a:ext cx="2743200" cy="2743200"/>
          </a:xfrm>
          <a:prstGeom prst="roundRect">
            <a:avLst>
              <a:gd name="adj" fmla="val 4000"/>
            </a:avLst>
          </a:prstGeom>
        </p:spPr>
      </p:pic>
      <p:pic>
        <p:nvPicPr>
          <p:cNvPr id="17" name="Augment 1" descr="Вариант аугментации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0440" y="1600200"/>
            <a:ext cx="1298448" cy="1298448"/>
          </a:xfrm>
          <a:prstGeom prst="roundRect">
            <a:avLst>
              <a:gd name="adj" fmla="val 4000"/>
            </a:avLst>
          </a:prstGeom>
        </p:spPr>
      </p:pic>
      <p:pic>
        <p:nvPicPr>
          <p:cNvPr id="18" name="Augment 2" descr="Вариант аугментации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65192" y="1600200"/>
            <a:ext cx="1298448" cy="1298448"/>
          </a:xfrm>
          <a:prstGeom prst="roundRect">
            <a:avLst>
              <a:gd name="adj" fmla="val 4000"/>
            </a:avLst>
          </a:prstGeom>
        </p:spPr>
      </p:pic>
      <p:pic>
        <p:nvPicPr>
          <p:cNvPr id="19" name="Augment 3" descr="Вариант аугментации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20440" y="3044952"/>
            <a:ext cx="1298448" cy="1298448"/>
          </a:xfrm>
          <a:prstGeom prst="roundRect">
            <a:avLst>
              <a:gd name="adj" fmla="val 4000"/>
            </a:avLst>
          </a:prstGeom>
        </p:spPr>
      </p:pic>
      <p:pic>
        <p:nvPicPr>
          <p:cNvPr id="20" name="Augment 4" descr="Вариант аугментации 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65192" y="3044952"/>
            <a:ext cx="1298448" cy="1298448"/>
          </a:xfrm>
          <a:prstGeom prst="roundRect">
            <a:avLst>
              <a:gd name="adj" fmla="val 4000"/>
            </a:avLst>
          </a:prstGeom>
        </p:spPr>
      </p:pic>
      <p:sp>
        <p:nvSpPr>
          <p:cNvPr id="21" name="Augment caption original"/>
          <p:cNvSpPr txBox="1"/>
          <p:nvPr/>
        </p:nvSpPr>
        <p:spPr>
          <a:xfrm>
            <a:off x="548640" y="448056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A3ABBA"/>
                </a:solidFill>
                <a:latin typeface="Segoe UI"/>
              </a:rPr>
              <a:t>Исходный снимок</a:t>
            </a:r>
          </a:p>
        </p:txBody>
      </p:sp>
      <p:sp>
        <p:nvSpPr>
          <p:cNvPr id="22" name="Augment caption variants"/>
          <p:cNvSpPr txBox="1"/>
          <p:nvPr/>
        </p:nvSpPr>
        <p:spPr>
          <a:xfrm>
            <a:off x="3520440" y="448056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A3ABBA"/>
                </a:solidFill>
                <a:latin typeface="Segoe UI"/>
              </a:rPr>
              <a:t>Варианты для обучения</a:t>
            </a:r>
          </a:p>
        </p:txBody>
      </p:sp>
      <p:sp>
        <p:nvSpPr>
          <p:cNvPr id="23" name="Augment note"/>
          <p:cNvSpPr txBox="1"/>
          <p:nvPr/>
        </p:nvSpPr>
        <p:spPr>
          <a:xfrm>
            <a:off x="548640" y="5029200"/>
            <a:ext cx="5715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>
                <a:solidFill>
                  <a:srgbClr val="EEF0F3"/>
                </a:solidFill>
                <a:latin typeface="Segoe UI"/>
              </a:rPr>
              <a:t>При обучении снимки случайно поворачиваются, сдвигаются и обрезаются, меняются яркость и контраст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EEF0F3"/>
                </a:solidFill>
                <a:latin typeface="Segoe UI"/>
              </a:rPr>
              <a:t>Так модель учится обобщать, а не запоминать</a:t>
            </a:r>
          </a:p>
        </p:txBody>
      </p:sp>
      <p:sp>
        <p:nvSpPr>
          <p:cNvPr id="24" name="Settings card"/>
          <p:cNvSpPr/>
          <p:nvPr/>
        </p:nvSpPr>
        <p:spPr>
          <a:xfrm>
            <a:off x="6675120" y="1600200"/>
            <a:ext cx="4965192" cy="452628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Setting 1 icon" descr="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49440" y="1837943"/>
            <a:ext cx="237744" cy="237744"/>
          </a:xfrm>
          <a:prstGeom prst="rect">
            <a:avLst/>
          </a:prstGeom>
        </p:spPr>
      </p:pic>
      <p:sp>
        <p:nvSpPr>
          <p:cNvPr id="26" name="Setting 1 label"/>
          <p:cNvSpPr txBox="1"/>
          <p:nvPr/>
        </p:nvSpPr>
        <p:spPr>
          <a:xfrm>
            <a:off x="7333488" y="1828800"/>
            <a:ext cx="1325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A3ABBA"/>
                </a:solidFill>
                <a:latin typeface="Segoe UI"/>
              </a:rPr>
              <a:t>Разбиение</a:t>
            </a:r>
          </a:p>
        </p:txBody>
      </p:sp>
      <p:sp>
        <p:nvSpPr>
          <p:cNvPr id="27" name="Setting 1 value"/>
          <p:cNvSpPr txBox="1"/>
          <p:nvPr/>
        </p:nvSpPr>
        <p:spPr>
          <a:xfrm>
            <a:off x="8732520" y="1828800"/>
            <a:ext cx="2697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EEF0F3"/>
                </a:solidFill>
                <a:latin typeface="Segoe UI"/>
              </a:rPr>
              <a:t>4 433 снимка для обучения и 783 для валидации</a:t>
            </a:r>
          </a:p>
        </p:txBody>
      </p:sp>
      <p:pic>
        <p:nvPicPr>
          <p:cNvPr id="28" name="Setting 2 icon" descr="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49440" y="2532887"/>
            <a:ext cx="237744" cy="237744"/>
          </a:xfrm>
          <a:prstGeom prst="rect">
            <a:avLst/>
          </a:prstGeom>
        </p:spPr>
      </p:pic>
      <p:sp>
        <p:nvSpPr>
          <p:cNvPr id="29" name="Setting 2 label"/>
          <p:cNvSpPr txBox="1"/>
          <p:nvPr/>
        </p:nvSpPr>
        <p:spPr>
          <a:xfrm>
            <a:off x="7333488" y="2523744"/>
            <a:ext cx="1325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A3ABBA"/>
                </a:solidFill>
                <a:latin typeface="Segoe UI"/>
              </a:rPr>
              <a:t>Баланс классов</a:t>
            </a:r>
          </a:p>
        </p:txBody>
      </p:sp>
      <p:sp>
        <p:nvSpPr>
          <p:cNvPr id="30" name="Setting 2 value"/>
          <p:cNvSpPr txBox="1"/>
          <p:nvPr/>
        </p:nvSpPr>
        <p:spPr>
          <a:xfrm>
            <a:off x="8732520" y="2523744"/>
            <a:ext cx="2697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EEF0F3"/>
                </a:solidFill>
                <a:latin typeface="Segoe UI"/>
              </a:rPr>
              <a:t>вес пневмонии 0.35 уравнивает классы</a:t>
            </a:r>
          </a:p>
        </p:txBody>
      </p:sp>
      <p:pic>
        <p:nvPicPr>
          <p:cNvPr id="31" name="Setting 3 icon" descr="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949440" y="3227832"/>
            <a:ext cx="237744" cy="237744"/>
          </a:xfrm>
          <a:prstGeom prst="rect">
            <a:avLst/>
          </a:prstGeom>
        </p:spPr>
      </p:pic>
      <p:sp>
        <p:nvSpPr>
          <p:cNvPr id="32" name="Setting 3 label"/>
          <p:cNvSpPr txBox="1"/>
          <p:nvPr/>
        </p:nvSpPr>
        <p:spPr>
          <a:xfrm>
            <a:off x="7333488" y="3218688"/>
            <a:ext cx="1325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A3ABBA"/>
                </a:solidFill>
                <a:latin typeface="Segoe UI"/>
              </a:rPr>
              <a:t>Оптимизатор</a:t>
            </a:r>
          </a:p>
        </p:txBody>
      </p:sp>
      <p:sp>
        <p:nvSpPr>
          <p:cNvPr id="33" name="Setting 3 value"/>
          <p:cNvSpPr txBox="1"/>
          <p:nvPr/>
        </p:nvSpPr>
        <p:spPr>
          <a:xfrm>
            <a:off x="8732520" y="3218688"/>
            <a:ext cx="2697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EEF0F3"/>
                </a:solidFill>
                <a:latin typeface="Segoe UI"/>
              </a:rPr>
              <a:t>AdamW + OneCycle, шаг до 10⁻³</a:t>
            </a:r>
          </a:p>
        </p:txBody>
      </p:sp>
      <p:pic>
        <p:nvPicPr>
          <p:cNvPr id="34" name="Setting 4 icon" descr="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49440" y="3922776"/>
            <a:ext cx="237744" cy="237744"/>
          </a:xfrm>
          <a:prstGeom prst="rect">
            <a:avLst/>
          </a:prstGeom>
        </p:spPr>
      </p:pic>
      <p:sp>
        <p:nvSpPr>
          <p:cNvPr id="35" name="Setting 4 label"/>
          <p:cNvSpPr txBox="1"/>
          <p:nvPr/>
        </p:nvSpPr>
        <p:spPr>
          <a:xfrm>
            <a:off x="7333488" y="3913632"/>
            <a:ext cx="1325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A3ABBA"/>
                </a:solidFill>
                <a:latin typeface="Segoe UI"/>
              </a:rPr>
              <a:t>Ускорение</a:t>
            </a:r>
          </a:p>
        </p:txBody>
      </p:sp>
      <p:sp>
        <p:nvSpPr>
          <p:cNvPr id="36" name="Setting 4 value"/>
          <p:cNvSpPr txBox="1"/>
          <p:nvPr/>
        </p:nvSpPr>
        <p:spPr>
          <a:xfrm>
            <a:off x="8732520" y="3913632"/>
            <a:ext cx="2697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EEF0F3"/>
                </a:solidFill>
                <a:latin typeface="Segoe UI"/>
              </a:rPr>
              <a:t>смешанная точность на GPU RTX 3080 Ti</a:t>
            </a:r>
          </a:p>
        </p:txBody>
      </p:sp>
      <p:pic>
        <p:nvPicPr>
          <p:cNvPr id="37" name="Setting 5 icon" descr="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949440" y="4617720"/>
            <a:ext cx="237744" cy="237744"/>
          </a:xfrm>
          <a:prstGeom prst="rect">
            <a:avLst/>
          </a:prstGeom>
        </p:spPr>
      </p:pic>
      <p:sp>
        <p:nvSpPr>
          <p:cNvPr id="38" name="Setting 5 label"/>
          <p:cNvSpPr txBox="1"/>
          <p:nvPr/>
        </p:nvSpPr>
        <p:spPr>
          <a:xfrm>
            <a:off x="7333488" y="4608576"/>
            <a:ext cx="1325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A3ABBA"/>
                </a:solidFill>
                <a:latin typeface="Segoe UI"/>
              </a:rPr>
              <a:t>Эпохи</a:t>
            </a:r>
          </a:p>
        </p:txBody>
      </p:sp>
      <p:sp>
        <p:nvSpPr>
          <p:cNvPr id="39" name="Setting 5 value"/>
          <p:cNvSpPr txBox="1"/>
          <p:nvPr/>
        </p:nvSpPr>
        <p:spPr>
          <a:xfrm>
            <a:off x="8732520" y="4608576"/>
            <a:ext cx="2697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EEF0F3"/>
                </a:solidFill>
                <a:latin typeface="Segoe UI"/>
              </a:rPr>
              <a:t>лучшая 34-я из 40 с точностью 96.0%</a:t>
            </a:r>
          </a:p>
        </p:txBody>
      </p:sp>
      <p:pic>
        <p:nvPicPr>
          <p:cNvPr id="40" name="Setting 6 icon" descr="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949440" y="5312664"/>
            <a:ext cx="237744" cy="237744"/>
          </a:xfrm>
          <a:prstGeom prst="rect">
            <a:avLst/>
          </a:prstGeom>
        </p:spPr>
      </p:pic>
      <p:sp>
        <p:nvSpPr>
          <p:cNvPr id="41" name="Setting 6 label"/>
          <p:cNvSpPr txBox="1"/>
          <p:nvPr/>
        </p:nvSpPr>
        <p:spPr>
          <a:xfrm>
            <a:off x="7333488" y="5303520"/>
            <a:ext cx="1325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A3ABBA"/>
                </a:solidFill>
                <a:latin typeface="Segoe UI"/>
              </a:rPr>
              <a:t>Порог</a:t>
            </a:r>
          </a:p>
        </p:txBody>
      </p:sp>
      <p:sp>
        <p:nvSpPr>
          <p:cNvPr id="42" name="Setting 6 value"/>
          <p:cNvSpPr txBox="1"/>
          <p:nvPr/>
        </p:nvSpPr>
        <p:spPr>
          <a:xfrm>
            <a:off x="8732520" y="5303520"/>
            <a:ext cx="2697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EEF0F3"/>
                </a:solidFill>
                <a:latin typeface="Segoe UI"/>
              </a:rPr>
              <a:t>0.22 по индексу Юдена на валидации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Background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58368"/>
            <a:ext cx="11091672" cy="685800"/>
          </a:xfrm>
        </p:spPr>
        <p:txBody>
          <a:bodyPr lIns="0" rIns="0" tIns="0" bIns="0" anchor="ctr" wrap="square"/>
          <a:lstStyle/>
          <a:p>
            <a:pPr algn="l"/>
            <a:r>
              <a:rPr sz="3200">
                <a:solidFill>
                  <a:srgbClr val="EEF0F3"/>
                </a:solidFill>
                <a:latin typeface="Segoe UI Semibold"/>
              </a:rPr>
              <a:t>Результаты на 624 новых снимках</a:t>
            </a:r>
          </a:p>
        </p:txBody>
      </p:sp>
      <p:sp>
        <p:nvSpPr>
          <p:cNvPr id="4" name="Kicker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spc="200">
                <a:solidFill>
                  <a:srgbClr val="4F8CFF"/>
                </a:solidFill>
                <a:latin typeface="Segoe UI Semibold"/>
              </a:rPr>
              <a:t>05 · РЕЗУЛЬТАТЫ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6E7688"/>
                </a:solidFill>
                <a:latin typeface="Segoe UI"/>
              </a:rPr>
              <a:t>PneumoScan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9811512" y="64008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>
                <a:solidFill>
                  <a:srgbClr val="6E7688"/>
                </a:solidFill>
                <a:latin typeface="Segoe UI"/>
              </a:rPr>
              <a:t>06</a:t>
            </a:r>
          </a:p>
        </p:txBody>
      </p:sp>
      <p:sp>
        <p:nvSpPr>
          <p:cNvPr id="7" name="Progress 1"/>
          <p:cNvSpPr/>
          <p:nvPr/>
        </p:nvSpPr>
        <p:spPr>
          <a:xfrm>
            <a:off x="945489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rogress 2"/>
          <p:cNvSpPr/>
          <p:nvPr/>
        </p:nvSpPr>
        <p:spPr>
          <a:xfrm>
            <a:off x="963777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rogress 3"/>
          <p:cNvSpPr/>
          <p:nvPr/>
        </p:nvSpPr>
        <p:spPr>
          <a:xfrm>
            <a:off x="982065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rogress 4"/>
          <p:cNvSpPr/>
          <p:nvPr/>
        </p:nvSpPr>
        <p:spPr>
          <a:xfrm>
            <a:off x="1000353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rogress 5"/>
          <p:cNvSpPr/>
          <p:nvPr/>
        </p:nvSpPr>
        <p:spPr>
          <a:xfrm>
            <a:off x="10186415" y="6478524"/>
            <a:ext cx="310896" cy="54864"/>
          </a:xfrm>
          <a:prstGeom prst="roundRect">
            <a:avLst>
              <a:gd name="adj" fmla="val 50000"/>
            </a:avLst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rogress 6"/>
          <p:cNvSpPr/>
          <p:nvPr/>
        </p:nvSpPr>
        <p:spPr>
          <a:xfrm>
            <a:off x="1055217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rogress 7"/>
          <p:cNvSpPr/>
          <p:nvPr/>
        </p:nvSpPr>
        <p:spPr>
          <a:xfrm>
            <a:off x="1073505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rogress 8"/>
          <p:cNvSpPr/>
          <p:nvPr/>
        </p:nvSpPr>
        <p:spPr>
          <a:xfrm>
            <a:off x="1091793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Progress 9"/>
          <p:cNvSpPr/>
          <p:nvPr/>
        </p:nvSpPr>
        <p:spPr>
          <a:xfrm>
            <a:off x="1110081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Metric 1 card"/>
          <p:cNvSpPr/>
          <p:nvPr/>
        </p:nvSpPr>
        <p:spPr>
          <a:xfrm>
            <a:off x="548640" y="1600200"/>
            <a:ext cx="2834640" cy="214884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Metric 1 circle"/>
          <p:cNvSpPr/>
          <p:nvPr/>
        </p:nvSpPr>
        <p:spPr>
          <a:xfrm>
            <a:off x="2688336" y="1801368"/>
            <a:ext cx="420624" cy="420624"/>
          </a:xfrm>
          <a:prstGeom prst="ellipse">
            <a:avLst/>
          </a:prstGeom>
          <a:solidFill>
            <a:srgbClr val="1C2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Metric 1 icon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72460" y="1885492"/>
            <a:ext cx="252374" cy="252374"/>
          </a:xfrm>
          <a:prstGeom prst="rect">
            <a:avLst/>
          </a:prstGeom>
        </p:spPr>
      </p:pic>
      <p:sp>
        <p:nvSpPr>
          <p:cNvPr id="19" name="Metric 1 label"/>
          <p:cNvSpPr txBox="1"/>
          <p:nvPr/>
        </p:nvSpPr>
        <p:spPr>
          <a:xfrm>
            <a:off x="822959" y="185623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A3ABBA"/>
                </a:solidFill>
                <a:latin typeface="Segoe UI"/>
              </a:rPr>
              <a:t>ROC-AUC</a:t>
            </a:r>
          </a:p>
        </p:txBody>
      </p:sp>
      <p:sp>
        <p:nvSpPr>
          <p:cNvPr id="20" name="Metric 1 value"/>
          <p:cNvSpPr txBox="1"/>
          <p:nvPr/>
        </p:nvSpPr>
        <p:spPr>
          <a:xfrm>
            <a:off x="822959" y="2167128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>
                <a:solidFill>
                  <a:srgbClr val="4F8CFF"/>
                </a:solidFill>
                <a:latin typeface="Segoe UI Semibold"/>
              </a:rPr>
              <a:t>0.971</a:t>
            </a:r>
          </a:p>
        </p:txBody>
      </p:sp>
      <p:sp>
        <p:nvSpPr>
          <p:cNvPr id="21" name="Metric 1 note"/>
          <p:cNvSpPr txBox="1"/>
          <p:nvPr/>
        </p:nvSpPr>
        <p:spPr>
          <a:xfrm>
            <a:off x="822959" y="29718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A3ABBA"/>
                </a:solidFill>
                <a:latin typeface="Segoe UI"/>
              </a:rPr>
              <a:t>качество разделения классов из 1.0 возможных</a:t>
            </a:r>
          </a:p>
        </p:txBody>
      </p:sp>
      <p:sp>
        <p:nvSpPr>
          <p:cNvPr id="22" name="Metric 2 card"/>
          <p:cNvSpPr/>
          <p:nvPr/>
        </p:nvSpPr>
        <p:spPr>
          <a:xfrm>
            <a:off x="3566160" y="1600200"/>
            <a:ext cx="2834640" cy="214884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Metric 2 circle"/>
          <p:cNvSpPr/>
          <p:nvPr/>
        </p:nvSpPr>
        <p:spPr>
          <a:xfrm>
            <a:off x="5705856" y="1801368"/>
            <a:ext cx="420624" cy="420624"/>
          </a:xfrm>
          <a:prstGeom prst="ellipse">
            <a:avLst/>
          </a:prstGeom>
          <a:solidFill>
            <a:srgbClr val="1C2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Metric 2 icon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89980" y="1885492"/>
            <a:ext cx="252374" cy="252374"/>
          </a:xfrm>
          <a:prstGeom prst="rect">
            <a:avLst/>
          </a:prstGeom>
        </p:spPr>
      </p:pic>
      <p:sp>
        <p:nvSpPr>
          <p:cNvPr id="25" name="Metric 2 label"/>
          <p:cNvSpPr txBox="1"/>
          <p:nvPr/>
        </p:nvSpPr>
        <p:spPr>
          <a:xfrm>
            <a:off x="3840480" y="185623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A3ABBA"/>
                </a:solidFill>
                <a:latin typeface="Segoe UI"/>
              </a:rPr>
              <a:t>Точность</a:t>
            </a:r>
          </a:p>
        </p:txBody>
      </p:sp>
      <p:sp>
        <p:nvSpPr>
          <p:cNvPr id="26" name="Metric 2 value"/>
          <p:cNvSpPr txBox="1"/>
          <p:nvPr/>
        </p:nvSpPr>
        <p:spPr>
          <a:xfrm>
            <a:off x="3840480" y="2167128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>
                <a:solidFill>
                  <a:srgbClr val="EEF0F3"/>
                </a:solidFill>
                <a:latin typeface="Segoe UI Semibold"/>
              </a:rPr>
              <a:t>88.1%</a:t>
            </a:r>
          </a:p>
        </p:txBody>
      </p:sp>
      <p:sp>
        <p:nvSpPr>
          <p:cNvPr id="27" name="Metric 2 note"/>
          <p:cNvSpPr txBox="1"/>
          <p:nvPr/>
        </p:nvSpPr>
        <p:spPr>
          <a:xfrm>
            <a:off x="3840480" y="29718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A3ABBA"/>
                </a:solidFill>
                <a:latin typeface="Segoe UI"/>
              </a:rPr>
              <a:t>550 из 624 снимков определены верно</a:t>
            </a:r>
          </a:p>
        </p:txBody>
      </p:sp>
      <p:sp>
        <p:nvSpPr>
          <p:cNvPr id="28" name="Metric 3 card"/>
          <p:cNvSpPr/>
          <p:nvPr/>
        </p:nvSpPr>
        <p:spPr>
          <a:xfrm>
            <a:off x="548640" y="3931920"/>
            <a:ext cx="2834640" cy="214884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Metric 3 circle"/>
          <p:cNvSpPr/>
          <p:nvPr/>
        </p:nvSpPr>
        <p:spPr>
          <a:xfrm>
            <a:off x="2688336" y="4133088"/>
            <a:ext cx="420624" cy="420624"/>
          </a:xfrm>
          <a:prstGeom prst="ellipse">
            <a:avLst/>
          </a:prstGeom>
          <a:solidFill>
            <a:srgbClr val="1C2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Metric 3 icon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72460" y="4217212"/>
            <a:ext cx="252374" cy="252374"/>
          </a:xfrm>
          <a:prstGeom prst="rect">
            <a:avLst/>
          </a:prstGeom>
        </p:spPr>
      </p:pic>
      <p:sp>
        <p:nvSpPr>
          <p:cNvPr id="31" name="Metric 3 label"/>
          <p:cNvSpPr txBox="1"/>
          <p:nvPr/>
        </p:nvSpPr>
        <p:spPr>
          <a:xfrm>
            <a:off x="822959" y="418795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A3ABBA"/>
                </a:solidFill>
                <a:latin typeface="Segoe UI"/>
              </a:rPr>
              <a:t>Чувствительность</a:t>
            </a:r>
          </a:p>
        </p:txBody>
      </p:sp>
      <p:sp>
        <p:nvSpPr>
          <p:cNvPr id="32" name="Metric 3 value"/>
          <p:cNvSpPr txBox="1"/>
          <p:nvPr/>
        </p:nvSpPr>
        <p:spPr>
          <a:xfrm>
            <a:off x="822959" y="4498848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>
                <a:solidFill>
                  <a:srgbClr val="34C47C"/>
                </a:solidFill>
                <a:latin typeface="Segoe UI Semibold"/>
              </a:rPr>
              <a:t>99.0%</a:t>
            </a:r>
          </a:p>
        </p:txBody>
      </p:sp>
      <p:sp>
        <p:nvSpPr>
          <p:cNvPr id="33" name="Metric 3 note"/>
          <p:cNvSpPr txBox="1"/>
          <p:nvPr/>
        </p:nvSpPr>
        <p:spPr>
          <a:xfrm>
            <a:off x="822959" y="53035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A3ABBA"/>
                </a:solidFill>
                <a:latin typeface="Segoe UI"/>
              </a:rPr>
              <a:t>найдено 386 из 390 пневмоний</a:t>
            </a:r>
          </a:p>
        </p:txBody>
      </p:sp>
      <p:sp>
        <p:nvSpPr>
          <p:cNvPr id="34" name="Metric 4 card"/>
          <p:cNvSpPr/>
          <p:nvPr/>
        </p:nvSpPr>
        <p:spPr>
          <a:xfrm>
            <a:off x="3566160" y="3931920"/>
            <a:ext cx="2834640" cy="214884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Metric 4 circle"/>
          <p:cNvSpPr/>
          <p:nvPr/>
        </p:nvSpPr>
        <p:spPr>
          <a:xfrm>
            <a:off x="5705856" y="4133088"/>
            <a:ext cx="420624" cy="420624"/>
          </a:xfrm>
          <a:prstGeom prst="ellipse">
            <a:avLst/>
          </a:prstGeom>
          <a:solidFill>
            <a:srgbClr val="1C2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Metric 4 icon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89980" y="4217212"/>
            <a:ext cx="252374" cy="252374"/>
          </a:xfrm>
          <a:prstGeom prst="rect">
            <a:avLst/>
          </a:prstGeom>
        </p:spPr>
      </p:pic>
      <p:sp>
        <p:nvSpPr>
          <p:cNvPr id="37" name="Metric 4 label"/>
          <p:cNvSpPr txBox="1"/>
          <p:nvPr/>
        </p:nvSpPr>
        <p:spPr>
          <a:xfrm>
            <a:off x="3840480" y="418795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A3ABBA"/>
                </a:solidFill>
                <a:latin typeface="Segoe UI"/>
              </a:rPr>
              <a:t>Специфичность</a:t>
            </a:r>
          </a:p>
        </p:txBody>
      </p:sp>
      <p:sp>
        <p:nvSpPr>
          <p:cNvPr id="38" name="Metric 4 value"/>
          <p:cNvSpPr txBox="1"/>
          <p:nvPr/>
        </p:nvSpPr>
        <p:spPr>
          <a:xfrm>
            <a:off x="3840480" y="4498848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>
                <a:solidFill>
                  <a:srgbClr val="EEF0F3"/>
                </a:solidFill>
                <a:latin typeface="Segoe UI Semibold"/>
              </a:rPr>
              <a:t>70.1%</a:t>
            </a:r>
          </a:p>
        </p:txBody>
      </p:sp>
      <p:sp>
        <p:nvSpPr>
          <p:cNvPr id="39" name="Metric 4 note"/>
          <p:cNvSpPr txBox="1"/>
          <p:nvPr/>
        </p:nvSpPr>
        <p:spPr>
          <a:xfrm>
            <a:off x="3840480" y="53035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A3ABBA"/>
                </a:solidFill>
                <a:latin typeface="Segoe UI"/>
              </a:rPr>
              <a:t>164 из 234 здоровых распознаны верно</a:t>
            </a:r>
          </a:p>
        </p:txBody>
      </p:sp>
      <p:sp>
        <p:nvSpPr>
          <p:cNvPr id="40" name="Confusion card"/>
          <p:cNvSpPr/>
          <p:nvPr/>
        </p:nvSpPr>
        <p:spPr>
          <a:xfrm>
            <a:off x="6675120" y="1600200"/>
            <a:ext cx="4965192" cy="448056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Confusion title"/>
          <p:cNvSpPr txBox="1"/>
          <p:nvPr/>
        </p:nvSpPr>
        <p:spPr>
          <a:xfrm>
            <a:off x="6949440" y="1810512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>
                <a:solidFill>
                  <a:srgbClr val="EEF0F3"/>
                </a:solidFill>
                <a:latin typeface="Segoe UI Semibold"/>
              </a:rPr>
              <a:t>Матрица ошибок</a:t>
            </a:r>
          </a:p>
        </p:txBody>
      </p:sp>
      <p:sp>
        <p:nvSpPr>
          <p:cNvPr id="42" name="Predicted header"/>
          <p:cNvSpPr txBox="1"/>
          <p:nvPr/>
        </p:nvSpPr>
        <p:spPr>
          <a:xfrm>
            <a:off x="8366760" y="22860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spc="100">
                <a:solidFill>
                  <a:srgbClr val="6E7688"/>
                </a:solidFill>
                <a:latin typeface="Segoe UI Semibold"/>
              </a:rPr>
              <a:t>ПРЕДСКАЗАНИЕ МОДЕЛИ</a:t>
            </a:r>
          </a:p>
        </p:txBody>
      </p:sp>
      <p:sp>
        <p:nvSpPr>
          <p:cNvPr id="43" name="Col 1"/>
          <p:cNvSpPr txBox="1"/>
          <p:nvPr/>
        </p:nvSpPr>
        <p:spPr>
          <a:xfrm>
            <a:off x="8366760" y="260604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>
                <a:solidFill>
                  <a:srgbClr val="A3ABBA"/>
                </a:solidFill>
                <a:latin typeface="Segoe UI"/>
              </a:rPr>
              <a:t>Норма</a:t>
            </a:r>
          </a:p>
        </p:txBody>
      </p:sp>
      <p:sp>
        <p:nvSpPr>
          <p:cNvPr id="44" name="Row 1"/>
          <p:cNvSpPr txBox="1"/>
          <p:nvPr/>
        </p:nvSpPr>
        <p:spPr>
          <a:xfrm>
            <a:off x="6949440" y="3383280"/>
            <a:ext cx="1325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EEF0F3"/>
                </a:solidFill>
                <a:latin typeface="Segoe UI"/>
              </a:rPr>
              <a:t>Норма</a:t>
            </a:r>
          </a:p>
          <a:p>
            <a:pPr algn="l"/>
            <a:r>
              <a:rPr sz="1000">
                <a:solidFill>
                  <a:srgbClr val="6E7688"/>
                </a:solidFill>
                <a:latin typeface="Segoe UI"/>
              </a:rPr>
              <a:t>реально</a:t>
            </a:r>
          </a:p>
        </p:txBody>
      </p:sp>
      <p:sp>
        <p:nvSpPr>
          <p:cNvPr id="45" name="Col 2"/>
          <p:cNvSpPr txBox="1"/>
          <p:nvPr/>
        </p:nvSpPr>
        <p:spPr>
          <a:xfrm>
            <a:off x="9921240" y="260604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>
                <a:solidFill>
                  <a:srgbClr val="A3ABBA"/>
                </a:solidFill>
                <a:latin typeface="Segoe UI"/>
              </a:rPr>
              <a:t>Пневмония</a:t>
            </a:r>
          </a:p>
        </p:txBody>
      </p:sp>
      <p:sp>
        <p:nvSpPr>
          <p:cNvPr id="46" name="Row 2"/>
          <p:cNvSpPr txBox="1"/>
          <p:nvPr/>
        </p:nvSpPr>
        <p:spPr>
          <a:xfrm>
            <a:off x="6949440" y="4846320"/>
            <a:ext cx="1325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EEF0F3"/>
                </a:solidFill>
                <a:latin typeface="Segoe UI"/>
              </a:rPr>
              <a:t>Пневмония</a:t>
            </a:r>
          </a:p>
          <a:p>
            <a:pPr algn="l"/>
            <a:r>
              <a:rPr sz="1000">
                <a:solidFill>
                  <a:srgbClr val="6E7688"/>
                </a:solidFill>
                <a:latin typeface="Segoe UI"/>
              </a:rPr>
              <a:t>реально</a:t>
            </a:r>
          </a:p>
        </p:txBody>
      </p:sp>
      <p:sp>
        <p:nvSpPr>
          <p:cNvPr id="47" name="Cell 11"/>
          <p:cNvSpPr/>
          <p:nvPr/>
        </p:nvSpPr>
        <p:spPr>
          <a:xfrm>
            <a:off x="8366760" y="2971800"/>
            <a:ext cx="1371600" cy="1280160"/>
          </a:xfrm>
          <a:prstGeom prst="roundRect">
            <a:avLst>
              <a:gd name="adj" fmla="val 8000"/>
            </a:avLst>
          </a:prstGeom>
          <a:solidFill>
            <a:srgbClr val="173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Cell 11 value"/>
          <p:cNvSpPr txBox="1"/>
          <p:nvPr/>
        </p:nvSpPr>
        <p:spPr>
          <a:xfrm>
            <a:off x="8366760" y="3200400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>
                <a:solidFill>
                  <a:srgbClr val="34C47C"/>
                </a:solidFill>
                <a:latin typeface="Segoe UI Semibold"/>
              </a:rPr>
              <a:t>164</a:t>
            </a:r>
          </a:p>
        </p:txBody>
      </p:sp>
      <p:sp>
        <p:nvSpPr>
          <p:cNvPr id="49" name="Cell 11 label"/>
          <p:cNvSpPr txBox="1"/>
          <p:nvPr/>
        </p:nvSpPr>
        <p:spPr>
          <a:xfrm>
            <a:off x="8366760" y="37947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A3ABBA"/>
                </a:solidFill>
                <a:latin typeface="Segoe UI"/>
              </a:rPr>
              <a:t>верно</a:t>
            </a:r>
          </a:p>
        </p:txBody>
      </p:sp>
      <p:sp>
        <p:nvSpPr>
          <p:cNvPr id="50" name="Cell 12"/>
          <p:cNvSpPr/>
          <p:nvPr/>
        </p:nvSpPr>
        <p:spPr>
          <a:xfrm>
            <a:off x="9921240" y="2971800"/>
            <a:ext cx="1371600" cy="1280160"/>
          </a:xfrm>
          <a:prstGeom prst="roundRect">
            <a:avLst>
              <a:gd name="adj" fmla="val 8000"/>
            </a:avLst>
          </a:prstGeom>
          <a:solidFill>
            <a:srgbClr val="3A1D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Cell 12 value"/>
          <p:cNvSpPr txBox="1"/>
          <p:nvPr/>
        </p:nvSpPr>
        <p:spPr>
          <a:xfrm>
            <a:off x="9921240" y="3200400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>
                <a:solidFill>
                  <a:srgbClr val="F0565B"/>
                </a:solidFill>
                <a:latin typeface="Segoe UI Semibold"/>
              </a:rPr>
              <a:t>70</a:t>
            </a:r>
          </a:p>
        </p:txBody>
      </p:sp>
      <p:sp>
        <p:nvSpPr>
          <p:cNvPr id="52" name="Cell 12 label"/>
          <p:cNvSpPr txBox="1"/>
          <p:nvPr/>
        </p:nvSpPr>
        <p:spPr>
          <a:xfrm>
            <a:off x="9921240" y="37947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A3ABBA"/>
                </a:solidFill>
                <a:latin typeface="Segoe UI"/>
              </a:rPr>
              <a:t>ложная тревога</a:t>
            </a:r>
          </a:p>
        </p:txBody>
      </p:sp>
      <p:sp>
        <p:nvSpPr>
          <p:cNvPr id="53" name="Cell 21"/>
          <p:cNvSpPr/>
          <p:nvPr/>
        </p:nvSpPr>
        <p:spPr>
          <a:xfrm>
            <a:off x="8366760" y="4434840"/>
            <a:ext cx="1371600" cy="1280160"/>
          </a:xfrm>
          <a:prstGeom prst="roundRect">
            <a:avLst>
              <a:gd name="adj" fmla="val 8000"/>
            </a:avLst>
          </a:prstGeom>
          <a:solidFill>
            <a:srgbClr val="3A1D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Cell 21 value"/>
          <p:cNvSpPr txBox="1"/>
          <p:nvPr/>
        </p:nvSpPr>
        <p:spPr>
          <a:xfrm>
            <a:off x="8366760" y="4663440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>
                <a:solidFill>
                  <a:srgbClr val="F0565B"/>
                </a:solidFill>
                <a:latin typeface="Segoe UI Semibold"/>
              </a:rPr>
              <a:t>4</a:t>
            </a:r>
          </a:p>
        </p:txBody>
      </p:sp>
      <p:sp>
        <p:nvSpPr>
          <p:cNvPr id="55" name="Cell 21 label"/>
          <p:cNvSpPr txBox="1"/>
          <p:nvPr/>
        </p:nvSpPr>
        <p:spPr>
          <a:xfrm>
            <a:off x="8366760" y="52578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A3ABBA"/>
                </a:solidFill>
                <a:latin typeface="Segoe UI"/>
              </a:rPr>
              <a:t>пропуск</a:t>
            </a:r>
          </a:p>
        </p:txBody>
      </p:sp>
      <p:sp>
        <p:nvSpPr>
          <p:cNvPr id="56" name="Cell 22"/>
          <p:cNvSpPr/>
          <p:nvPr/>
        </p:nvSpPr>
        <p:spPr>
          <a:xfrm>
            <a:off x="9921240" y="4434840"/>
            <a:ext cx="1371600" cy="1280160"/>
          </a:xfrm>
          <a:prstGeom prst="roundRect">
            <a:avLst>
              <a:gd name="adj" fmla="val 8000"/>
            </a:avLst>
          </a:prstGeom>
          <a:solidFill>
            <a:srgbClr val="173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Cell 22 value"/>
          <p:cNvSpPr txBox="1"/>
          <p:nvPr/>
        </p:nvSpPr>
        <p:spPr>
          <a:xfrm>
            <a:off x="9921240" y="4663440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>
                <a:solidFill>
                  <a:srgbClr val="34C47C"/>
                </a:solidFill>
                <a:latin typeface="Segoe UI Semibold"/>
              </a:rPr>
              <a:t>386</a:t>
            </a:r>
          </a:p>
        </p:txBody>
      </p:sp>
      <p:sp>
        <p:nvSpPr>
          <p:cNvPr id="58" name="Cell 22 label"/>
          <p:cNvSpPr txBox="1"/>
          <p:nvPr/>
        </p:nvSpPr>
        <p:spPr>
          <a:xfrm>
            <a:off x="9921240" y="52578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A3ABBA"/>
                </a:solidFill>
                <a:latin typeface="Segoe UI"/>
              </a:rPr>
              <a:t>верно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Background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58368"/>
            <a:ext cx="11091672" cy="685800"/>
          </a:xfrm>
        </p:spPr>
        <p:txBody>
          <a:bodyPr lIns="0" rIns="0" tIns="0" bIns="0" anchor="ctr" wrap="square"/>
          <a:lstStyle/>
          <a:p>
            <a:pPr algn="l"/>
            <a:r>
              <a:rPr sz="3200">
                <a:solidFill>
                  <a:srgbClr val="EEF0F3"/>
                </a:solidFill>
                <a:latin typeface="Segoe UI Semibold"/>
              </a:rPr>
              <a:t>Тепловая карта: куда смотрит модель</a:t>
            </a:r>
          </a:p>
        </p:txBody>
      </p:sp>
      <p:sp>
        <p:nvSpPr>
          <p:cNvPr id="4" name="Kicker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spc="200">
                <a:solidFill>
                  <a:srgbClr val="4F8CFF"/>
                </a:solidFill>
                <a:latin typeface="Segoe UI Semibold"/>
              </a:rPr>
              <a:t>06 · ОБЪЯСНИМОСТЬ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6E7688"/>
                </a:solidFill>
                <a:latin typeface="Segoe UI"/>
              </a:rPr>
              <a:t>PneumoScan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9811512" y="64008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>
                <a:solidFill>
                  <a:srgbClr val="6E7688"/>
                </a:solidFill>
                <a:latin typeface="Segoe UI"/>
              </a:rPr>
              <a:t>07</a:t>
            </a:r>
          </a:p>
        </p:txBody>
      </p:sp>
      <p:sp>
        <p:nvSpPr>
          <p:cNvPr id="7" name="Progress 1"/>
          <p:cNvSpPr/>
          <p:nvPr/>
        </p:nvSpPr>
        <p:spPr>
          <a:xfrm>
            <a:off x="945489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rogress 2"/>
          <p:cNvSpPr/>
          <p:nvPr/>
        </p:nvSpPr>
        <p:spPr>
          <a:xfrm>
            <a:off x="963777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rogress 3"/>
          <p:cNvSpPr/>
          <p:nvPr/>
        </p:nvSpPr>
        <p:spPr>
          <a:xfrm>
            <a:off x="982065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rogress 4"/>
          <p:cNvSpPr/>
          <p:nvPr/>
        </p:nvSpPr>
        <p:spPr>
          <a:xfrm>
            <a:off x="1000353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rogress 5"/>
          <p:cNvSpPr/>
          <p:nvPr/>
        </p:nvSpPr>
        <p:spPr>
          <a:xfrm>
            <a:off x="1018641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rogress 6"/>
          <p:cNvSpPr/>
          <p:nvPr/>
        </p:nvSpPr>
        <p:spPr>
          <a:xfrm>
            <a:off x="10369295" y="6478524"/>
            <a:ext cx="310896" cy="54864"/>
          </a:xfrm>
          <a:prstGeom prst="roundRect">
            <a:avLst>
              <a:gd name="adj" fmla="val 50000"/>
            </a:avLst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rogress 7"/>
          <p:cNvSpPr/>
          <p:nvPr/>
        </p:nvSpPr>
        <p:spPr>
          <a:xfrm>
            <a:off x="1073505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rogress 8"/>
          <p:cNvSpPr/>
          <p:nvPr/>
        </p:nvSpPr>
        <p:spPr>
          <a:xfrm>
            <a:off x="1091793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Progress 9"/>
          <p:cNvSpPr/>
          <p:nvPr/>
        </p:nvSpPr>
        <p:spPr>
          <a:xfrm>
            <a:off x="1110081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Grad-CAM original" descr="Исходный снимок с пневмонией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600200"/>
            <a:ext cx="3886200" cy="2677472"/>
          </a:xfrm>
          <a:prstGeom prst="roundRect">
            <a:avLst>
              <a:gd name="adj" fmla="val 4000"/>
            </a:avLst>
          </a:prstGeom>
        </p:spPr>
      </p:pic>
      <p:pic>
        <p:nvPicPr>
          <p:cNvPr id="17" name="Grad-CAM heatmap" descr="Тот же снимок с тепловой картой Grad-CAM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59" y="1600200"/>
            <a:ext cx="3886200" cy="2677472"/>
          </a:xfrm>
          <a:prstGeom prst="roundRect">
            <a:avLst>
              <a:gd name="adj" fmla="val 4000"/>
            </a:avLst>
          </a:prstGeom>
        </p:spPr>
      </p:pic>
      <p:sp>
        <p:nvSpPr>
          <p:cNvPr id="18" name="Caption original"/>
          <p:cNvSpPr txBox="1"/>
          <p:nvPr/>
        </p:nvSpPr>
        <p:spPr>
          <a:xfrm>
            <a:off x="548640" y="4414832"/>
            <a:ext cx="3886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>
                <a:solidFill>
                  <a:srgbClr val="A3ABBA"/>
                </a:solidFill>
                <a:latin typeface="Segoe UI"/>
              </a:rPr>
              <a:t>Исходный снимок</a:t>
            </a:r>
          </a:p>
        </p:txBody>
      </p:sp>
      <p:sp>
        <p:nvSpPr>
          <p:cNvPr id="19" name="Caption heatmap"/>
          <p:cNvSpPr txBox="1"/>
          <p:nvPr/>
        </p:nvSpPr>
        <p:spPr>
          <a:xfrm>
            <a:off x="4709159" y="4414832"/>
            <a:ext cx="3886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>
                <a:solidFill>
                  <a:srgbClr val="A3ABBA"/>
                </a:solidFill>
                <a:latin typeface="Segoe UI"/>
              </a:rPr>
              <a:t>Тепловая карта · пневмония 99.6%</a:t>
            </a:r>
          </a:p>
        </p:txBody>
      </p:sp>
      <p:pic>
        <p:nvPicPr>
          <p:cNvPr id="20" name="Colorbar" descr="Цветовая шкала: от синего к красному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5054912"/>
            <a:ext cx="8046720" cy="182880"/>
          </a:xfrm>
          <a:prstGeom prst="roundRect">
            <a:avLst>
              <a:gd name="adj" fmla="val 50000"/>
            </a:avLst>
          </a:prstGeom>
        </p:spPr>
      </p:pic>
      <p:sp>
        <p:nvSpPr>
          <p:cNvPr id="21" name="Colorbar low"/>
          <p:cNvSpPr txBox="1"/>
          <p:nvPr/>
        </p:nvSpPr>
        <p:spPr>
          <a:xfrm>
            <a:off x="548640" y="534752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A3ABBA"/>
                </a:solidFill>
                <a:latin typeface="Segoe UI"/>
              </a:rPr>
              <a:t>слабое влияние</a:t>
            </a:r>
          </a:p>
        </p:txBody>
      </p:sp>
      <p:sp>
        <p:nvSpPr>
          <p:cNvPr id="22" name="Colorbar high"/>
          <p:cNvSpPr txBox="1"/>
          <p:nvPr/>
        </p:nvSpPr>
        <p:spPr>
          <a:xfrm>
            <a:off x="5852160" y="534752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>
                <a:solidFill>
                  <a:srgbClr val="A3ABBA"/>
                </a:solidFill>
                <a:latin typeface="Segoe UI"/>
              </a:rPr>
              <a:t>сильное влияние</a:t>
            </a:r>
          </a:p>
        </p:txBody>
      </p:sp>
      <p:sp>
        <p:nvSpPr>
          <p:cNvPr id="23" name="Point 1 marker"/>
          <p:cNvSpPr/>
          <p:nvPr/>
        </p:nvSpPr>
        <p:spPr>
          <a:xfrm>
            <a:off x="8915400" y="1618488"/>
            <a:ext cx="365760" cy="365760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24" name="Point 1"/>
          <p:cNvSpPr txBox="1"/>
          <p:nvPr/>
        </p:nvSpPr>
        <p:spPr>
          <a:xfrm>
            <a:off x="9445752" y="1600200"/>
            <a:ext cx="21945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>
                <a:solidFill>
                  <a:srgbClr val="EEF0F3"/>
                </a:solidFill>
                <a:latin typeface="Segoe UI Semibold"/>
              </a:rPr>
              <a:t>Grad-CAM</a:t>
            </a:r>
          </a:p>
          <a:p>
            <a:pPr algn="l">
              <a:spcAft>
                <a:spcPts val="300"/>
              </a:spcAft>
            </a:pPr>
            <a:r>
              <a:rPr sz="1300">
                <a:solidFill>
                  <a:srgbClr val="A3ABBA"/>
                </a:solidFill>
                <a:latin typeface="Segoe UI"/>
              </a:rPr>
              <a:t>карта строится по градиентам последнего сверточного блока</a:t>
            </a:r>
          </a:p>
        </p:txBody>
      </p:sp>
      <p:sp>
        <p:nvSpPr>
          <p:cNvPr id="25" name="Point 2 marker"/>
          <p:cNvSpPr/>
          <p:nvPr/>
        </p:nvSpPr>
        <p:spPr>
          <a:xfrm>
            <a:off x="8915400" y="3081528"/>
            <a:ext cx="365760" cy="365760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26" name="Point 2"/>
          <p:cNvSpPr txBox="1"/>
          <p:nvPr/>
        </p:nvSpPr>
        <p:spPr>
          <a:xfrm>
            <a:off x="9445752" y="3063240"/>
            <a:ext cx="21945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>
                <a:solidFill>
                  <a:srgbClr val="EEF0F3"/>
                </a:solidFill>
                <a:latin typeface="Segoe UI Semibold"/>
              </a:rPr>
              <a:t>Красные зоны</a:t>
            </a:r>
          </a:p>
          <a:p>
            <a:pPr algn="l">
              <a:spcAft>
                <a:spcPts val="300"/>
              </a:spcAft>
            </a:pPr>
            <a:r>
              <a:rPr sz="1300">
                <a:solidFill>
                  <a:srgbClr val="A3ABBA"/>
                </a:solidFill>
                <a:latin typeface="Segoe UI"/>
              </a:rPr>
              <a:t>сильнее всего повлияли на решение «пневмония»</a:t>
            </a:r>
          </a:p>
        </p:txBody>
      </p:sp>
      <p:sp>
        <p:nvSpPr>
          <p:cNvPr id="27" name="Point 3 marker"/>
          <p:cNvSpPr/>
          <p:nvPr/>
        </p:nvSpPr>
        <p:spPr>
          <a:xfrm>
            <a:off x="8915400" y="4544568"/>
            <a:ext cx="365760" cy="365760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28" name="Point 3"/>
          <p:cNvSpPr txBox="1"/>
          <p:nvPr/>
        </p:nvSpPr>
        <p:spPr>
          <a:xfrm>
            <a:off x="9445752" y="4526280"/>
            <a:ext cx="21945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>
                <a:solidFill>
                  <a:srgbClr val="EEF0F3"/>
                </a:solidFill>
                <a:latin typeface="Segoe UI Semibold"/>
              </a:rPr>
              <a:t>Проверка</a:t>
            </a:r>
          </a:p>
          <a:p>
            <a:pPr algn="l">
              <a:spcAft>
                <a:spcPts val="300"/>
              </a:spcAft>
            </a:pPr>
            <a:r>
              <a:rPr sz="1300">
                <a:solidFill>
                  <a:srgbClr val="A3ABBA"/>
                </a:solidFill>
                <a:latin typeface="Segoe UI"/>
              </a:rPr>
              <a:t>видно, что модель смотрит на лёгкие, а не на надписи и рамки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Background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58368"/>
            <a:ext cx="11091672" cy="685800"/>
          </a:xfrm>
        </p:spPr>
        <p:txBody>
          <a:bodyPr lIns="0" rIns="0" tIns="0" bIns="0" anchor="ctr" wrap="square"/>
          <a:lstStyle/>
          <a:p>
            <a:pPr algn="l"/>
            <a:r>
              <a:rPr sz="3200">
                <a:solidFill>
                  <a:srgbClr val="EEF0F3"/>
                </a:solidFill>
                <a:latin typeface="Segoe UI Semibold"/>
              </a:rPr>
              <a:t>Приложение PneumoScan для Windows</a:t>
            </a:r>
          </a:p>
        </p:txBody>
      </p:sp>
      <p:sp>
        <p:nvSpPr>
          <p:cNvPr id="4" name="Kicker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spc="200">
                <a:solidFill>
                  <a:srgbClr val="4F8CFF"/>
                </a:solidFill>
                <a:latin typeface="Segoe UI Semibold"/>
              </a:rPr>
              <a:t>07 · ПРИЛОЖЕНИЕ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6E7688"/>
                </a:solidFill>
                <a:latin typeface="Segoe UI"/>
              </a:rPr>
              <a:t>PneumoScan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9811512" y="64008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>
                <a:solidFill>
                  <a:srgbClr val="6E7688"/>
                </a:solidFill>
                <a:latin typeface="Segoe UI"/>
              </a:rPr>
              <a:t>08</a:t>
            </a:r>
          </a:p>
        </p:txBody>
      </p:sp>
      <p:sp>
        <p:nvSpPr>
          <p:cNvPr id="7" name="Progress 1"/>
          <p:cNvSpPr/>
          <p:nvPr/>
        </p:nvSpPr>
        <p:spPr>
          <a:xfrm>
            <a:off x="945489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rogress 2"/>
          <p:cNvSpPr/>
          <p:nvPr/>
        </p:nvSpPr>
        <p:spPr>
          <a:xfrm>
            <a:off x="963777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rogress 3"/>
          <p:cNvSpPr/>
          <p:nvPr/>
        </p:nvSpPr>
        <p:spPr>
          <a:xfrm>
            <a:off x="982065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rogress 4"/>
          <p:cNvSpPr/>
          <p:nvPr/>
        </p:nvSpPr>
        <p:spPr>
          <a:xfrm>
            <a:off x="1000353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rogress 5"/>
          <p:cNvSpPr/>
          <p:nvPr/>
        </p:nvSpPr>
        <p:spPr>
          <a:xfrm>
            <a:off x="1018641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rogress 6"/>
          <p:cNvSpPr/>
          <p:nvPr/>
        </p:nvSpPr>
        <p:spPr>
          <a:xfrm>
            <a:off x="1036929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rogress 7"/>
          <p:cNvSpPr/>
          <p:nvPr/>
        </p:nvSpPr>
        <p:spPr>
          <a:xfrm>
            <a:off x="10552175" y="6478524"/>
            <a:ext cx="310896" cy="54864"/>
          </a:xfrm>
          <a:prstGeom prst="roundRect">
            <a:avLst>
              <a:gd name="adj" fmla="val 50000"/>
            </a:avLst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rogress 8"/>
          <p:cNvSpPr/>
          <p:nvPr/>
        </p:nvSpPr>
        <p:spPr>
          <a:xfrm>
            <a:off x="1091793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Progress 9"/>
          <p:cNvSpPr/>
          <p:nvPr/>
        </p:nvSpPr>
        <p:spPr>
          <a:xfrm>
            <a:off x="1110081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App screenshot" descr="Главное окно PneumoScan с пронумерованными зонами интерфейса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600200"/>
            <a:ext cx="7635240" cy="4603601"/>
          </a:xfrm>
          <a:prstGeom prst="roundRect">
            <a:avLst>
              <a:gd name="adj" fmla="val 2000"/>
            </a:avLst>
          </a:prstGeom>
          <a:ln w="9525">
            <a:solidFill>
              <a:srgbClr val="293040"/>
            </a:solidFill>
          </a:ln>
          <a:effectLst>
            <a:outerShdw blurRad="381000" dist="101600" dir="5400000" algn="t" rotWithShape="0">
              <a:srgbClr val="000000">
                <a:alpha val="55000"/>
              </a:srgbClr>
            </a:outerShdw>
          </a:effectLst>
        </p:spPr>
      </p:pic>
      <p:sp>
        <p:nvSpPr>
          <p:cNvPr id="17" name="Marker 1"/>
          <p:cNvSpPr/>
          <p:nvPr/>
        </p:nvSpPr>
        <p:spPr>
          <a:xfrm>
            <a:off x="4438360" y="1626470"/>
            <a:ext cx="329184" cy="329184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8" name="Marker 2"/>
          <p:cNvSpPr/>
          <p:nvPr/>
        </p:nvSpPr>
        <p:spPr>
          <a:xfrm>
            <a:off x="2025624" y="2046367"/>
            <a:ext cx="329184" cy="329184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9" name="Marker 3"/>
          <p:cNvSpPr/>
          <p:nvPr/>
        </p:nvSpPr>
        <p:spPr>
          <a:xfrm>
            <a:off x="2376845" y="2397554"/>
            <a:ext cx="329184" cy="329184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20" name="Marker 4"/>
          <p:cNvSpPr/>
          <p:nvPr/>
        </p:nvSpPr>
        <p:spPr>
          <a:xfrm>
            <a:off x="5957773" y="2344112"/>
            <a:ext cx="329184" cy="329184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1" name="Marker 5"/>
          <p:cNvSpPr/>
          <p:nvPr/>
        </p:nvSpPr>
        <p:spPr>
          <a:xfrm>
            <a:off x="5957773" y="3447297"/>
            <a:ext cx="329184" cy="329184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22" name="Legend 1 marker"/>
          <p:cNvSpPr/>
          <p:nvPr/>
        </p:nvSpPr>
        <p:spPr>
          <a:xfrm>
            <a:off x="8778240" y="1664208"/>
            <a:ext cx="365760" cy="365760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23" name="Legend 1"/>
          <p:cNvSpPr txBox="1"/>
          <p:nvPr/>
        </p:nvSpPr>
        <p:spPr>
          <a:xfrm>
            <a:off x="9308592" y="1645920"/>
            <a:ext cx="23317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EEF0F3"/>
                </a:solidFill>
                <a:latin typeface="Segoe UI Semibold"/>
              </a:rPr>
              <a:t>Загрузка</a:t>
            </a:r>
          </a:p>
          <a:p>
            <a:pPr algn="l">
              <a:spcAft>
                <a:spcPts val="300"/>
              </a:spcAft>
            </a:pPr>
            <a:r>
              <a:rPr sz="1200">
                <a:solidFill>
                  <a:srgbClr val="A3ABBA"/>
                </a:solidFill>
                <a:latin typeface="Segoe UI"/>
              </a:rPr>
              <a:t>файлы и папки, перетаскивание, экспорт отчёта</a:t>
            </a:r>
          </a:p>
        </p:txBody>
      </p:sp>
      <p:sp>
        <p:nvSpPr>
          <p:cNvPr id="24" name="Legend 2 marker"/>
          <p:cNvSpPr/>
          <p:nvPr/>
        </p:nvSpPr>
        <p:spPr>
          <a:xfrm>
            <a:off x="8778240" y="2578608"/>
            <a:ext cx="365760" cy="365760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25" name="Legend 2"/>
          <p:cNvSpPr txBox="1"/>
          <p:nvPr/>
        </p:nvSpPr>
        <p:spPr>
          <a:xfrm>
            <a:off x="9308592" y="2560320"/>
            <a:ext cx="23317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EEF0F3"/>
                </a:solidFill>
                <a:latin typeface="Segoe UI Semibold"/>
              </a:rPr>
              <a:t>Список исследований</a:t>
            </a:r>
          </a:p>
          <a:p>
            <a:pPr algn="l">
              <a:spcAft>
                <a:spcPts val="300"/>
              </a:spcAft>
            </a:pPr>
            <a:r>
              <a:rPr sz="1200">
                <a:solidFill>
                  <a:srgbClr val="A3ABBA"/>
                </a:solidFill>
                <a:latin typeface="Segoe UI"/>
              </a:rPr>
              <a:t>миниатюры, метки и вероятности</a:t>
            </a:r>
          </a:p>
        </p:txBody>
      </p:sp>
      <p:sp>
        <p:nvSpPr>
          <p:cNvPr id="26" name="Legend 3 marker"/>
          <p:cNvSpPr/>
          <p:nvPr/>
        </p:nvSpPr>
        <p:spPr>
          <a:xfrm>
            <a:off x="8778240" y="3493008"/>
            <a:ext cx="365760" cy="365760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27" name="Legend 3"/>
          <p:cNvSpPr txBox="1"/>
          <p:nvPr/>
        </p:nvSpPr>
        <p:spPr>
          <a:xfrm>
            <a:off x="9308592" y="3474720"/>
            <a:ext cx="23317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EEF0F3"/>
                </a:solidFill>
                <a:latin typeface="Segoe UI Semibold"/>
              </a:rPr>
              <a:t>Снимок</a:t>
            </a:r>
          </a:p>
          <a:p>
            <a:pPr algn="l">
              <a:spcAft>
                <a:spcPts val="300"/>
              </a:spcAft>
            </a:pPr>
            <a:r>
              <a:rPr sz="1200">
                <a:solidFill>
                  <a:srgbClr val="A3ABBA"/>
                </a:solidFill>
                <a:latin typeface="Segoe UI"/>
              </a:rPr>
              <a:t>оригинал или тепловая карта</a:t>
            </a:r>
          </a:p>
        </p:txBody>
      </p:sp>
      <p:sp>
        <p:nvSpPr>
          <p:cNvPr id="28" name="Legend 4 marker"/>
          <p:cNvSpPr/>
          <p:nvPr/>
        </p:nvSpPr>
        <p:spPr>
          <a:xfrm>
            <a:off x="8778240" y="4407407"/>
            <a:ext cx="365760" cy="365760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9" name="Legend 4"/>
          <p:cNvSpPr txBox="1"/>
          <p:nvPr/>
        </p:nvSpPr>
        <p:spPr>
          <a:xfrm>
            <a:off x="9308592" y="4389120"/>
            <a:ext cx="23317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EEF0F3"/>
                </a:solidFill>
                <a:latin typeface="Segoe UI Semibold"/>
              </a:rPr>
              <a:t>Вердикт</a:t>
            </a:r>
          </a:p>
          <a:p>
            <a:pPr algn="l">
              <a:spcAft>
                <a:spcPts val="300"/>
              </a:spcAft>
            </a:pPr>
            <a:r>
              <a:rPr sz="1200">
                <a:solidFill>
                  <a:srgbClr val="A3ABBA"/>
                </a:solidFill>
                <a:latin typeface="Segoe UI"/>
              </a:rPr>
              <a:t>Normal / Pneumonia и вероятность</a:t>
            </a:r>
          </a:p>
        </p:txBody>
      </p:sp>
      <p:sp>
        <p:nvSpPr>
          <p:cNvPr id="30" name="Legend 5 marker"/>
          <p:cNvSpPr/>
          <p:nvPr/>
        </p:nvSpPr>
        <p:spPr>
          <a:xfrm>
            <a:off x="8778240" y="5321807"/>
            <a:ext cx="365760" cy="365760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31" name="Legend 5"/>
          <p:cNvSpPr txBox="1"/>
          <p:nvPr/>
        </p:nvSpPr>
        <p:spPr>
          <a:xfrm>
            <a:off x="9308592" y="5303520"/>
            <a:ext cx="23317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EEF0F3"/>
                </a:solidFill>
                <a:latin typeface="Segoe UI Semibold"/>
              </a:rPr>
              <a:t>Порог решения</a:t>
            </a:r>
          </a:p>
          <a:p>
            <a:pPr algn="l">
              <a:spcAft>
                <a:spcPts val="300"/>
              </a:spcAft>
            </a:pPr>
            <a:r>
              <a:rPr sz="1200">
                <a:solidFill>
                  <a:srgbClr val="A3ABBA"/>
                </a:solidFill>
                <a:latin typeface="Segoe UI"/>
              </a:rPr>
              <a:t>ползунок, всё пересчитывается сразу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Background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58368"/>
            <a:ext cx="11091672" cy="685800"/>
          </a:xfrm>
        </p:spPr>
        <p:txBody>
          <a:bodyPr lIns="0" rIns="0" tIns="0" bIns="0" anchor="ctr" wrap="square"/>
          <a:lstStyle/>
          <a:p>
            <a:pPr algn="l"/>
            <a:r>
              <a:rPr sz="3200">
                <a:solidFill>
                  <a:srgbClr val="EEF0F3"/>
                </a:solidFill>
                <a:latin typeface="Segoe UI Semibold"/>
              </a:rPr>
              <a:t>Возможности приложения</a:t>
            </a:r>
          </a:p>
        </p:txBody>
      </p:sp>
      <p:sp>
        <p:nvSpPr>
          <p:cNvPr id="4" name="Kicker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spc="200">
                <a:solidFill>
                  <a:srgbClr val="4F8CFF"/>
                </a:solidFill>
                <a:latin typeface="Segoe UI Semibold"/>
              </a:rPr>
              <a:t>08 · ФУНКЦИИ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6E7688"/>
                </a:solidFill>
                <a:latin typeface="Segoe UI"/>
              </a:rPr>
              <a:t>PneumoScan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9811512" y="64008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>
                <a:solidFill>
                  <a:srgbClr val="6E7688"/>
                </a:solidFill>
                <a:latin typeface="Segoe UI"/>
              </a:rPr>
              <a:t>09</a:t>
            </a:r>
          </a:p>
        </p:txBody>
      </p:sp>
      <p:sp>
        <p:nvSpPr>
          <p:cNvPr id="7" name="Progress 1"/>
          <p:cNvSpPr/>
          <p:nvPr/>
        </p:nvSpPr>
        <p:spPr>
          <a:xfrm>
            <a:off x="945489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rogress 2"/>
          <p:cNvSpPr/>
          <p:nvPr/>
        </p:nvSpPr>
        <p:spPr>
          <a:xfrm>
            <a:off x="963777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rogress 3"/>
          <p:cNvSpPr/>
          <p:nvPr/>
        </p:nvSpPr>
        <p:spPr>
          <a:xfrm>
            <a:off x="982065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rogress 4"/>
          <p:cNvSpPr/>
          <p:nvPr/>
        </p:nvSpPr>
        <p:spPr>
          <a:xfrm>
            <a:off x="1000353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rogress 5"/>
          <p:cNvSpPr/>
          <p:nvPr/>
        </p:nvSpPr>
        <p:spPr>
          <a:xfrm>
            <a:off x="1018641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rogress 6"/>
          <p:cNvSpPr/>
          <p:nvPr/>
        </p:nvSpPr>
        <p:spPr>
          <a:xfrm>
            <a:off x="1036929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rogress 7"/>
          <p:cNvSpPr/>
          <p:nvPr/>
        </p:nvSpPr>
        <p:spPr>
          <a:xfrm>
            <a:off x="1055217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rogress 8"/>
          <p:cNvSpPr/>
          <p:nvPr/>
        </p:nvSpPr>
        <p:spPr>
          <a:xfrm>
            <a:off x="10735055" y="6478524"/>
            <a:ext cx="310896" cy="54864"/>
          </a:xfrm>
          <a:prstGeom prst="roundRect">
            <a:avLst>
              <a:gd name="adj" fmla="val 50000"/>
            </a:avLst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Progress 9"/>
          <p:cNvSpPr/>
          <p:nvPr/>
        </p:nvSpPr>
        <p:spPr>
          <a:xfrm>
            <a:off x="1110081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App normal screenshot" descr="PneumoScan: здоровый снимок, вердикт «Normal», вероятность пневмонии 0.9%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600200"/>
            <a:ext cx="5852160" cy="3528508"/>
          </a:xfrm>
          <a:prstGeom prst="roundRect">
            <a:avLst>
              <a:gd name="adj" fmla="val 2000"/>
            </a:avLst>
          </a:prstGeom>
          <a:ln w="9525">
            <a:solidFill>
              <a:srgbClr val="293040"/>
            </a:solidFill>
          </a:ln>
          <a:effectLst>
            <a:outerShdw blurRad="381000" dist="101600" dir="5400000" algn="t" rotWithShape="0">
              <a:srgbClr val="000000">
                <a:alpha val="55000"/>
              </a:srgbClr>
            </a:outerShdw>
          </a:effectLst>
        </p:spPr>
      </p:pic>
      <p:sp>
        <p:nvSpPr>
          <p:cNvPr id="17" name="Screenshot caption"/>
          <p:cNvSpPr txBox="1"/>
          <p:nvPr/>
        </p:nvSpPr>
        <p:spPr>
          <a:xfrm>
            <a:off x="548640" y="5357308"/>
            <a:ext cx="5852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A3ABBA"/>
                </a:solidFill>
                <a:latin typeface="Segoe UI"/>
              </a:rPr>
              <a:t>Здоровый снимок: вероятность пневмонии 0.9% → «Normal»</a:t>
            </a:r>
          </a:p>
        </p:txBody>
      </p:sp>
      <p:sp>
        <p:nvSpPr>
          <p:cNvPr id="18" name="Feature 1 card"/>
          <p:cNvSpPr/>
          <p:nvPr/>
        </p:nvSpPr>
        <p:spPr>
          <a:xfrm>
            <a:off x="6675120" y="1600200"/>
            <a:ext cx="2345436" cy="128016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eature 1 circle"/>
          <p:cNvSpPr/>
          <p:nvPr/>
        </p:nvSpPr>
        <p:spPr>
          <a:xfrm>
            <a:off x="6876288" y="1764792"/>
            <a:ext cx="384048" cy="384048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Feature 1 icon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53097" y="1841601"/>
            <a:ext cx="230428" cy="230428"/>
          </a:xfrm>
          <a:prstGeom prst="rect">
            <a:avLst/>
          </a:prstGeom>
        </p:spPr>
      </p:pic>
      <p:sp>
        <p:nvSpPr>
          <p:cNvPr id="21" name="Feature 1"/>
          <p:cNvSpPr txBox="1"/>
          <p:nvPr/>
        </p:nvSpPr>
        <p:spPr>
          <a:xfrm>
            <a:off x="6876288" y="2203704"/>
            <a:ext cx="197967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>
                <a:solidFill>
                  <a:srgbClr val="EEF0F3"/>
                </a:solidFill>
                <a:latin typeface="Segoe UI Semibold"/>
              </a:rPr>
              <a:t>Пакетная обработка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A3ABBA"/>
                </a:solidFill>
                <a:latin typeface="Segoe UI"/>
              </a:rPr>
              <a:t>много снимков в фоне без зависаний</a:t>
            </a:r>
          </a:p>
        </p:txBody>
      </p:sp>
      <p:sp>
        <p:nvSpPr>
          <p:cNvPr id="22" name="Feature 2 card"/>
          <p:cNvSpPr/>
          <p:nvPr/>
        </p:nvSpPr>
        <p:spPr>
          <a:xfrm>
            <a:off x="9294876" y="1600200"/>
            <a:ext cx="2345436" cy="128016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eature 2 circle"/>
          <p:cNvSpPr/>
          <p:nvPr/>
        </p:nvSpPr>
        <p:spPr>
          <a:xfrm>
            <a:off x="9496044" y="1764792"/>
            <a:ext cx="384048" cy="384048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Feature 2 icon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72853" y="1841601"/>
            <a:ext cx="230428" cy="230428"/>
          </a:xfrm>
          <a:prstGeom prst="rect">
            <a:avLst/>
          </a:prstGeom>
        </p:spPr>
      </p:pic>
      <p:sp>
        <p:nvSpPr>
          <p:cNvPr id="25" name="Feature 2"/>
          <p:cNvSpPr txBox="1"/>
          <p:nvPr/>
        </p:nvSpPr>
        <p:spPr>
          <a:xfrm>
            <a:off x="9496044" y="2203704"/>
            <a:ext cx="197967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>
                <a:solidFill>
                  <a:srgbClr val="EEF0F3"/>
                </a:solidFill>
                <a:latin typeface="Segoe UI Semibold"/>
              </a:rPr>
              <a:t>Перетаскивание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A3ABBA"/>
                </a:solidFill>
                <a:latin typeface="Segoe UI"/>
              </a:rPr>
              <a:t>можно бросить в окно файлы или целую папку</a:t>
            </a:r>
          </a:p>
        </p:txBody>
      </p:sp>
      <p:sp>
        <p:nvSpPr>
          <p:cNvPr id="26" name="Feature 3 card"/>
          <p:cNvSpPr/>
          <p:nvPr/>
        </p:nvSpPr>
        <p:spPr>
          <a:xfrm>
            <a:off x="6675120" y="3044952"/>
            <a:ext cx="2345436" cy="128016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eature 3 circle"/>
          <p:cNvSpPr/>
          <p:nvPr/>
        </p:nvSpPr>
        <p:spPr>
          <a:xfrm>
            <a:off x="6876288" y="3209544"/>
            <a:ext cx="384048" cy="384048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Feature 3 icon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53097" y="3286353"/>
            <a:ext cx="230428" cy="230428"/>
          </a:xfrm>
          <a:prstGeom prst="rect">
            <a:avLst/>
          </a:prstGeom>
        </p:spPr>
      </p:pic>
      <p:sp>
        <p:nvSpPr>
          <p:cNvPr id="29" name="Feature 3"/>
          <p:cNvSpPr txBox="1"/>
          <p:nvPr/>
        </p:nvSpPr>
        <p:spPr>
          <a:xfrm>
            <a:off x="6876288" y="3648456"/>
            <a:ext cx="197967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>
                <a:solidFill>
                  <a:srgbClr val="EEF0F3"/>
                </a:solidFill>
                <a:latin typeface="Segoe UI Semibold"/>
              </a:rPr>
              <a:t>Снимок / тепловая карта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A3ABBA"/>
                </a:solidFill>
                <a:latin typeface="Segoe UI"/>
              </a:rPr>
              <a:t>переключение кнопкой или клавишей H</a:t>
            </a:r>
          </a:p>
        </p:txBody>
      </p:sp>
      <p:sp>
        <p:nvSpPr>
          <p:cNvPr id="30" name="Feature 4 card"/>
          <p:cNvSpPr/>
          <p:nvPr/>
        </p:nvSpPr>
        <p:spPr>
          <a:xfrm>
            <a:off x="9294876" y="3044952"/>
            <a:ext cx="2345436" cy="128016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eature 4 circle"/>
          <p:cNvSpPr/>
          <p:nvPr/>
        </p:nvSpPr>
        <p:spPr>
          <a:xfrm>
            <a:off x="9496044" y="3209544"/>
            <a:ext cx="384048" cy="384048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Feature 4 icon" descr="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72853" y="3286353"/>
            <a:ext cx="230428" cy="230428"/>
          </a:xfrm>
          <a:prstGeom prst="rect">
            <a:avLst/>
          </a:prstGeom>
        </p:spPr>
      </p:pic>
      <p:sp>
        <p:nvSpPr>
          <p:cNvPr id="33" name="Feature 4"/>
          <p:cNvSpPr txBox="1"/>
          <p:nvPr/>
        </p:nvSpPr>
        <p:spPr>
          <a:xfrm>
            <a:off x="9496044" y="3648456"/>
            <a:ext cx="197967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>
                <a:solidFill>
                  <a:srgbClr val="EEF0F3"/>
                </a:solidFill>
                <a:latin typeface="Segoe UI Semibold"/>
              </a:rPr>
              <a:t>Отчёт и экспорт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A3ABBA"/>
                </a:solidFill>
                <a:latin typeface="Segoe UI"/>
              </a:rPr>
              <a:t>результаты в CSV, тепловые карты в PNG</a:t>
            </a:r>
          </a:p>
        </p:txBody>
      </p:sp>
      <p:sp>
        <p:nvSpPr>
          <p:cNvPr id="34" name="Feature 5 card"/>
          <p:cNvSpPr/>
          <p:nvPr/>
        </p:nvSpPr>
        <p:spPr>
          <a:xfrm>
            <a:off x="6675120" y="4489704"/>
            <a:ext cx="2345436" cy="128016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eature 5 circle"/>
          <p:cNvSpPr/>
          <p:nvPr/>
        </p:nvSpPr>
        <p:spPr>
          <a:xfrm>
            <a:off x="6876288" y="4654296"/>
            <a:ext cx="384048" cy="384048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Feature 5 icon" descr="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53097" y="4731105"/>
            <a:ext cx="230428" cy="230428"/>
          </a:xfrm>
          <a:prstGeom prst="rect">
            <a:avLst/>
          </a:prstGeom>
        </p:spPr>
      </p:pic>
      <p:sp>
        <p:nvSpPr>
          <p:cNvPr id="37" name="Feature 5"/>
          <p:cNvSpPr txBox="1"/>
          <p:nvPr/>
        </p:nvSpPr>
        <p:spPr>
          <a:xfrm>
            <a:off x="6876288" y="5093208"/>
            <a:ext cx="197967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>
                <a:solidFill>
                  <a:srgbClr val="EEF0F3"/>
                </a:solidFill>
                <a:latin typeface="Segoe UI Semibold"/>
              </a:rPr>
              <a:t>Работа на видеокарте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A3ABBA"/>
                </a:solidFill>
                <a:latin typeface="Segoe UI"/>
              </a:rPr>
              <a:t>вычисления на GPU NVIDIA через CUDA</a:t>
            </a:r>
          </a:p>
        </p:txBody>
      </p:sp>
      <p:sp>
        <p:nvSpPr>
          <p:cNvPr id="38" name="Feature 6 card"/>
          <p:cNvSpPr/>
          <p:nvPr/>
        </p:nvSpPr>
        <p:spPr>
          <a:xfrm>
            <a:off x="9294876" y="4489704"/>
            <a:ext cx="2345436" cy="128016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eature 6 circle"/>
          <p:cNvSpPr/>
          <p:nvPr/>
        </p:nvSpPr>
        <p:spPr>
          <a:xfrm>
            <a:off x="9496044" y="4654296"/>
            <a:ext cx="384048" cy="384048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Feature 6 icon" descr="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572853" y="4731105"/>
            <a:ext cx="230428" cy="230428"/>
          </a:xfrm>
          <a:prstGeom prst="rect">
            <a:avLst/>
          </a:prstGeom>
        </p:spPr>
      </p:pic>
      <p:sp>
        <p:nvSpPr>
          <p:cNvPr id="41" name="Feature 6"/>
          <p:cNvSpPr txBox="1"/>
          <p:nvPr/>
        </p:nvSpPr>
        <p:spPr>
          <a:xfrm>
            <a:off x="9496044" y="5093208"/>
            <a:ext cx="197967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>
                <a:solidFill>
                  <a:srgbClr val="EEF0F3"/>
                </a:solidFill>
                <a:latin typeface="Segoe UI Semibold"/>
              </a:rPr>
              <a:t>Две версии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A3ABBA"/>
                </a:solidFill>
                <a:latin typeface="Segoe UI"/>
              </a:rPr>
              <a:t>приложение для Windows и веб-версия в браузере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Background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58368"/>
            <a:ext cx="11091672" cy="685800"/>
          </a:xfrm>
        </p:spPr>
        <p:txBody>
          <a:bodyPr lIns="0" rIns="0" tIns="0" bIns="0" anchor="ctr" wrap="square"/>
          <a:lstStyle/>
          <a:p>
            <a:pPr algn="l"/>
            <a:r>
              <a:rPr sz="3200">
                <a:solidFill>
                  <a:srgbClr val="EEF0F3"/>
                </a:solidFill>
                <a:latin typeface="Segoe UI Semibold"/>
              </a:rPr>
              <a:t>Что сделано</a:t>
            </a:r>
          </a:p>
        </p:txBody>
      </p:sp>
      <p:sp>
        <p:nvSpPr>
          <p:cNvPr id="4" name="Kicker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spc="200">
                <a:solidFill>
                  <a:srgbClr val="4F8CFF"/>
                </a:solidFill>
                <a:latin typeface="Segoe UI Semibold"/>
              </a:rPr>
              <a:t>09 · ИТОГИ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6E7688"/>
                </a:solidFill>
                <a:latin typeface="Segoe UI"/>
              </a:rPr>
              <a:t>PneumoScan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9811512" y="64008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>
                <a:solidFill>
                  <a:srgbClr val="6E7688"/>
                </a:solidFill>
                <a:latin typeface="Segoe UI"/>
              </a:rPr>
              <a:t>10</a:t>
            </a:r>
          </a:p>
        </p:txBody>
      </p:sp>
      <p:sp>
        <p:nvSpPr>
          <p:cNvPr id="7" name="Progress 1"/>
          <p:cNvSpPr/>
          <p:nvPr/>
        </p:nvSpPr>
        <p:spPr>
          <a:xfrm>
            <a:off x="945489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rogress 2"/>
          <p:cNvSpPr/>
          <p:nvPr/>
        </p:nvSpPr>
        <p:spPr>
          <a:xfrm>
            <a:off x="963777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rogress 3"/>
          <p:cNvSpPr/>
          <p:nvPr/>
        </p:nvSpPr>
        <p:spPr>
          <a:xfrm>
            <a:off x="982065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rogress 4"/>
          <p:cNvSpPr/>
          <p:nvPr/>
        </p:nvSpPr>
        <p:spPr>
          <a:xfrm>
            <a:off x="1000353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rogress 5"/>
          <p:cNvSpPr/>
          <p:nvPr/>
        </p:nvSpPr>
        <p:spPr>
          <a:xfrm>
            <a:off x="1018641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rogress 6"/>
          <p:cNvSpPr/>
          <p:nvPr/>
        </p:nvSpPr>
        <p:spPr>
          <a:xfrm>
            <a:off x="1036929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rogress 7"/>
          <p:cNvSpPr/>
          <p:nvPr/>
        </p:nvSpPr>
        <p:spPr>
          <a:xfrm>
            <a:off x="1055217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rogress 8"/>
          <p:cNvSpPr/>
          <p:nvPr/>
        </p:nvSpPr>
        <p:spPr>
          <a:xfrm>
            <a:off x="1073505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Progress 9"/>
          <p:cNvSpPr/>
          <p:nvPr/>
        </p:nvSpPr>
        <p:spPr>
          <a:xfrm>
            <a:off x="10917935" y="6478524"/>
            <a:ext cx="310896" cy="54864"/>
          </a:xfrm>
          <a:prstGeom prst="roundRect">
            <a:avLst>
              <a:gd name="adj" fmla="val 50000"/>
            </a:avLst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one 1 card"/>
          <p:cNvSpPr/>
          <p:nvPr/>
        </p:nvSpPr>
        <p:spPr>
          <a:xfrm>
            <a:off x="548640" y="1600200"/>
            <a:ext cx="2567178" cy="210312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one 1 circle"/>
          <p:cNvSpPr/>
          <p:nvPr/>
        </p:nvSpPr>
        <p:spPr>
          <a:xfrm>
            <a:off x="822959" y="1828800"/>
            <a:ext cx="512064" cy="512064"/>
          </a:xfrm>
          <a:prstGeom prst="ellipse">
            <a:avLst/>
          </a:prstGeom>
          <a:solidFill>
            <a:srgbClr val="173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Done 1 icon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372" y="1931212"/>
            <a:ext cx="307238" cy="307238"/>
          </a:xfrm>
          <a:prstGeom prst="rect">
            <a:avLst/>
          </a:prstGeom>
        </p:spPr>
      </p:pic>
      <p:sp>
        <p:nvSpPr>
          <p:cNvPr id="19" name="Done 1"/>
          <p:cNvSpPr txBox="1"/>
          <p:nvPr/>
        </p:nvSpPr>
        <p:spPr>
          <a:xfrm>
            <a:off x="822959" y="2468880"/>
            <a:ext cx="201853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>
                <a:solidFill>
                  <a:srgbClr val="EEF0F3"/>
                </a:solidFill>
                <a:latin typeface="Segoe UI Semibold"/>
              </a:rPr>
              <a:t>Нейросеть</a:t>
            </a:r>
          </a:p>
          <a:p>
            <a:pPr algn="l">
              <a:spcAft>
                <a:spcPts val="300"/>
              </a:spcAft>
            </a:pPr>
            <a:r>
              <a:rPr sz="1300">
                <a:solidFill>
                  <a:srgbClr val="A3ABBA"/>
                </a:solidFill>
                <a:latin typeface="Segoe UI"/>
              </a:rPr>
              <a:t>написана с нуля и обучена на 5 216 снимках</a:t>
            </a:r>
          </a:p>
        </p:txBody>
      </p:sp>
      <p:sp>
        <p:nvSpPr>
          <p:cNvPr id="20" name="Done 2 card"/>
          <p:cNvSpPr/>
          <p:nvPr/>
        </p:nvSpPr>
        <p:spPr>
          <a:xfrm>
            <a:off x="3390138" y="1600200"/>
            <a:ext cx="2567178" cy="210312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one 2 circle"/>
          <p:cNvSpPr/>
          <p:nvPr/>
        </p:nvSpPr>
        <p:spPr>
          <a:xfrm>
            <a:off x="3664458" y="1828800"/>
            <a:ext cx="512064" cy="512064"/>
          </a:xfrm>
          <a:prstGeom prst="ellipse">
            <a:avLst/>
          </a:prstGeom>
          <a:solidFill>
            <a:srgbClr val="173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Done 2 icon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66870" y="1931212"/>
            <a:ext cx="307238" cy="307238"/>
          </a:xfrm>
          <a:prstGeom prst="rect">
            <a:avLst/>
          </a:prstGeom>
        </p:spPr>
      </p:pic>
      <p:sp>
        <p:nvSpPr>
          <p:cNvPr id="23" name="Done 2"/>
          <p:cNvSpPr txBox="1"/>
          <p:nvPr/>
        </p:nvSpPr>
        <p:spPr>
          <a:xfrm>
            <a:off x="3664458" y="2468880"/>
            <a:ext cx="201853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>
                <a:solidFill>
                  <a:srgbClr val="EEF0F3"/>
                </a:solidFill>
                <a:latin typeface="Segoe UI Semibold"/>
              </a:rPr>
              <a:t>Объяснимость</a:t>
            </a:r>
          </a:p>
          <a:p>
            <a:pPr algn="l">
              <a:spcAft>
                <a:spcPts val="300"/>
              </a:spcAft>
            </a:pPr>
            <a:r>
              <a:rPr sz="1300">
                <a:solidFill>
                  <a:srgbClr val="A3ABBA"/>
                </a:solidFill>
                <a:latin typeface="Segoe UI"/>
              </a:rPr>
              <a:t>тепловые карты Grad‑CAM для каждого снимка</a:t>
            </a:r>
          </a:p>
        </p:txBody>
      </p:sp>
      <p:sp>
        <p:nvSpPr>
          <p:cNvPr id="24" name="Done 3 card"/>
          <p:cNvSpPr/>
          <p:nvPr/>
        </p:nvSpPr>
        <p:spPr>
          <a:xfrm>
            <a:off x="6231636" y="1600200"/>
            <a:ext cx="2567178" cy="210312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one 3 circle"/>
          <p:cNvSpPr/>
          <p:nvPr/>
        </p:nvSpPr>
        <p:spPr>
          <a:xfrm>
            <a:off x="6505955" y="1828800"/>
            <a:ext cx="512064" cy="512064"/>
          </a:xfrm>
          <a:prstGeom prst="ellipse">
            <a:avLst/>
          </a:prstGeom>
          <a:solidFill>
            <a:srgbClr val="173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Done 3 icon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8368" y="1931212"/>
            <a:ext cx="307238" cy="307238"/>
          </a:xfrm>
          <a:prstGeom prst="rect">
            <a:avLst/>
          </a:prstGeom>
        </p:spPr>
      </p:pic>
      <p:sp>
        <p:nvSpPr>
          <p:cNvPr id="27" name="Done 3"/>
          <p:cNvSpPr txBox="1"/>
          <p:nvPr/>
        </p:nvSpPr>
        <p:spPr>
          <a:xfrm>
            <a:off x="6505955" y="2468880"/>
            <a:ext cx="201853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>
                <a:solidFill>
                  <a:srgbClr val="EEF0F3"/>
                </a:solidFill>
                <a:latin typeface="Segoe UI Semibold"/>
              </a:rPr>
              <a:t>Приложение</a:t>
            </a:r>
          </a:p>
          <a:p>
            <a:pPr algn="l">
              <a:spcAft>
                <a:spcPts val="300"/>
              </a:spcAft>
            </a:pPr>
            <a:r>
              <a:rPr sz="1300">
                <a:solidFill>
                  <a:srgbClr val="A3ABBA"/>
                </a:solidFill>
                <a:latin typeface="Segoe UI"/>
              </a:rPr>
              <a:t>PneumoScan для Windows с ярлыком на рабочем столе</a:t>
            </a:r>
          </a:p>
        </p:txBody>
      </p:sp>
      <p:sp>
        <p:nvSpPr>
          <p:cNvPr id="28" name="Done 4 card"/>
          <p:cNvSpPr/>
          <p:nvPr/>
        </p:nvSpPr>
        <p:spPr>
          <a:xfrm>
            <a:off x="9073134" y="1600200"/>
            <a:ext cx="2567178" cy="210312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one 4 circle"/>
          <p:cNvSpPr/>
          <p:nvPr/>
        </p:nvSpPr>
        <p:spPr>
          <a:xfrm>
            <a:off x="9347454" y="1828800"/>
            <a:ext cx="512064" cy="512064"/>
          </a:xfrm>
          <a:prstGeom prst="ellipse">
            <a:avLst/>
          </a:prstGeom>
          <a:solidFill>
            <a:srgbClr val="173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Done 4 icon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49866" y="1931212"/>
            <a:ext cx="307238" cy="307238"/>
          </a:xfrm>
          <a:prstGeom prst="rect">
            <a:avLst/>
          </a:prstGeom>
        </p:spPr>
      </p:pic>
      <p:sp>
        <p:nvSpPr>
          <p:cNvPr id="31" name="Done 4"/>
          <p:cNvSpPr txBox="1"/>
          <p:nvPr/>
        </p:nvSpPr>
        <p:spPr>
          <a:xfrm>
            <a:off x="9347454" y="2468880"/>
            <a:ext cx="201853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>
                <a:solidFill>
                  <a:srgbClr val="EEF0F3"/>
                </a:solidFill>
                <a:latin typeface="Segoe UI Semibold"/>
              </a:rPr>
              <a:t>Веб-версия</a:t>
            </a:r>
          </a:p>
          <a:p>
            <a:pPr algn="l">
              <a:spcAft>
                <a:spcPts val="300"/>
              </a:spcAft>
            </a:pPr>
            <a:r>
              <a:rPr sz="1300">
                <a:solidFill>
                  <a:srgbClr val="A3ABBA"/>
                </a:solidFill>
                <a:latin typeface="Segoe UI"/>
              </a:rPr>
              <a:t>тот же анализ в браузере</a:t>
            </a:r>
          </a:p>
        </p:txBody>
      </p:sp>
      <p:sp>
        <p:nvSpPr>
          <p:cNvPr id="32" name="Result 1 value"/>
          <p:cNvSpPr txBox="1"/>
          <p:nvPr/>
        </p:nvSpPr>
        <p:spPr>
          <a:xfrm>
            <a:off x="548640" y="4343400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>
                <a:solidFill>
                  <a:srgbClr val="4F8CFF"/>
                </a:solidFill>
                <a:latin typeface="Segoe UI Semibold"/>
              </a:rPr>
              <a:t>0.971</a:t>
            </a:r>
          </a:p>
        </p:txBody>
      </p:sp>
      <p:sp>
        <p:nvSpPr>
          <p:cNvPr id="33" name="Result 1 label"/>
          <p:cNvSpPr txBox="1"/>
          <p:nvPr/>
        </p:nvSpPr>
        <p:spPr>
          <a:xfrm>
            <a:off x="548640" y="5138928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A3ABBA"/>
                </a:solidFill>
                <a:latin typeface="Segoe UI"/>
              </a:rPr>
              <a:t>ROC-AUC</a:t>
            </a:r>
          </a:p>
        </p:txBody>
      </p:sp>
      <p:sp>
        <p:nvSpPr>
          <p:cNvPr id="34" name="Result 2 value"/>
          <p:cNvSpPr txBox="1"/>
          <p:nvPr/>
        </p:nvSpPr>
        <p:spPr>
          <a:xfrm>
            <a:off x="2423160" y="4343400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>
                <a:solidFill>
                  <a:srgbClr val="34C47C"/>
                </a:solidFill>
                <a:latin typeface="Segoe UI Semibold"/>
              </a:rPr>
              <a:t>99.0%</a:t>
            </a:r>
          </a:p>
        </p:txBody>
      </p:sp>
      <p:sp>
        <p:nvSpPr>
          <p:cNvPr id="35" name="Result 2 label"/>
          <p:cNvSpPr txBox="1"/>
          <p:nvPr/>
        </p:nvSpPr>
        <p:spPr>
          <a:xfrm>
            <a:off x="2423160" y="5138928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A3ABBA"/>
                </a:solidFill>
                <a:latin typeface="Segoe UI"/>
              </a:rPr>
              <a:t>пневмоний найдено</a:t>
            </a:r>
          </a:p>
        </p:txBody>
      </p:sp>
      <p:sp>
        <p:nvSpPr>
          <p:cNvPr id="36" name="Result 3 value"/>
          <p:cNvSpPr txBox="1"/>
          <p:nvPr/>
        </p:nvSpPr>
        <p:spPr>
          <a:xfrm>
            <a:off x="4297679" y="4343400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>
                <a:solidFill>
                  <a:srgbClr val="EEF0F3"/>
                </a:solidFill>
                <a:latin typeface="Segoe UI Semibold"/>
              </a:rPr>
              <a:t>88.1%</a:t>
            </a:r>
          </a:p>
        </p:txBody>
      </p:sp>
      <p:sp>
        <p:nvSpPr>
          <p:cNvPr id="37" name="Result 3 label"/>
          <p:cNvSpPr txBox="1"/>
          <p:nvPr/>
        </p:nvSpPr>
        <p:spPr>
          <a:xfrm>
            <a:off x="4297679" y="5138928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A3ABBA"/>
                </a:solidFill>
                <a:latin typeface="Segoe UI"/>
              </a:rPr>
              <a:t>общая точность</a:t>
            </a:r>
          </a:p>
        </p:txBody>
      </p:sp>
      <p:sp>
        <p:nvSpPr>
          <p:cNvPr id="38" name="GitHub card"/>
          <p:cNvSpPr/>
          <p:nvPr/>
        </p:nvSpPr>
        <p:spPr>
          <a:xfrm>
            <a:off x="6355080" y="4069080"/>
            <a:ext cx="5285232" cy="201168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itHub circle"/>
          <p:cNvSpPr/>
          <p:nvPr/>
        </p:nvSpPr>
        <p:spPr>
          <a:xfrm>
            <a:off x="6629400" y="4343400"/>
            <a:ext cx="457200" cy="457200"/>
          </a:xfrm>
          <a:prstGeom prst="ellipse">
            <a:avLst/>
          </a:prstGeom>
          <a:solidFill>
            <a:srgbClr val="1C2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GitHub icon" descr="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20840" y="4434840"/>
            <a:ext cx="274320" cy="274320"/>
          </a:xfrm>
          <a:prstGeom prst="rect">
            <a:avLst/>
          </a:prstGeom>
        </p:spPr>
      </p:pic>
      <p:sp>
        <p:nvSpPr>
          <p:cNvPr id="41" name="GitHub title"/>
          <p:cNvSpPr txBox="1"/>
          <p:nvPr/>
        </p:nvSpPr>
        <p:spPr>
          <a:xfrm>
            <a:off x="7223760" y="434340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>
                <a:solidFill>
                  <a:srgbClr val="EEF0F3"/>
                </a:solidFill>
                <a:latin typeface="Segoe UI Semibold"/>
              </a:rPr>
              <a:t>Исходный код на GitHub</a:t>
            </a:r>
          </a:p>
        </p:txBody>
      </p:sp>
      <p:sp>
        <p:nvSpPr>
          <p:cNvPr id="42" name="GitHub link"/>
          <p:cNvSpPr txBox="1"/>
          <p:nvPr/>
        </p:nvSpPr>
        <p:spPr>
          <a:xfrm>
            <a:off x="6629400" y="498348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>
                <a:solidFill>
                  <a:srgbClr val="4F8CFF"/>
                </a:solidFill>
                <a:latin typeface="Segoe UI Semibold"/>
                <a:hlinkClick r:id="rId9"/>
              </a:rPr>
              <a:t>github.com/SolomonDi/Python-AI</a:t>
            </a:r>
          </a:p>
        </p:txBody>
      </p:sp>
      <p:sp>
        <p:nvSpPr>
          <p:cNvPr id="43" name="GitHub note"/>
          <p:cNvSpPr txBox="1"/>
          <p:nvPr/>
        </p:nvSpPr>
        <p:spPr>
          <a:xfrm>
            <a:off x="6629400" y="534924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A3ABBA"/>
                </a:solidFill>
                <a:latin typeface="Segoe UI"/>
              </a:rPr>
              <a:t>код, обученная модель и примеры снимков</a:t>
            </a:r>
          </a:p>
        </p:txBody>
      </p:sp>
      <p:pic>
        <p:nvPicPr>
          <p:cNvPr id="44" name="GitHub QR" descr="QR-код со ссылкой https://github.com/SolomonDi/Python-AI">
            <a:hlinkClick r:id="rId9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77272" y="4279392"/>
            <a:ext cx="1298448" cy="1298448"/>
          </a:xfrm>
          <a:prstGeom prst="roundRect">
            <a:avLst>
              <a:gd name="adj" fmla="val 6000"/>
            </a:avLst>
          </a:prstGeom>
        </p:spPr>
      </p:pic>
      <p:sp>
        <p:nvSpPr>
          <p:cNvPr id="45" name="QR caption"/>
          <p:cNvSpPr txBox="1"/>
          <p:nvPr/>
        </p:nvSpPr>
        <p:spPr>
          <a:xfrm>
            <a:off x="9966960" y="5632704"/>
            <a:ext cx="1719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>
                <a:solidFill>
                  <a:srgbClr val="6E7688"/>
                </a:solidFill>
                <a:latin typeface="Segoe UI"/>
              </a:rPr>
              <a:t>наведите камеру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neumoScan">
  <a:themeElements>
    <a:clrScheme name="Office">
      <a:dk1>
        <a:sysClr val="windowText" lastClr="000000"/>
      </a:dk1>
      <a:lt1>
        <a:sysClr val="window" lastClr="FFFFFF"/>
      </a:lt1>
      <a:dk2>
        <a:srgbClr val="0E1117"/>
      </a:dk2>
      <a:lt2>
        <a:srgbClr val="161B24"/>
      </a:lt2>
      <a:accent1>
        <a:srgbClr val="4F8CFF"/>
      </a:accent1>
      <a:accent2>
        <a:srgbClr val="34C47C"/>
      </a:accent2>
      <a:accent3>
        <a:srgbClr val="F0565B"/>
      </a:accent3>
      <a:accent4>
        <a:srgbClr val="8064A2"/>
      </a:accent4>
      <a:accent5>
        <a:srgbClr val="4BACC6"/>
      </a:accent5>
      <a:accent6>
        <a:srgbClr val="F79646"/>
      </a:accent6>
      <a:hlink>
        <a:srgbClr val="4F8CFF"/>
      </a:hlink>
      <a:folHlink>
        <a:srgbClr val="4F8CFF"/>
      </a:folHlink>
    </a:clrScheme>
    <a:fontScheme name="Office">
      <a:majorFont>
        <a:latin typeface="Segoe UI Semibol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egoe U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PneumoScan">
  <a:themeElements>
    <a:clrScheme name="Office">
      <a:dk1>
        <a:sysClr val="windowText" lastClr="000000"/>
      </a:dk1>
      <a:lt1>
        <a:sysClr val="window" lastClr="FFFFFF"/>
      </a:lt1>
      <a:dk2>
        <a:srgbClr val="0E1117"/>
      </a:dk2>
      <a:lt2>
        <a:srgbClr val="161B24"/>
      </a:lt2>
      <a:accent1>
        <a:srgbClr val="4F8CFF"/>
      </a:accent1>
      <a:accent2>
        <a:srgbClr val="34C47C"/>
      </a:accent2>
      <a:accent3>
        <a:srgbClr val="F0565B"/>
      </a:accent3>
      <a:accent4>
        <a:srgbClr val="8064A2"/>
      </a:accent4>
      <a:accent5>
        <a:srgbClr val="4BACC6"/>
      </a:accent5>
      <a:accent6>
        <a:srgbClr val="F79646"/>
      </a:accent6>
      <a:hlink>
        <a:srgbClr val="4F8CFF"/>
      </a:hlink>
      <a:folHlink>
        <a:srgbClr val="4F8CFF"/>
      </a:folHlink>
    </a:clrScheme>
    <a:fontScheme name="Office">
      <a:majorFont>
        <a:latin typeface="Segoe UI Semibol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egoe U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PneumoScan — распознавание пневмонии</dc:title>
  <dc:subject/>
  <dc:creator>Соломонов Д. М., Калашников Н. Д.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