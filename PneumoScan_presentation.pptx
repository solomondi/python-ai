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</c:v>
                </c:pt>
              </c:strCache>
            </c:strRef>
          </c:tx>
          <c:spPr>
            <a:solidFill>
              <a:srgbClr val="34C47C"/>
            </a:solidFill>
          </c:spPr>
          <c:cat>
            <c:strRef>
              <c:f>Sheet1!$A$2:$A$3</c:f>
              <c:strCache>
                <c:ptCount val="2"/>
                <c:pt idx="0">
                  <c:v>Обучение</c:v>
                </c:pt>
                <c:pt idx="1">
                  <c:v>Проверка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1341</c:v>
                </c:pt>
                <c:pt idx="1">
                  <c:v>234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Пневмония</c:v>
                </c:pt>
              </c:strCache>
            </c:strRef>
          </c:tx>
          <c:spPr>
            <a:solidFill>
              <a:srgbClr val="F0565B"/>
            </a:solidFill>
          </c:spPr>
          <c:cat>
            <c:strRef>
              <c:f>Sheet1!$A$2:$A$3</c:f>
              <c:strCache>
                <c:ptCount val="2"/>
                <c:pt idx="0">
                  <c:v>Обучение</c:v>
                </c:pt>
                <c:pt idx="1">
                  <c:v>Проверка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3875</c:v>
                </c:pt>
                <c:pt idx="1">
                  <c:v>390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solidFill>
                    <a:srgbClr val="EEF0F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93040"/>
            </a:solidFill>
          </a:ln>
        </c:spPr>
        <c:txPr>
          <a:bodyPr/>
          <a:lstStyle/>
          <a:p>
            <a:pPr>
              <a:defRPr>
                <a:solidFill>
                  <a:srgbClr val="EEF0F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EEF0F3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A3ABBA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Мы, Соломонов и Калашников, представляем проект PneumoScan. Это система, которая по рентгеновскому снимку грудной клетки определяет признаки пневмонии. Она состоит из сверточной нейросети и приложения для Windows. На тестовых снимках модель находит 99 процентов случаев пневмонии.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задача — бинарная классификация: по снимку определить, норма это или пневмония. Мы использовали открытый набор Chest X-Ray Images — это снимки детей от одного до пяти лет. Для обучения — 5 216 снимков, для проверки — 624. Справа видно, чем отличаются снимки: при пневмонии в лёгких появляются затемнения, участки воспаления. Важная особенность данных: снимков с пневмонией почти в три раза больше, чем нормальных. Если это не учесть, модель начнёт почти всё называть пневмонией, поэтому при обучении мы уравняли классы.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системы состоит из пяти шагов. Первый: пользователь загружает рентгеновский снимок. Второй: снимок переводится в оттенки серого и уменьшается до 224 на 224 пикселя, чтобы все снимки были одинаковыми для сети. Третий: нейросеть анализирует снимок и ищет признаки воспаления. Четвёртый: ответ сети переводится в вероятность пневмонии от 0 до 100 процентов. Пятый: вероятность сравнивается с порогом 22 процента. Если она выше — вердикт «пневмония». Одновременно строится тепловая карта, которая показывает, куда смотрела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основе — сверточная нейросеть на PyTorch из четырёх сверточных блоков. Каждый блок — это свёртка 3 на 3, которая выделяет признаки, нормализация BatchNorm, которая стабилизирует обучение, функция активации ReLU и пулинг, который уменьшает изображение вдвое. На схеме видно: от блока к блоку изображение становится меньше — с 224 до 14 пикселей, а признаков больше — с 32 до 256. Первые блоки находят простые вещи, например края и контуры, последние — сложные структуры, например затемнения в лёгких. Дальше признаки усредняются, идёт полносвязный слой на 128 нейронов с Dropout против переобучения и один выход — вероятность пневмонии. Всего в сети 422 тысячи параметров, файл модели весит 1,7 мегабайта.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об обучении. Чтобы модель не запоминала конкретные снимки, мы использовали аугментации: каждый раз снимок немного поворачивается, сдвигается, обрезается, меняется яркость и контраст. Слева исходный снимок и варианты, которые видит модель. Справа настройки. Данные разделены: 4 433 снимка для обучения и 783 для проверки во время обучения, то есть для валидации. Дисбаланс классов компенсирован весом в функции потерь. Оптимизатор — AdamW с расписанием скорости обучения OneCycle. Обучение шло на видеокарте RTX 3080 Ti, 40 эпох; лучшая модель получилась на 34-й эпохе с точностью 96 процентов на валидации. Порог решения 0,22 подобран автоматически на валидационной выборке.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— как модель работает на новых снимках. Мы проверили её на 624 снимках, которых она не видела при обучении. ROC-AUC — 0,971. Это показатель того, насколько хорошо модель отделяет больных от здоровых: единица — идеально, 0,5 — случайное угадывание. Общая точность — 88 процентов. Самое важное для медицины — чувствительность: модель нашла 386 пневмоний из 390, то есть 99 процентов. Пропущено всего 4 случая. Справа матрица ошибок. Слабое место — 70 здоровых снимков модель отметила как подозрительные, специфичность 70 процентов. Но для скрининга это допустимо: лучше лишний раз показать снимок врачу, чем пропустить болезнь. Если ложных тревог слишком много, порог можно поднять прямо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Нейросеть часто называют чёрным ящиком: она даёт ответ, но не объясняет его. Чтобы решениям можно было доверять, мы добавили тепловые карты Grad-CAM. Они показывают, какие участки снимка сильнее всего повлияли на ответ: красные — сильное влияние, синие — слабое. На этом снимке модель смотрит на затемнения в обоих лёгких, а не на рёбра, надписи или рамки. Значит, она принимает решение по правильным признакам.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удобной работы мы сделали приложение для Windows, оно запускается ярлыком с рабочего стола. Пройдёмся по цифрам на экране. Первое — загрузка: можно открыть снимки, целую папку или просто перетащить файлы в окно, а также выгрузить отчёт. Второе — список исследований: у каждого снимка миниатюра, метка «норма» или «пневмония» и вероятность. Третье — сам снимок, его можно переключить на тепловую карту. Четвёртое — вердикт и вероятность пневмонии. Пятое — порог решения: его можно двигать ползунком, и все вердикты сразу пересчитываются.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о возможностях. Приложение обрабатывает сразу много снимков в фоне, окно при этом не зависает. Снимки и папки можно перетаскивать прямо в окно. Между снимком и тепловой картой можно переключаться кнопкой или клавишей H. Результаты сохраняются в CSV, тепловые карты — в PNG. Вычисления идут на видеокарте NVIDIA, а если её нет — на процессоре. Кроме приложения для Windows есть веб-версия, которая открывается в браузере. Слева пример: здоровый снимок, вероятность пневмонии меньше одного процента.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Подведём итоги. Мы обучили сверточную нейросеть на 5 216 снимках, добавили тепловые карты для объяснения решений, сделали приложение для Windows и веб-версию. Модель находит 99 процентов пневмоний при ROC-AUC 0,971. Весь код, обученная модель и примеры снимков выложены на GitHub — ссылка и QR-код на слайде, его можно открыть с телефона. Спасибо за внимание!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6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18.png"/><Relationship Id="rId10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hyperlink" Target="https://github.com/SolomonDi/Python-AI" TargetMode="External"/><Relationship Id="rId10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965960"/>
            <a:ext cx="5120640" cy="1005840"/>
          </a:xfrm>
        </p:spPr>
        <p:txBody>
          <a:bodyPr lIns="0" rIns="0" tIns="0" bIns="0" anchor="ctr"/>
          <a:lstStyle/>
          <a:p>
            <a:pPr algn="l"/>
            <a:r>
              <a:rPr sz="6000">
                <a:solidFill>
                  <a:srgbClr val="EEF0F3"/>
                </a:solidFill>
                <a:latin typeface="Segoe UI Semibold"/>
              </a:rPr>
              <a:t>PneumoScan</a:t>
            </a:r>
          </a:p>
        </p:txBody>
      </p:sp>
      <p:pic>
        <p:nvPicPr>
          <p:cNvPr id="4" name="Logo" descr="Иконка PneumoSca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05840"/>
            <a:ext cx="822960" cy="822960"/>
          </a:xfrm>
          <a:prstGeom prst="rect">
            <a:avLst/>
          </a:prstGeom>
        </p:spPr>
      </p:pic>
      <p:sp>
        <p:nvSpPr>
          <p:cNvPr id="5" name="Subtitle"/>
          <p:cNvSpPr txBox="1"/>
          <p:nvPr/>
        </p:nvSpPr>
        <p:spPr>
          <a:xfrm>
            <a:off x="548640" y="30632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A3ABBA"/>
                </a:solidFill>
                <a:latin typeface="Segoe UI"/>
              </a:rPr>
              <a:t>Распознавание пневмонии по рентгеновским снимкам грудной клетки</a:t>
            </a:r>
          </a:p>
        </p:txBody>
      </p:sp>
      <p:sp>
        <p:nvSpPr>
          <p:cNvPr id="6" name="Chip 1"/>
          <p:cNvSpPr/>
          <p:nvPr/>
        </p:nvSpPr>
        <p:spPr>
          <a:xfrm>
            <a:off x="548640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ip 1 label"/>
          <p:cNvSpPr txBox="1"/>
          <p:nvPr/>
        </p:nvSpPr>
        <p:spPr>
          <a:xfrm>
            <a:off x="73152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8" name="Chip 1 value"/>
          <p:cNvSpPr txBox="1"/>
          <p:nvPr/>
        </p:nvSpPr>
        <p:spPr>
          <a:xfrm>
            <a:off x="73152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0.971</a:t>
            </a:r>
          </a:p>
        </p:txBody>
      </p:sp>
      <p:sp>
        <p:nvSpPr>
          <p:cNvPr id="9" name="Chip 2"/>
          <p:cNvSpPr/>
          <p:nvPr/>
        </p:nvSpPr>
        <p:spPr>
          <a:xfrm>
            <a:off x="2286000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ip 2 label"/>
          <p:cNvSpPr txBox="1"/>
          <p:nvPr/>
        </p:nvSpPr>
        <p:spPr>
          <a:xfrm>
            <a:off x="246888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Найдено пневмоний</a:t>
            </a:r>
          </a:p>
        </p:txBody>
      </p:sp>
      <p:sp>
        <p:nvSpPr>
          <p:cNvPr id="11" name="Chip 2 value"/>
          <p:cNvSpPr txBox="1"/>
          <p:nvPr/>
        </p:nvSpPr>
        <p:spPr>
          <a:xfrm>
            <a:off x="246888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99.0%</a:t>
            </a:r>
          </a:p>
        </p:txBody>
      </p:sp>
      <p:sp>
        <p:nvSpPr>
          <p:cNvPr id="12" name="Chip 3"/>
          <p:cNvSpPr/>
          <p:nvPr/>
        </p:nvSpPr>
        <p:spPr>
          <a:xfrm>
            <a:off x="4023359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ip 3 label"/>
          <p:cNvSpPr txBox="1"/>
          <p:nvPr/>
        </p:nvSpPr>
        <p:spPr>
          <a:xfrm>
            <a:off x="420624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Приложение</a:t>
            </a:r>
          </a:p>
        </p:txBody>
      </p:sp>
      <p:sp>
        <p:nvSpPr>
          <p:cNvPr id="14" name="Chip 3 value"/>
          <p:cNvSpPr txBox="1"/>
          <p:nvPr/>
        </p:nvSpPr>
        <p:spPr>
          <a:xfrm>
            <a:off x="420624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Windows</a:t>
            </a:r>
          </a:p>
        </p:txBody>
      </p:sp>
      <p:pic>
        <p:nvPicPr>
          <p:cNvPr id="15" name="Hero screenshot" descr="Главное окно PneumoScan: снимок с тепловой картой и вердиктом «Pneumonia»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1325880"/>
            <a:ext cx="5852160" cy="3528508"/>
          </a:xfrm>
          <a:prstGeom prst="roundRect">
            <a:avLst>
              <a:gd name="adj" fmla="val 25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6" name="Authors label"/>
          <p:cNvSpPr txBox="1"/>
          <p:nvPr/>
        </p:nvSpPr>
        <p:spPr>
          <a:xfrm>
            <a:off x="548640" y="55961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spc="200">
                <a:solidFill>
                  <a:srgbClr val="4F8CFF"/>
                </a:solidFill>
                <a:latin typeface="Segoe UI Semibold"/>
              </a:rPr>
              <a:t>АВТОРЫ ПРОЕКТА</a:t>
            </a:r>
          </a:p>
        </p:txBody>
      </p:sp>
      <p:sp>
        <p:nvSpPr>
          <p:cNvPr id="17" name="Author 1 card"/>
          <p:cNvSpPr/>
          <p:nvPr/>
        </p:nvSpPr>
        <p:spPr>
          <a:xfrm>
            <a:off x="548640" y="5870448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uthor 1 initials"/>
          <p:cNvSpPr/>
          <p:nvPr/>
        </p:nvSpPr>
        <p:spPr>
          <a:xfrm>
            <a:off x="640080" y="5961888"/>
            <a:ext cx="384048" cy="38404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ДС</a:t>
            </a:r>
          </a:p>
        </p:txBody>
      </p:sp>
      <p:sp>
        <p:nvSpPr>
          <p:cNvPr id="19" name="Author 1 name"/>
          <p:cNvSpPr txBox="1"/>
          <p:nvPr/>
        </p:nvSpPr>
        <p:spPr>
          <a:xfrm>
            <a:off x="1143000" y="58704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EEF0F3"/>
                </a:solidFill>
                <a:latin typeface="Segoe UI Semibold"/>
              </a:rPr>
              <a:t>Соломонов Д. М.</a:t>
            </a:r>
          </a:p>
        </p:txBody>
      </p:sp>
      <p:sp>
        <p:nvSpPr>
          <p:cNvPr id="20" name="Author 2 card"/>
          <p:cNvSpPr/>
          <p:nvPr/>
        </p:nvSpPr>
        <p:spPr>
          <a:xfrm>
            <a:off x="3154680" y="5870448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uthor 2 initials"/>
          <p:cNvSpPr/>
          <p:nvPr/>
        </p:nvSpPr>
        <p:spPr>
          <a:xfrm>
            <a:off x="3246120" y="5961888"/>
            <a:ext cx="384048" cy="384048"/>
          </a:xfrm>
          <a:prstGeom prst="ellipse">
            <a:avLst/>
          </a:prstGeom>
          <a:solidFill>
            <a:srgbClr val="34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НК</a:t>
            </a:r>
          </a:p>
        </p:txBody>
      </p:sp>
      <p:sp>
        <p:nvSpPr>
          <p:cNvPr id="22" name="Author 2 name"/>
          <p:cNvSpPr txBox="1"/>
          <p:nvPr/>
        </p:nvSpPr>
        <p:spPr>
          <a:xfrm>
            <a:off x="3749040" y="58704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EEF0F3"/>
                </a:solidFill>
                <a:latin typeface="Segoe UI Semibold"/>
              </a:rPr>
              <a:t>Калашников Н. Д.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Задача и данные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01 · ЗАДАЧА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02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ask"/>
          <p:cNvSpPr txBox="1"/>
          <p:nvPr/>
        </p:nvSpPr>
        <p:spPr>
          <a:xfrm>
            <a:off x="548640" y="160020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"/>
              </a:rPr>
              <a:t>По рентгеновскому снимку грудной клетки определить: норма или пневмония</a:t>
            </a:r>
          </a:p>
        </p:txBody>
      </p:sp>
      <p:sp>
        <p:nvSpPr>
          <p:cNvPr id="17" name="Stat 1"/>
          <p:cNvSpPr txBox="1"/>
          <p:nvPr/>
        </p:nvSpPr>
        <p:spPr>
          <a:xfrm>
            <a:off x="54864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5 216</a:t>
            </a:r>
          </a:p>
        </p:txBody>
      </p:sp>
      <p:sp>
        <p:nvSpPr>
          <p:cNvPr id="18" name="Stat 1 label"/>
          <p:cNvSpPr txBox="1"/>
          <p:nvPr/>
        </p:nvSpPr>
        <p:spPr>
          <a:xfrm>
            <a:off x="54864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снимков
для обучения</a:t>
            </a:r>
          </a:p>
        </p:txBody>
      </p:sp>
      <p:sp>
        <p:nvSpPr>
          <p:cNvPr id="19" name="Stat 2"/>
          <p:cNvSpPr txBox="1"/>
          <p:nvPr/>
        </p:nvSpPr>
        <p:spPr>
          <a:xfrm>
            <a:off x="246888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624</a:t>
            </a:r>
          </a:p>
        </p:txBody>
      </p:sp>
      <p:sp>
        <p:nvSpPr>
          <p:cNvPr id="20" name="Stat 2 label"/>
          <p:cNvSpPr txBox="1"/>
          <p:nvPr/>
        </p:nvSpPr>
        <p:spPr>
          <a:xfrm>
            <a:off x="246888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снимка
для проверки</a:t>
            </a:r>
          </a:p>
        </p:txBody>
      </p:sp>
      <p:sp>
        <p:nvSpPr>
          <p:cNvPr id="21" name="Stat 3"/>
          <p:cNvSpPr txBox="1"/>
          <p:nvPr/>
        </p:nvSpPr>
        <p:spPr>
          <a:xfrm>
            <a:off x="438912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1 : 2.9</a:t>
            </a:r>
          </a:p>
        </p:txBody>
      </p:sp>
      <p:sp>
        <p:nvSpPr>
          <p:cNvPr id="22" name="Stat 3 label"/>
          <p:cNvSpPr txBox="1"/>
          <p:nvPr/>
        </p:nvSpPr>
        <p:spPr>
          <a:xfrm>
            <a:off x="438912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норма к пневмонии
в обучении</a:t>
            </a:r>
          </a:p>
        </p:txBody>
      </p:sp>
      <p:graphicFrame>
        <p:nvGraphicFramePr>
          <p:cNvPr id="23" name="Class distribution chart"/>
          <p:cNvGraphicFramePr>
            <a:graphicFrameLocks noGrp="1"/>
          </p:cNvGraphicFramePr>
          <p:nvPr/>
        </p:nvGraphicFramePr>
        <p:xfrm>
          <a:off x="457200" y="3886200"/>
          <a:ext cx="576072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24" name="Sample normal" descr="Пример снимка: норма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00200"/>
            <a:ext cx="2377440" cy="2377440"/>
          </a:xfrm>
          <a:prstGeom prst="roundRect">
            <a:avLst>
              <a:gd name="adj" fmla="val 4000"/>
            </a:avLst>
          </a:prstGeom>
        </p:spPr>
      </p:pic>
      <p:pic>
        <p:nvPicPr>
          <p:cNvPr id="25" name="Sample pneumonia" descr="Пример снимка: пневмония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872" y="1600200"/>
            <a:ext cx="2377440" cy="2377440"/>
          </a:xfrm>
          <a:prstGeom prst="roundRect">
            <a:avLst>
              <a:gd name="adj" fmla="val 4000"/>
            </a:avLst>
          </a:prstGeom>
        </p:spPr>
      </p:pic>
      <p:sp>
        <p:nvSpPr>
          <p:cNvPr id="26" name="Caption normal"/>
          <p:cNvSpPr txBox="1"/>
          <p:nvPr/>
        </p:nvSpPr>
        <p:spPr>
          <a:xfrm>
            <a:off x="6675120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34C47C"/>
                </a:solidFill>
                <a:latin typeface="Segoe UI Semibold"/>
              </a:rPr>
              <a:t>Норма</a:t>
            </a:r>
          </a:p>
        </p:txBody>
      </p:sp>
      <p:sp>
        <p:nvSpPr>
          <p:cNvPr id="27" name="Caption pneumonia"/>
          <p:cNvSpPr txBox="1"/>
          <p:nvPr/>
        </p:nvSpPr>
        <p:spPr>
          <a:xfrm>
            <a:off x="9262872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F0565B"/>
                </a:solidFill>
                <a:latin typeface="Segoe UI Semibold"/>
              </a:rPr>
              <a:t>Пневмония</a:t>
            </a:r>
          </a:p>
        </p:txBody>
      </p:sp>
      <p:sp>
        <p:nvSpPr>
          <p:cNvPr id="28" name="Dataset note"/>
          <p:cNvSpPr txBox="1"/>
          <p:nvPr/>
        </p:nvSpPr>
        <p:spPr>
          <a:xfrm>
            <a:off x="6675120" y="4754880"/>
            <a:ext cx="49651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Набор Chest X-Ray Images, Kermany et al. 2018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5 856 снимков детей от 1 до 5 лет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Пневмония видна на снимке как затемнения в лёгких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Как это работает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02 · ПРИНЦИП РАБОТЫ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03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 1 card"/>
          <p:cNvSpPr/>
          <p:nvPr/>
        </p:nvSpPr>
        <p:spPr>
          <a:xfrm>
            <a:off x="548640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tep 1 image" descr="Исходный рентгеновски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74519"/>
            <a:ext cx="1596542" cy="1596542"/>
          </a:xfrm>
          <a:prstGeom prst="roundRect">
            <a:avLst>
              <a:gd name="adj" fmla="val 4000"/>
            </a:avLst>
          </a:prstGeom>
        </p:spPr>
      </p:pic>
      <p:sp>
        <p:nvSpPr>
          <p:cNvPr id="18" name="Step 1 number"/>
          <p:cNvSpPr/>
          <p:nvPr/>
        </p:nvSpPr>
        <p:spPr>
          <a:xfrm>
            <a:off x="731520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Step 1 title"/>
          <p:cNvSpPr txBox="1"/>
          <p:nvPr/>
        </p:nvSpPr>
        <p:spPr>
          <a:xfrm>
            <a:off x="731520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Снимок</a:t>
            </a:r>
          </a:p>
        </p:txBody>
      </p:sp>
      <p:sp>
        <p:nvSpPr>
          <p:cNvPr id="20" name="Step 1 text"/>
          <p:cNvSpPr txBox="1"/>
          <p:nvPr/>
        </p:nvSpPr>
        <p:spPr>
          <a:xfrm>
            <a:off x="731520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Рентген грудной клетки в JPEG, PNG, BMP или TIFF</a:t>
            </a:r>
          </a:p>
        </p:txBody>
      </p:sp>
      <p:sp>
        <p:nvSpPr>
          <p:cNvPr id="21" name="Arrow 1"/>
          <p:cNvSpPr txBox="1"/>
          <p:nvPr/>
        </p:nvSpPr>
        <p:spPr>
          <a:xfrm>
            <a:off x="2510942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22" name="Step 2 card"/>
          <p:cNvSpPr/>
          <p:nvPr/>
        </p:nvSpPr>
        <p:spPr>
          <a:xfrm>
            <a:off x="2830982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ep 2 canvas"/>
          <p:cNvSpPr/>
          <p:nvPr/>
        </p:nvSpPr>
        <p:spPr>
          <a:xfrm>
            <a:off x="3013862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tep 2 image" descr="Снимок, уменьшенный до 224 на 2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9213" y="2057400"/>
            <a:ext cx="1005840" cy="1005840"/>
          </a:xfrm>
          <a:prstGeom prst="roundRect">
            <a:avLst>
              <a:gd name="adj" fmla="val 2000"/>
            </a:avLst>
          </a:prstGeom>
          <a:ln w="9525">
            <a:solidFill>
              <a:srgbClr val="4F8CFF"/>
            </a:solidFill>
          </a:ln>
        </p:spPr>
      </p:pic>
      <p:sp>
        <p:nvSpPr>
          <p:cNvPr id="25" name="Step 2 size"/>
          <p:cNvSpPr txBox="1"/>
          <p:nvPr/>
        </p:nvSpPr>
        <p:spPr>
          <a:xfrm>
            <a:off x="3013862" y="3154679"/>
            <a:ext cx="15965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224 × 224 px</a:t>
            </a:r>
          </a:p>
        </p:txBody>
      </p:sp>
      <p:sp>
        <p:nvSpPr>
          <p:cNvPr id="26" name="Step 2 number"/>
          <p:cNvSpPr/>
          <p:nvPr/>
        </p:nvSpPr>
        <p:spPr>
          <a:xfrm>
            <a:off x="3013862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7" name="Step 2 title"/>
          <p:cNvSpPr txBox="1"/>
          <p:nvPr/>
        </p:nvSpPr>
        <p:spPr>
          <a:xfrm>
            <a:off x="3013862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Подготовка</a:t>
            </a:r>
          </a:p>
        </p:txBody>
      </p:sp>
      <p:sp>
        <p:nvSpPr>
          <p:cNvPr id="28" name="Step 2 text"/>
          <p:cNvSpPr txBox="1"/>
          <p:nvPr/>
        </p:nvSpPr>
        <p:spPr>
          <a:xfrm>
            <a:off x="3013862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Оттенки серого, 224 × 224 пикселя, нормализация</a:t>
            </a:r>
          </a:p>
        </p:txBody>
      </p:sp>
      <p:sp>
        <p:nvSpPr>
          <p:cNvPr id="29" name="Arrow 2"/>
          <p:cNvSpPr txBox="1"/>
          <p:nvPr/>
        </p:nvSpPr>
        <p:spPr>
          <a:xfrm>
            <a:off x="4793284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30" name="Step 3 card"/>
          <p:cNvSpPr/>
          <p:nvPr/>
        </p:nvSpPr>
        <p:spPr>
          <a:xfrm>
            <a:off x="5113324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ep 3 canvas"/>
          <p:cNvSpPr/>
          <p:nvPr/>
        </p:nvSpPr>
        <p:spPr>
          <a:xfrm>
            <a:off x="5296204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ayer 1"/>
          <p:cNvSpPr/>
          <p:nvPr/>
        </p:nvSpPr>
        <p:spPr>
          <a:xfrm>
            <a:off x="5454396" y="2055571"/>
            <a:ext cx="182880" cy="1234440"/>
          </a:xfrm>
          <a:prstGeom prst="roundRect">
            <a:avLst>
              <a:gd name="adj" fmla="val 25000"/>
            </a:avLst>
          </a:prstGeom>
          <a:solidFill>
            <a:srgbClr val="9DB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ayer 2"/>
          <p:cNvSpPr/>
          <p:nvPr/>
        </p:nvSpPr>
        <p:spPr>
          <a:xfrm>
            <a:off x="5728716" y="2147011"/>
            <a:ext cx="182880" cy="1051560"/>
          </a:xfrm>
          <a:prstGeom prst="roundRect">
            <a:avLst>
              <a:gd name="adj" fmla="val 25000"/>
            </a:avLst>
          </a:prstGeom>
          <a:solidFill>
            <a:srgbClr val="79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Layer 3"/>
          <p:cNvSpPr/>
          <p:nvPr/>
        </p:nvSpPr>
        <p:spPr>
          <a:xfrm>
            <a:off x="6003036" y="2238451"/>
            <a:ext cx="182880" cy="868680"/>
          </a:xfrm>
          <a:prstGeom prst="roundRect">
            <a:avLst>
              <a:gd name="adj" fmla="val 25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ayer 4"/>
          <p:cNvSpPr/>
          <p:nvPr/>
        </p:nvSpPr>
        <p:spPr>
          <a:xfrm>
            <a:off x="6277356" y="2329891"/>
            <a:ext cx="182880" cy="685800"/>
          </a:xfrm>
          <a:prstGeom prst="roundRect">
            <a:avLst>
              <a:gd name="adj" fmla="val 25000"/>
            </a:avLst>
          </a:prstGeom>
          <a:solidFill>
            <a:srgbClr val="3A7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Layer 5"/>
          <p:cNvSpPr/>
          <p:nvPr/>
        </p:nvSpPr>
        <p:spPr>
          <a:xfrm>
            <a:off x="6551676" y="2421331"/>
            <a:ext cx="182880" cy="502920"/>
          </a:xfrm>
          <a:prstGeom prst="roundRect">
            <a:avLst>
              <a:gd name="adj" fmla="val 25000"/>
            </a:avLst>
          </a:prstGeom>
          <a:solidFill>
            <a:srgbClr val="2F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tep 3 number"/>
          <p:cNvSpPr/>
          <p:nvPr/>
        </p:nvSpPr>
        <p:spPr>
          <a:xfrm>
            <a:off x="5296204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8" name="Step 3 title"/>
          <p:cNvSpPr txBox="1"/>
          <p:nvPr/>
        </p:nvSpPr>
        <p:spPr>
          <a:xfrm>
            <a:off x="5296204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Нейросеть</a:t>
            </a:r>
          </a:p>
        </p:txBody>
      </p:sp>
      <p:sp>
        <p:nvSpPr>
          <p:cNvPr id="39" name="Step 3 text"/>
          <p:cNvSpPr txBox="1"/>
          <p:nvPr/>
        </p:nvSpPr>
        <p:spPr>
          <a:xfrm>
            <a:off x="5296204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Сверточная сеть находит признаки воспаления</a:t>
            </a:r>
          </a:p>
        </p:txBody>
      </p:sp>
      <p:sp>
        <p:nvSpPr>
          <p:cNvPr id="40" name="Arrow 3"/>
          <p:cNvSpPr txBox="1"/>
          <p:nvPr/>
        </p:nvSpPr>
        <p:spPr>
          <a:xfrm>
            <a:off x="7075627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41" name="Step 4 card"/>
          <p:cNvSpPr/>
          <p:nvPr/>
        </p:nvSpPr>
        <p:spPr>
          <a:xfrm>
            <a:off x="7395667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tep 4 canvas"/>
          <p:cNvSpPr/>
          <p:nvPr/>
        </p:nvSpPr>
        <p:spPr>
          <a:xfrm>
            <a:off x="7578547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robability value"/>
          <p:cNvSpPr txBox="1"/>
          <p:nvPr/>
        </p:nvSpPr>
        <p:spPr>
          <a:xfrm>
            <a:off x="7578547" y="2286000"/>
            <a:ext cx="159654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EEF0F3"/>
                </a:solidFill>
                <a:latin typeface="Segoe UI Semibold"/>
              </a:rPr>
              <a:t>99.6%</a:t>
            </a:r>
          </a:p>
        </p:txBody>
      </p:sp>
      <p:sp>
        <p:nvSpPr>
          <p:cNvPr id="44" name="Probability track"/>
          <p:cNvSpPr/>
          <p:nvPr/>
        </p:nvSpPr>
        <p:spPr>
          <a:xfrm>
            <a:off x="7761427" y="2971800"/>
            <a:ext cx="1230782" cy="82296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robability fill"/>
          <p:cNvSpPr/>
          <p:nvPr/>
        </p:nvSpPr>
        <p:spPr>
          <a:xfrm>
            <a:off x="7761427" y="2971800"/>
            <a:ext cx="1225859" cy="82296"/>
          </a:xfrm>
          <a:prstGeom prst="roundRect">
            <a:avLst>
              <a:gd name="adj" fmla="val 50000"/>
            </a:avLst>
          </a:prstGeom>
          <a:solidFill>
            <a:srgbClr val="F05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tep 4 number"/>
          <p:cNvSpPr/>
          <p:nvPr/>
        </p:nvSpPr>
        <p:spPr>
          <a:xfrm>
            <a:off x="7578547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7" name="Step 4 title"/>
          <p:cNvSpPr txBox="1"/>
          <p:nvPr/>
        </p:nvSpPr>
        <p:spPr>
          <a:xfrm>
            <a:off x="7578547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Вероятность</a:t>
            </a:r>
          </a:p>
        </p:txBody>
      </p:sp>
      <p:sp>
        <p:nvSpPr>
          <p:cNvPr id="48" name="Step 4 text"/>
          <p:cNvSpPr txBox="1"/>
          <p:nvPr/>
        </p:nvSpPr>
        <p:spPr>
          <a:xfrm>
            <a:off x="7578547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Ответ сети переводится в вероятность от 0 до 100%</a:t>
            </a:r>
          </a:p>
        </p:txBody>
      </p:sp>
      <p:sp>
        <p:nvSpPr>
          <p:cNvPr id="49" name="Arrow 4"/>
          <p:cNvSpPr txBox="1"/>
          <p:nvPr/>
        </p:nvSpPr>
        <p:spPr>
          <a:xfrm>
            <a:off x="9357969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50" name="Step 5 card"/>
          <p:cNvSpPr/>
          <p:nvPr/>
        </p:nvSpPr>
        <p:spPr>
          <a:xfrm>
            <a:off x="9678009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Step 5 image" descr="Снимок с тепловой картой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0889" y="1874519"/>
            <a:ext cx="1596542" cy="1596542"/>
          </a:xfrm>
          <a:prstGeom prst="roundRect">
            <a:avLst>
              <a:gd name="adj" fmla="val 4000"/>
            </a:avLst>
          </a:prstGeom>
        </p:spPr>
      </p:pic>
      <p:sp>
        <p:nvSpPr>
          <p:cNvPr id="52" name="Step 5 number"/>
          <p:cNvSpPr/>
          <p:nvPr/>
        </p:nvSpPr>
        <p:spPr>
          <a:xfrm>
            <a:off x="9860889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53" name="Step 5 title"/>
          <p:cNvSpPr txBox="1"/>
          <p:nvPr/>
        </p:nvSpPr>
        <p:spPr>
          <a:xfrm>
            <a:off x="9860889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Результат</a:t>
            </a:r>
          </a:p>
        </p:txBody>
      </p:sp>
      <p:sp>
        <p:nvSpPr>
          <p:cNvPr id="54" name="Step 5 text"/>
          <p:cNvSpPr txBox="1"/>
          <p:nvPr/>
        </p:nvSpPr>
        <p:spPr>
          <a:xfrm>
            <a:off x="9860889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Сравнение с порогом 22% и тепловая карта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Сверточная нейросеть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03 · МОДЕЛЬ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04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nput image" descr="Входно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057400"/>
            <a:ext cx="1097280" cy="109728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Вход label"/>
          <p:cNvSpPr txBox="1"/>
          <p:nvPr/>
        </p:nvSpPr>
        <p:spPr>
          <a:xfrm>
            <a:off x="557784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Вход</a:t>
            </a:r>
          </a:p>
        </p:txBody>
      </p:sp>
      <p:sp>
        <p:nvSpPr>
          <p:cNvPr id="18" name="Вход dims"/>
          <p:cNvSpPr txBox="1"/>
          <p:nvPr/>
        </p:nvSpPr>
        <p:spPr>
          <a:xfrm>
            <a:off x="512064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224 × 224</a:t>
            </a:r>
          </a:p>
        </p:txBody>
      </p:sp>
      <p:sp>
        <p:nvSpPr>
          <p:cNvPr id="19" name="Flow 1"/>
          <p:cNvSpPr txBox="1"/>
          <p:nvPr/>
        </p:nvSpPr>
        <p:spPr>
          <a:xfrm>
            <a:off x="1746504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0" name="Блок 1 block"/>
          <p:cNvSpPr/>
          <p:nvPr/>
        </p:nvSpPr>
        <p:spPr>
          <a:xfrm>
            <a:off x="2185416" y="1737360"/>
            <a:ext cx="822959" cy="1737360"/>
          </a:xfrm>
          <a:prstGeom prst="roundRect">
            <a:avLst>
              <a:gd name="adj" fmla="val 12000"/>
            </a:avLst>
          </a:prstGeom>
          <a:solidFill>
            <a:srgbClr val="9DB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Блок 1 label"/>
          <p:cNvSpPr txBox="1"/>
          <p:nvPr/>
        </p:nvSpPr>
        <p:spPr>
          <a:xfrm>
            <a:off x="1956816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1</a:t>
            </a:r>
          </a:p>
        </p:txBody>
      </p:sp>
      <p:sp>
        <p:nvSpPr>
          <p:cNvPr id="22" name="Блок 1 dims"/>
          <p:cNvSpPr txBox="1"/>
          <p:nvPr/>
        </p:nvSpPr>
        <p:spPr>
          <a:xfrm>
            <a:off x="1911096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112 × 112 · 32</a:t>
            </a:r>
          </a:p>
        </p:txBody>
      </p:sp>
      <p:sp>
        <p:nvSpPr>
          <p:cNvPr id="23" name="Flow 2"/>
          <p:cNvSpPr txBox="1"/>
          <p:nvPr/>
        </p:nvSpPr>
        <p:spPr>
          <a:xfrm>
            <a:off x="3145536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4" name="Блок 2 block"/>
          <p:cNvSpPr/>
          <p:nvPr/>
        </p:nvSpPr>
        <p:spPr>
          <a:xfrm>
            <a:off x="3584448" y="1874519"/>
            <a:ext cx="822959" cy="1463040"/>
          </a:xfrm>
          <a:prstGeom prst="roundRect">
            <a:avLst>
              <a:gd name="adj" fmla="val 12000"/>
            </a:avLst>
          </a:prstGeom>
          <a:solidFill>
            <a:srgbClr val="86A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Блок 2 label"/>
          <p:cNvSpPr txBox="1"/>
          <p:nvPr/>
        </p:nvSpPr>
        <p:spPr>
          <a:xfrm>
            <a:off x="3355848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2</a:t>
            </a:r>
          </a:p>
        </p:txBody>
      </p:sp>
      <p:sp>
        <p:nvSpPr>
          <p:cNvPr id="26" name="Блок 2 dims"/>
          <p:cNvSpPr txBox="1"/>
          <p:nvPr/>
        </p:nvSpPr>
        <p:spPr>
          <a:xfrm>
            <a:off x="3310128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56 × 56 · 64</a:t>
            </a:r>
          </a:p>
        </p:txBody>
      </p:sp>
      <p:sp>
        <p:nvSpPr>
          <p:cNvPr id="27" name="Flow 3"/>
          <p:cNvSpPr txBox="1"/>
          <p:nvPr/>
        </p:nvSpPr>
        <p:spPr>
          <a:xfrm>
            <a:off x="4544568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8" name="Блок 3 block"/>
          <p:cNvSpPr/>
          <p:nvPr/>
        </p:nvSpPr>
        <p:spPr>
          <a:xfrm>
            <a:off x="4983480" y="2011680"/>
            <a:ext cx="822959" cy="1188720"/>
          </a:xfrm>
          <a:prstGeom prst="roundRect">
            <a:avLst>
              <a:gd name="adj" fmla="val 12000"/>
            </a:avLst>
          </a:prstGeom>
          <a:solidFill>
            <a:srgbClr val="6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Блок 3 label"/>
          <p:cNvSpPr txBox="1"/>
          <p:nvPr/>
        </p:nvSpPr>
        <p:spPr>
          <a:xfrm>
            <a:off x="4754880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3</a:t>
            </a:r>
          </a:p>
        </p:txBody>
      </p:sp>
      <p:sp>
        <p:nvSpPr>
          <p:cNvPr id="30" name="Блок 3 dims"/>
          <p:cNvSpPr txBox="1"/>
          <p:nvPr/>
        </p:nvSpPr>
        <p:spPr>
          <a:xfrm>
            <a:off x="4709159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28 × 28 · 128</a:t>
            </a:r>
          </a:p>
        </p:txBody>
      </p:sp>
      <p:sp>
        <p:nvSpPr>
          <p:cNvPr id="31" name="Flow 4"/>
          <p:cNvSpPr txBox="1"/>
          <p:nvPr/>
        </p:nvSpPr>
        <p:spPr>
          <a:xfrm>
            <a:off x="5943600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32" name="Блок 4 block"/>
          <p:cNvSpPr/>
          <p:nvPr/>
        </p:nvSpPr>
        <p:spPr>
          <a:xfrm>
            <a:off x="6382512" y="2148840"/>
            <a:ext cx="822959" cy="914400"/>
          </a:xfrm>
          <a:prstGeom prst="roundRect">
            <a:avLst>
              <a:gd name="adj" fmla="val 12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Блок 4 label"/>
          <p:cNvSpPr txBox="1"/>
          <p:nvPr/>
        </p:nvSpPr>
        <p:spPr>
          <a:xfrm>
            <a:off x="6153912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4</a:t>
            </a:r>
          </a:p>
        </p:txBody>
      </p:sp>
      <p:sp>
        <p:nvSpPr>
          <p:cNvPr id="34" name="Блок 4 dims"/>
          <p:cNvSpPr txBox="1"/>
          <p:nvPr/>
        </p:nvSpPr>
        <p:spPr>
          <a:xfrm>
            <a:off x="6108192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14 × 14 · 256</a:t>
            </a:r>
          </a:p>
        </p:txBody>
      </p:sp>
      <p:sp>
        <p:nvSpPr>
          <p:cNvPr id="35" name="Flow 5"/>
          <p:cNvSpPr txBox="1"/>
          <p:nvPr/>
        </p:nvSpPr>
        <p:spPr>
          <a:xfrm>
            <a:off x="7342631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36" name="Пулинг block"/>
          <p:cNvSpPr/>
          <p:nvPr/>
        </p:nvSpPr>
        <p:spPr>
          <a:xfrm>
            <a:off x="7781544" y="2286000"/>
            <a:ext cx="822959" cy="640080"/>
          </a:xfrm>
          <a:prstGeom prst="roundRect">
            <a:avLst>
              <a:gd name="adj" fmla="val 12000"/>
            </a:avLst>
          </a:prstGeom>
          <a:solidFill>
            <a:srgbClr val="3A7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Пулинг label"/>
          <p:cNvSpPr txBox="1"/>
          <p:nvPr/>
        </p:nvSpPr>
        <p:spPr>
          <a:xfrm>
            <a:off x="7552944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Пулинг</a:t>
            </a:r>
          </a:p>
        </p:txBody>
      </p:sp>
      <p:sp>
        <p:nvSpPr>
          <p:cNvPr id="38" name="Пулинг dims"/>
          <p:cNvSpPr txBox="1"/>
          <p:nvPr/>
        </p:nvSpPr>
        <p:spPr>
          <a:xfrm>
            <a:off x="7507224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256 признаков</a:t>
            </a:r>
          </a:p>
        </p:txBody>
      </p:sp>
      <p:sp>
        <p:nvSpPr>
          <p:cNvPr id="39" name="Flow 6"/>
          <p:cNvSpPr txBox="1"/>
          <p:nvPr/>
        </p:nvSpPr>
        <p:spPr>
          <a:xfrm>
            <a:off x="8741664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40" name="Слой 128 block"/>
          <p:cNvSpPr/>
          <p:nvPr/>
        </p:nvSpPr>
        <p:spPr>
          <a:xfrm>
            <a:off x="9180576" y="2354580"/>
            <a:ext cx="822959" cy="502920"/>
          </a:xfrm>
          <a:prstGeom prst="roundRect">
            <a:avLst>
              <a:gd name="adj" fmla="val 12000"/>
            </a:avLst>
          </a:prstGeom>
          <a:solidFill>
            <a:srgbClr val="2F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Слой 128 label"/>
          <p:cNvSpPr txBox="1"/>
          <p:nvPr/>
        </p:nvSpPr>
        <p:spPr>
          <a:xfrm>
            <a:off x="8951976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Слой 128</a:t>
            </a:r>
          </a:p>
        </p:txBody>
      </p:sp>
      <p:sp>
        <p:nvSpPr>
          <p:cNvPr id="42" name="Слой 128 dims"/>
          <p:cNvSpPr txBox="1"/>
          <p:nvPr/>
        </p:nvSpPr>
        <p:spPr>
          <a:xfrm>
            <a:off x="8906256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+ Dropout 0.4</a:t>
            </a:r>
          </a:p>
        </p:txBody>
      </p:sp>
      <p:sp>
        <p:nvSpPr>
          <p:cNvPr id="43" name="Flow 7"/>
          <p:cNvSpPr txBox="1"/>
          <p:nvPr/>
        </p:nvSpPr>
        <p:spPr>
          <a:xfrm>
            <a:off x="10140696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44" name="Output node"/>
          <p:cNvSpPr/>
          <p:nvPr/>
        </p:nvSpPr>
        <p:spPr>
          <a:xfrm>
            <a:off x="10625328" y="2240280"/>
            <a:ext cx="731520" cy="731520"/>
          </a:xfrm>
          <a:prstGeom prst="ellipse">
            <a:avLst/>
          </a:prstGeom>
          <a:solidFill>
            <a:srgbClr val="34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45" name="Выход label"/>
          <p:cNvSpPr txBox="1"/>
          <p:nvPr/>
        </p:nvSpPr>
        <p:spPr>
          <a:xfrm>
            <a:off x="10351008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Выход</a:t>
            </a:r>
          </a:p>
        </p:txBody>
      </p:sp>
      <p:sp>
        <p:nvSpPr>
          <p:cNvPr id="46" name="Выход dims"/>
          <p:cNvSpPr txBox="1"/>
          <p:nvPr/>
        </p:nvSpPr>
        <p:spPr>
          <a:xfrm>
            <a:off x="10305288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вероятность</a:t>
            </a:r>
          </a:p>
        </p:txBody>
      </p:sp>
      <p:sp>
        <p:nvSpPr>
          <p:cNvPr id="47" name="Fact 1 card"/>
          <p:cNvSpPr/>
          <p:nvPr/>
        </p:nvSpPr>
        <p:spPr>
          <a:xfrm>
            <a:off x="548640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act 1"/>
          <p:cNvSpPr txBox="1"/>
          <p:nvPr/>
        </p:nvSpPr>
        <p:spPr>
          <a:xfrm>
            <a:off x="822959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4 сверточных блока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Архитектура на PyTorch от 32 до 256 каналов</a:t>
            </a:r>
          </a:p>
        </p:txBody>
      </p:sp>
      <p:sp>
        <p:nvSpPr>
          <p:cNvPr id="49" name="Fact 2 card"/>
          <p:cNvSpPr/>
          <p:nvPr/>
        </p:nvSpPr>
        <p:spPr>
          <a:xfrm>
            <a:off x="4337304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act 2"/>
          <p:cNvSpPr txBox="1"/>
          <p:nvPr/>
        </p:nvSpPr>
        <p:spPr>
          <a:xfrm>
            <a:off x="4611624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Сверточный блок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Свёртка 3 × 3 → BatchNorm → ReLU → MaxPool</a:t>
            </a:r>
          </a:p>
        </p:txBody>
      </p:sp>
      <p:sp>
        <p:nvSpPr>
          <p:cNvPr id="51" name="Fact 3 card"/>
          <p:cNvSpPr/>
          <p:nvPr/>
        </p:nvSpPr>
        <p:spPr>
          <a:xfrm>
            <a:off x="8125968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act 3"/>
          <p:cNvSpPr txBox="1"/>
          <p:nvPr/>
        </p:nvSpPr>
        <p:spPr>
          <a:xfrm>
            <a:off x="8400288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422 тыс. параметров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Компактная модель: файл весит всего 1.7 МБ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Как обучалась модель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04 · ОБУЧЕНИЕ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05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ugment original" descr="Исходный обучающи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2743200" cy="2743200"/>
          </a:xfrm>
          <a:prstGeom prst="roundRect">
            <a:avLst>
              <a:gd name="adj" fmla="val 4000"/>
            </a:avLst>
          </a:prstGeom>
        </p:spPr>
      </p:pic>
      <p:pic>
        <p:nvPicPr>
          <p:cNvPr id="17" name="Augment 1" descr="Вариант аугментации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1600200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18" name="Augment 2" descr="Вариант аугментации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1600200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19" name="Augment 3" descr="Вариант аугментации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40" y="3044952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20" name="Augment 4" descr="Вариант аугментации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5192" y="3044952"/>
            <a:ext cx="1298448" cy="1298448"/>
          </a:xfrm>
          <a:prstGeom prst="roundRect">
            <a:avLst>
              <a:gd name="adj" fmla="val 4000"/>
            </a:avLst>
          </a:prstGeom>
        </p:spPr>
      </p:pic>
      <p:sp>
        <p:nvSpPr>
          <p:cNvPr id="21" name="Augment caption original"/>
          <p:cNvSpPr txBox="1"/>
          <p:nvPr/>
        </p:nvSpPr>
        <p:spPr>
          <a:xfrm>
            <a:off x="548640" y="44805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Исходный снимок</a:t>
            </a:r>
          </a:p>
        </p:txBody>
      </p:sp>
      <p:sp>
        <p:nvSpPr>
          <p:cNvPr id="22" name="Augment caption variants"/>
          <p:cNvSpPr txBox="1"/>
          <p:nvPr/>
        </p:nvSpPr>
        <p:spPr>
          <a:xfrm>
            <a:off x="3520440" y="44805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Варианты для обучения</a:t>
            </a:r>
          </a:p>
        </p:txBody>
      </p:sp>
      <p:sp>
        <p:nvSpPr>
          <p:cNvPr id="23" name="Augment note"/>
          <p:cNvSpPr txBox="1"/>
          <p:nvPr/>
        </p:nvSpPr>
        <p:spPr>
          <a:xfrm>
            <a:off x="548640" y="5029200"/>
            <a:ext cx="5715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EEF0F3"/>
                </a:solidFill>
                <a:latin typeface="Segoe UI"/>
              </a:rPr>
              <a:t>При обучении снимки случайно поворачиваются, сдвигаются и обрезаются, меняются яркость и контраст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EEF0F3"/>
                </a:solidFill>
                <a:latin typeface="Segoe UI"/>
              </a:rPr>
              <a:t>Так модель учится обобщать, а не запоминать</a:t>
            </a:r>
          </a:p>
        </p:txBody>
      </p:sp>
      <p:sp>
        <p:nvSpPr>
          <p:cNvPr id="24" name="Settings card"/>
          <p:cNvSpPr/>
          <p:nvPr/>
        </p:nvSpPr>
        <p:spPr>
          <a:xfrm>
            <a:off x="6675120" y="1600200"/>
            <a:ext cx="4965192" cy="45262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Setting 1 icon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1837943"/>
            <a:ext cx="237744" cy="237744"/>
          </a:xfrm>
          <a:prstGeom prst="rect">
            <a:avLst/>
          </a:prstGeom>
        </p:spPr>
      </p:pic>
      <p:sp>
        <p:nvSpPr>
          <p:cNvPr id="26" name="Setting 1 label"/>
          <p:cNvSpPr txBox="1"/>
          <p:nvPr/>
        </p:nvSpPr>
        <p:spPr>
          <a:xfrm>
            <a:off x="7333488" y="18288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Разбиение</a:t>
            </a:r>
          </a:p>
        </p:txBody>
      </p:sp>
      <p:sp>
        <p:nvSpPr>
          <p:cNvPr id="27" name="Setting 1 value"/>
          <p:cNvSpPr txBox="1"/>
          <p:nvPr/>
        </p:nvSpPr>
        <p:spPr>
          <a:xfrm>
            <a:off x="8732520" y="182880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4 433 снимка для обучения и 783 для валидации</a:t>
            </a:r>
          </a:p>
        </p:txBody>
      </p:sp>
      <p:pic>
        <p:nvPicPr>
          <p:cNvPr id="28" name="Setting 2 ic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2532887"/>
            <a:ext cx="237744" cy="237744"/>
          </a:xfrm>
          <a:prstGeom prst="rect">
            <a:avLst/>
          </a:prstGeom>
        </p:spPr>
      </p:pic>
      <p:sp>
        <p:nvSpPr>
          <p:cNvPr id="29" name="Setting 2 label"/>
          <p:cNvSpPr txBox="1"/>
          <p:nvPr/>
        </p:nvSpPr>
        <p:spPr>
          <a:xfrm>
            <a:off x="7333488" y="2523744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Баланс классов</a:t>
            </a:r>
          </a:p>
        </p:txBody>
      </p:sp>
      <p:sp>
        <p:nvSpPr>
          <p:cNvPr id="30" name="Setting 2 value"/>
          <p:cNvSpPr txBox="1"/>
          <p:nvPr/>
        </p:nvSpPr>
        <p:spPr>
          <a:xfrm>
            <a:off x="8732520" y="252374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вес пневмонии 0.35 уравнивает классы</a:t>
            </a:r>
          </a:p>
        </p:txBody>
      </p:sp>
      <p:pic>
        <p:nvPicPr>
          <p:cNvPr id="31" name="Setting 3 icon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9440" y="3227832"/>
            <a:ext cx="237744" cy="237744"/>
          </a:xfrm>
          <a:prstGeom prst="rect">
            <a:avLst/>
          </a:prstGeom>
        </p:spPr>
      </p:pic>
      <p:sp>
        <p:nvSpPr>
          <p:cNvPr id="32" name="Setting 3 label"/>
          <p:cNvSpPr txBox="1"/>
          <p:nvPr/>
        </p:nvSpPr>
        <p:spPr>
          <a:xfrm>
            <a:off x="7333488" y="3218688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Оптимизатор</a:t>
            </a:r>
          </a:p>
        </p:txBody>
      </p:sp>
      <p:sp>
        <p:nvSpPr>
          <p:cNvPr id="33" name="Setting 3 value"/>
          <p:cNvSpPr txBox="1"/>
          <p:nvPr/>
        </p:nvSpPr>
        <p:spPr>
          <a:xfrm>
            <a:off x="8732520" y="321868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AdamW + OneCycle, шаг до 10⁻³</a:t>
            </a:r>
          </a:p>
        </p:txBody>
      </p:sp>
      <p:pic>
        <p:nvPicPr>
          <p:cNvPr id="34" name="Setting 4 icon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49440" y="3922776"/>
            <a:ext cx="237744" cy="237744"/>
          </a:xfrm>
          <a:prstGeom prst="rect">
            <a:avLst/>
          </a:prstGeom>
        </p:spPr>
      </p:pic>
      <p:sp>
        <p:nvSpPr>
          <p:cNvPr id="35" name="Setting 4 label"/>
          <p:cNvSpPr txBox="1"/>
          <p:nvPr/>
        </p:nvSpPr>
        <p:spPr>
          <a:xfrm>
            <a:off x="7333488" y="3913632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Ускорение</a:t>
            </a:r>
          </a:p>
        </p:txBody>
      </p:sp>
      <p:sp>
        <p:nvSpPr>
          <p:cNvPr id="36" name="Setting 4 value"/>
          <p:cNvSpPr txBox="1"/>
          <p:nvPr/>
        </p:nvSpPr>
        <p:spPr>
          <a:xfrm>
            <a:off x="8732520" y="3913632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смешанная точность на GPU RTX 3080 Ti</a:t>
            </a:r>
          </a:p>
        </p:txBody>
      </p:sp>
      <p:pic>
        <p:nvPicPr>
          <p:cNvPr id="37" name="Setting 5 icon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0" y="4617720"/>
            <a:ext cx="237744" cy="237744"/>
          </a:xfrm>
          <a:prstGeom prst="rect">
            <a:avLst/>
          </a:prstGeom>
        </p:spPr>
      </p:pic>
      <p:sp>
        <p:nvSpPr>
          <p:cNvPr id="38" name="Setting 5 label"/>
          <p:cNvSpPr txBox="1"/>
          <p:nvPr/>
        </p:nvSpPr>
        <p:spPr>
          <a:xfrm>
            <a:off x="7333488" y="4608576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Эпохи</a:t>
            </a:r>
          </a:p>
        </p:txBody>
      </p:sp>
      <p:sp>
        <p:nvSpPr>
          <p:cNvPr id="39" name="Setting 5 value"/>
          <p:cNvSpPr txBox="1"/>
          <p:nvPr/>
        </p:nvSpPr>
        <p:spPr>
          <a:xfrm>
            <a:off x="8732520" y="4608576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лучшая 34-я из 40 с точностью 96.0%</a:t>
            </a:r>
          </a:p>
        </p:txBody>
      </p:sp>
      <p:pic>
        <p:nvPicPr>
          <p:cNvPr id="40" name="Setting 6 icon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9440" y="5312664"/>
            <a:ext cx="237744" cy="237744"/>
          </a:xfrm>
          <a:prstGeom prst="rect">
            <a:avLst/>
          </a:prstGeom>
        </p:spPr>
      </p:pic>
      <p:sp>
        <p:nvSpPr>
          <p:cNvPr id="41" name="Setting 6 label"/>
          <p:cNvSpPr txBox="1"/>
          <p:nvPr/>
        </p:nvSpPr>
        <p:spPr>
          <a:xfrm>
            <a:off x="7333488" y="530352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Порог</a:t>
            </a:r>
          </a:p>
        </p:txBody>
      </p:sp>
      <p:sp>
        <p:nvSpPr>
          <p:cNvPr id="42" name="Setting 6 value"/>
          <p:cNvSpPr txBox="1"/>
          <p:nvPr/>
        </p:nvSpPr>
        <p:spPr>
          <a:xfrm>
            <a:off x="8732520" y="530352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0.22 по индексу Юдена на валидации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Результаты на 624 новых снимках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05 · РЕЗУЛЬТАТЫ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06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etric 1 card"/>
          <p:cNvSpPr/>
          <p:nvPr/>
        </p:nvSpPr>
        <p:spPr>
          <a:xfrm>
            <a:off x="548640" y="160020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etric 1 circle"/>
          <p:cNvSpPr/>
          <p:nvPr/>
        </p:nvSpPr>
        <p:spPr>
          <a:xfrm>
            <a:off x="2688336" y="180136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Metric 1 icon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460" y="1885492"/>
            <a:ext cx="252374" cy="252374"/>
          </a:xfrm>
          <a:prstGeom prst="rect">
            <a:avLst/>
          </a:prstGeom>
        </p:spPr>
      </p:pic>
      <p:sp>
        <p:nvSpPr>
          <p:cNvPr id="19" name="Metric 1 label"/>
          <p:cNvSpPr txBox="1"/>
          <p:nvPr/>
        </p:nvSpPr>
        <p:spPr>
          <a:xfrm>
            <a:off x="822959" y="1856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20" name="Metric 1 value"/>
          <p:cNvSpPr txBox="1"/>
          <p:nvPr/>
        </p:nvSpPr>
        <p:spPr>
          <a:xfrm>
            <a:off x="822959" y="216712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4F8CFF"/>
                </a:solidFill>
                <a:latin typeface="Segoe UI Semibold"/>
              </a:rPr>
              <a:t>0.971</a:t>
            </a:r>
          </a:p>
        </p:txBody>
      </p:sp>
      <p:sp>
        <p:nvSpPr>
          <p:cNvPr id="21" name="Metric 1 note"/>
          <p:cNvSpPr txBox="1"/>
          <p:nvPr/>
        </p:nvSpPr>
        <p:spPr>
          <a:xfrm>
            <a:off x="822959" y="2971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качество разделения классов из 1.0 возможных</a:t>
            </a:r>
          </a:p>
        </p:txBody>
      </p:sp>
      <p:sp>
        <p:nvSpPr>
          <p:cNvPr id="22" name="Metric 2 card"/>
          <p:cNvSpPr/>
          <p:nvPr/>
        </p:nvSpPr>
        <p:spPr>
          <a:xfrm>
            <a:off x="3566160" y="160020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etric 2 circle"/>
          <p:cNvSpPr/>
          <p:nvPr/>
        </p:nvSpPr>
        <p:spPr>
          <a:xfrm>
            <a:off x="5705856" y="180136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Metric 2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980" y="1885492"/>
            <a:ext cx="252374" cy="252374"/>
          </a:xfrm>
          <a:prstGeom prst="rect">
            <a:avLst/>
          </a:prstGeom>
        </p:spPr>
      </p:pic>
      <p:sp>
        <p:nvSpPr>
          <p:cNvPr id="25" name="Metric 2 label"/>
          <p:cNvSpPr txBox="1"/>
          <p:nvPr/>
        </p:nvSpPr>
        <p:spPr>
          <a:xfrm>
            <a:off x="3840480" y="1856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Точность</a:t>
            </a:r>
          </a:p>
        </p:txBody>
      </p:sp>
      <p:sp>
        <p:nvSpPr>
          <p:cNvPr id="26" name="Metric 2 value"/>
          <p:cNvSpPr txBox="1"/>
          <p:nvPr/>
        </p:nvSpPr>
        <p:spPr>
          <a:xfrm>
            <a:off x="3840480" y="216712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EEF0F3"/>
                </a:solidFill>
                <a:latin typeface="Segoe UI Semibold"/>
              </a:rPr>
              <a:t>88.1%</a:t>
            </a:r>
          </a:p>
        </p:txBody>
      </p:sp>
      <p:sp>
        <p:nvSpPr>
          <p:cNvPr id="27" name="Metric 2 note"/>
          <p:cNvSpPr txBox="1"/>
          <p:nvPr/>
        </p:nvSpPr>
        <p:spPr>
          <a:xfrm>
            <a:off x="3840480" y="2971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550 из 624 снимков определены верно</a:t>
            </a:r>
          </a:p>
        </p:txBody>
      </p:sp>
      <p:sp>
        <p:nvSpPr>
          <p:cNvPr id="28" name="Metric 3 card"/>
          <p:cNvSpPr/>
          <p:nvPr/>
        </p:nvSpPr>
        <p:spPr>
          <a:xfrm>
            <a:off x="548640" y="393192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etric 3 circle"/>
          <p:cNvSpPr/>
          <p:nvPr/>
        </p:nvSpPr>
        <p:spPr>
          <a:xfrm>
            <a:off x="2688336" y="413308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Metric 3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460" y="4217212"/>
            <a:ext cx="252374" cy="252374"/>
          </a:xfrm>
          <a:prstGeom prst="rect">
            <a:avLst/>
          </a:prstGeom>
        </p:spPr>
      </p:pic>
      <p:sp>
        <p:nvSpPr>
          <p:cNvPr id="31" name="Metric 3 label"/>
          <p:cNvSpPr txBox="1"/>
          <p:nvPr/>
        </p:nvSpPr>
        <p:spPr>
          <a:xfrm>
            <a:off x="822959" y="4187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Чувствительность</a:t>
            </a:r>
          </a:p>
        </p:txBody>
      </p:sp>
      <p:sp>
        <p:nvSpPr>
          <p:cNvPr id="32" name="Metric 3 value"/>
          <p:cNvSpPr txBox="1"/>
          <p:nvPr/>
        </p:nvSpPr>
        <p:spPr>
          <a:xfrm>
            <a:off x="822959" y="44988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34C47C"/>
                </a:solidFill>
                <a:latin typeface="Segoe UI Semibold"/>
              </a:rPr>
              <a:t>99.0%</a:t>
            </a:r>
          </a:p>
        </p:txBody>
      </p:sp>
      <p:sp>
        <p:nvSpPr>
          <p:cNvPr id="33" name="Metric 3 note"/>
          <p:cNvSpPr txBox="1"/>
          <p:nvPr/>
        </p:nvSpPr>
        <p:spPr>
          <a:xfrm>
            <a:off x="822959" y="5303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найдено 386 из 390 пневмоний</a:t>
            </a:r>
          </a:p>
        </p:txBody>
      </p:sp>
      <p:sp>
        <p:nvSpPr>
          <p:cNvPr id="34" name="Metric 4 card"/>
          <p:cNvSpPr/>
          <p:nvPr/>
        </p:nvSpPr>
        <p:spPr>
          <a:xfrm>
            <a:off x="3566160" y="393192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etric 4 circle"/>
          <p:cNvSpPr/>
          <p:nvPr/>
        </p:nvSpPr>
        <p:spPr>
          <a:xfrm>
            <a:off x="5705856" y="413308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Metric 4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9980" y="4217212"/>
            <a:ext cx="252374" cy="252374"/>
          </a:xfrm>
          <a:prstGeom prst="rect">
            <a:avLst/>
          </a:prstGeom>
        </p:spPr>
      </p:pic>
      <p:sp>
        <p:nvSpPr>
          <p:cNvPr id="37" name="Metric 4 label"/>
          <p:cNvSpPr txBox="1"/>
          <p:nvPr/>
        </p:nvSpPr>
        <p:spPr>
          <a:xfrm>
            <a:off x="3840480" y="4187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Специфичность</a:t>
            </a:r>
          </a:p>
        </p:txBody>
      </p:sp>
      <p:sp>
        <p:nvSpPr>
          <p:cNvPr id="38" name="Metric 4 value"/>
          <p:cNvSpPr txBox="1"/>
          <p:nvPr/>
        </p:nvSpPr>
        <p:spPr>
          <a:xfrm>
            <a:off x="3840480" y="44988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EEF0F3"/>
                </a:solidFill>
                <a:latin typeface="Segoe UI Semibold"/>
              </a:rPr>
              <a:t>70.1%</a:t>
            </a:r>
          </a:p>
        </p:txBody>
      </p:sp>
      <p:sp>
        <p:nvSpPr>
          <p:cNvPr id="39" name="Metric 4 note"/>
          <p:cNvSpPr txBox="1"/>
          <p:nvPr/>
        </p:nvSpPr>
        <p:spPr>
          <a:xfrm>
            <a:off x="3840480" y="5303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164 из 234 здоровых распознаны верно</a:t>
            </a:r>
          </a:p>
        </p:txBody>
      </p:sp>
      <p:sp>
        <p:nvSpPr>
          <p:cNvPr id="40" name="Confusion card"/>
          <p:cNvSpPr/>
          <p:nvPr/>
        </p:nvSpPr>
        <p:spPr>
          <a:xfrm>
            <a:off x="6675120" y="1600200"/>
            <a:ext cx="4965192" cy="44805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onfusion title"/>
          <p:cNvSpPr txBox="1"/>
          <p:nvPr/>
        </p:nvSpPr>
        <p:spPr>
          <a:xfrm>
            <a:off x="6949440" y="18105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EEF0F3"/>
                </a:solidFill>
                <a:latin typeface="Segoe UI Semibold"/>
              </a:rPr>
              <a:t>Матрица ошибок</a:t>
            </a:r>
          </a:p>
        </p:txBody>
      </p:sp>
      <p:sp>
        <p:nvSpPr>
          <p:cNvPr id="42" name="Predicted header"/>
          <p:cNvSpPr txBox="1"/>
          <p:nvPr/>
        </p:nvSpPr>
        <p:spPr>
          <a:xfrm>
            <a:off x="8366760" y="22860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spc="100">
                <a:solidFill>
                  <a:srgbClr val="6E7688"/>
                </a:solidFill>
                <a:latin typeface="Segoe UI Semibold"/>
              </a:rPr>
              <a:t>ПРЕДСКАЗАНИЕ МОДЕЛИ</a:t>
            </a:r>
          </a:p>
        </p:txBody>
      </p:sp>
      <p:sp>
        <p:nvSpPr>
          <p:cNvPr id="43" name="Col 1"/>
          <p:cNvSpPr txBox="1"/>
          <p:nvPr/>
        </p:nvSpPr>
        <p:spPr>
          <a:xfrm>
            <a:off x="836676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Норма</a:t>
            </a:r>
          </a:p>
        </p:txBody>
      </p:sp>
      <p:sp>
        <p:nvSpPr>
          <p:cNvPr id="44" name="Row 1"/>
          <p:cNvSpPr txBox="1"/>
          <p:nvPr/>
        </p:nvSpPr>
        <p:spPr>
          <a:xfrm>
            <a:off x="6949440" y="338328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EF0F3"/>
                </a:solidFill>
                <a:latin typeface="Segoe UI"/>
              </a:rPr>
              <a:t>Норма</a:t>
            </a:r>
          </a:p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реально</a:t>
            </a:r>
          </a:p>
        </p:txBody>
      </p:sp>
      <p:sp>
        <p:nvSpPr>
          <p:cNvPr id="45" name="Col 2"/>
          <p:cNvSpPr txBox="1"/>
          <p:nvPr/>
        </p:nvSpPr>
        <p:spPr>
          <a:xfrm>
            <a:off x="992124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Пневмония</a:t>
            </a:r>
          </a:p>
        </p:txBody>
      </p:sp>
      <p:sp>
        <p:nvSpPr>
          <p:cNvPr id="46" name="Row 2"/>
          <p:cNvSpPr txBox="1"/>
          <p:nvPr/>
        </p:nvSpPr>
        <p:spPr>
          <a:xfrm>
            <a:off x="6949440" y="484632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EF0F3"/>
                </a:solidFill>
                <a:latin typeface="Segoe UI"/>
              </a:rPr>
              <a:t>Пневмония</a:t>
            </a:r>
          </a:p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реально</a:t>
            </a:r>
          </a:p>
        </p:txBody>
      </p:sp>
      <p:sp>
        <p:nvSpPr>
          <p:cNvPr id="47" name="Cell 11"/>
          <p:cNvSpPr/>
          <p:nvPr/>
        </p:nvSpPr>
        <p:spPr>
          <a:xfrm>
            <a:off x="8366760" y="2971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ell 11 value"/>
          <p:cNvSpPr txBox="1"/>
          <p:nvPr/>
        </p:nvSpPr>
        <p:spPr>
          <a:xfrm>
            <a:off x="8366760" y="3200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34C47C"/>
                </a:solidFill>
                <a:latin typeface="Segoe UI Semibold"/>
              </a:rPr>
              <a:t>164</a:t>
            </a:r>
          </a:p>
        </p:txBody>
      </p:sp>
      <p:sp>
        <p:nvSpPr>
          <p:cNvPr id="49" name="Cell 11 label"/>
          <p:cNvSpPr txBox="1"/>
          <p:nvPr/>
        </p:nvSpPr>
        <p:spPr>
          <a:xfrm>
            <a:off x="836676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верно</a:t>
            </a:r>
          </a:p>
        </p:txBody>
      </p:sp>
      <p:sp>
        <p:nvSpPr>
          <p:cNvPr id="50" name="Cell 12"/>
          <p:cNvSpPr/>
          <p:nvPr/>
        </p:nvSpPr>
        <p:spPr>
          <a:xfrm>
            <a:off x="9921240" y="2971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3A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ell 12 value"/>
          <p:cNvSpPr txBox="1"/>
          <p:nvPr/>
        </p:nvSpPr>
        <p:spPr>
          <a:xfrm>
            <a:off x="9921240" y="3200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F0565B"/>
                </a:solidFill>
                <a:latin typeface="Segoe UI Semibold"/>
              </a:rPr>
              <a:t>70</a:t>
            </a:r>
          </a:p>
        </p:txBody>
      </p:sp>
      <p:sp>
        <p:nvSpPr>
          <p:cNvPr id="52" name="Cell 12 label"/>
          <p:cNvSpPr txBox="1"/>
          <p:nvPr/>
        </p:nvSpPr>
        <p:spPr>
          <a:xfrm>
            <a:off x="992124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ложная тревога</a:t>
            </a:r>
          </a:p>
        </p:txBody>
      </p:sp>
      <p:sp>
        <p:nvSpPr>
          <p:cNvPr id="53" name="Cell 21"/>
          <p:cNvSpPr/>
          <p:nvPr/>
        </p:nvSpPr>
        <p:spPr>
          <a:xfrm>
            <a:off x="8366760" y="443484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3A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ell 21 value"/>
          <p:cNvSpPr txBox="1"/>
          <p:nvPr/>
        </p:nvSpPr>
        <p:spPr>
          <a:xfrm>
            <a:off x="8366760" y="46634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F0565B"/>
                </a:solidFill>
                <a:latin typeface="Segoe UI Semibold"/>
              </a:rPr>
              <a:t>4</a:t>
            </a:r>
          </a:p>
        </p:txBody>
      </p:sp>
      <p:sp>
        <p:nvSpPr>
          <p:cNvPr id="55" name="Cell 21 label"/>
          <p:cNvSpPr txBox="1"/>
          <p:nvPr/>
        </p:nvSpPr>
        <p:spPr>
          <a:xfrm>
            <a:off x="8366760" y="5257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пропуск</a:t>
            </a:r>
          </a:p>
        </p:txBody>
      </p:sp>
      <p:sp>
        <p:nvSpPr>
          <p:cNvPr id="56" name="Cell 22"/>
          <p:cNvSpPr/>
          <p:nvPr/>
        </p:nvSpPr>
        <p:spPr>
          <a:xfrm>
            <a:off x="9921240" y="443484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ell 22 value"/>
          <p:cNvSpPr txBox="1"/>
          <p:nvPr/>
        </p:nvSpPr>
        <p:spPr>
          <a:xfrm>
            <a:off x="9921240" y="46634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34C47C"/>
                </a:solidFill>
                <a:latin typeface="Segoe UI Semibold"/>
              </a:rPr>
              <a:t>386</a:t>
            </a:r>
          </a:p>
        </p:txBody>
      </p:sp>
      <p:sp>
        <p:nvSpPr>
          <p:cNvPr id="58" name="Cell 22 label"/>
          <p:cNvSpPr txBox="1"/>
          <p:nvPr/>
        </p:nvSpPr>
        <p:spPr>
          <a:xfrm>
            <a:off x="9921240" y="5257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верно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Тепловая карта: куда смотрит модель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06 · ОБЪЯСНИМОСТЬ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07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Grad-CAM original" descr="Исходный снимок с пневмонией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3886200" cy="2677472"/>
          </a:xfrm>
          <a:prstGeom prst="roundRect">
            <a:avLst>
              <a:gd name="adj" fmla="val 4000"/>
            </a:avLst>
          </a:prstGeom>
        </p:spPr>
      </p:pic>
      <p:pic>
        <p:nvPicPr>
          <p:cNvPr id="17" name="Grad-CAM heatmap" descr="Тот же снимок с тепловой картой Grad-C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59" y="1600200"/>
            <a:ext cx="3886200" cy="2677472"/>
          </a:xfrm>
          <a:prstGeom prst="roundRect">
            <a:avLst>
              <a:gd name="adj" fmla="val 4000"/>
            </a:avLst>
          </a:prstGeom>
        </p:spPr>
      </p:pic>
      <p:sp>
        <p:nvSpPr>
          <p:cNvPr id="18" name="Caption original"/>
          <p:cNvSpPr txBox="1"/>
          <p:nvPr/>
        </p:nvSpPr>
        <p:spPr>
          <a:xfrm>
            <a:off x="548640" y="441483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A3ABBA"/>
                </a:solidFill>
                <a:latin typeface="Segoe UI"/>
              </a:rPr>
              <a:t>Исходный снимок</a:t>
            </a:r>
          </a:p>
        </p:txBody>
      </p:sp>
      <p:sp>
        <p:nvSpPr>
          <p:cNvPr id="19" name="Caption heatmap"/>
          <p:cNvSpPr txBox="1"/>
          <p:nvPr/>
        </p:nvSpPr>
        <p:spPr>
          <a:xfrm>
            <a:off x="4709159" y="441483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A3ABBA"/>
                </a:solidFill>
                <a:latin typeface="Segoe UI"/>
              </a:rPr>
              <a:t>Тепловая карта · пневмония 99.6%</a:t>
            </a:r>
          </a:p>
        </p:txBody>
      </p:sp>
      <p:pic>
        <p:nvPicPr>
          <p:cNvPr id="20" name="Colorbar" descr="Цветовая шкала: от синего к красному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54912"/>
            <a:ext cx="8046720" cy="182880"/>
          </a:xfrm>
          <a:prstGeom prst="roundRect">
            <a:avLst>
              <a:gd name="adj" fmla="val 50000"/>
            </a:avLst>
          </a:prstGeom>
        </p:spPr>
      </p:pic>
      <p:sp>
        <p:nvSpPr>
          <p:cNvPr id="21" name="Colorbar low"/>
          <p:cNvSpPr txBox="1"/>
          <p:nvPr/>
        </p:nvSpPr>
        <p:spPr>
          <a:xfrm>
            <a:off x="548640" y="5347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слабое влияние</a:t>
            </a:r>
          </a:p>
        </p:txBody>
      </p:sp>
      <p:sp>
        <p:nvSpPr>
          <p:cNvPr id="22" name="Colorbar high"/>
          <p:cNvSpPr txBox="1"/>
          <p:nvPr/>
        </p:nvSpPr>
        <p:spPr>
          <a:xfrm>
            <a:off x="5852160" y="5347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>
                <a:solidFill>
                  <a:srgbClr val="A3ABBA"/>
                </a:solidFill>
                <a:latin typeface="Segoe UI"/>
              </a:rPr>
              <a:t>сильное влияние</a:t>
            </a:r>
          </a:p>
        </p:txBody>
      </p:sp>
      <p:sp>
        <p:nvSpPr>
          <p:cNvPr id="23" name="Point 1 marker"/>
          <p:cNvSpPr/>
          <p:nvPr/>
        </p:nvSpPr>
        <p:spPr>
          <a:xfrm>
            <a:off x="8915400" y="161848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4" name="Point 1"/>
          <p:cNvSpPr txBox="1"/>
          <p:nvPr/>
        </p:nvSpPr>
        <p:spPr>
          <a:xfrm>
            <a:off x="9445752" y="160020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Grad-CAM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карта строится по градиентам последнего сверточного блока</a:t>
            </a:r>
          </a:p>
        </p:txBody>
      </p:sp>
      <p:sp>
        <p:nvSpPr>
          <p:cNvPr id="25" name="Point 2 marker"/>
          <p:cNvSpPr/>
          <p:nvPr/>
        </p:nvSpPr>
        <p:spPr>
          <a:xfrm>
            <a:off x="8915400" y="308152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Point 2"/>
          <p:cNvSpPr txBox="1"/>
          <p:nvPr/>
        </p:nvSpPr>
        <p:spPr>
          <a:xfrm>
            <a:off x="9445752" y="306324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Красные зоны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сильнее всего повлияли на решение «пневмония»</a:t>
            </a:r>
          </a:p>
        </p:txBody>
      </p:sp>
      <p:sp>
        <p:nvSpPr>
          <p:cNvPr id="27" name="Point 3 marker"/>
          <p:cNvSpPr/>
          <p:nvPr/>
        </p:nvSpPr>
        <p:spPr>
          <a:xfrm>
            <a:off x="8915400" y="454456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8" name="Point 3"/>
          <p:cNvSpPr txBox="1"/>
          <p:nvPr/>
        </p:nvSpPr>
        <p:spPr>
          <a:xfrm>
            <a:off x="9445752" y="452628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Проверка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видно, что модель смотрит на лёгкие, а не на надписи и рамки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Приложение PneumoScan для Windows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07 · ПРИЛОЖЕНИЕ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08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pp screenshot" descr="Главное окно PneumoScan с пронумерованными зонами интерфейс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7635240" cy="4603601"/>
          </a:xfrm>
          <a:prstGeom prst="roundRect">
            <a:avLst>
              <a:gd name="adj" fmla="val 20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7" name="Marker 1"/>
          <p:cNvSpPr/>
          <p:nvPr/>
        </p:nvSpPr>
        <p:spPr>
          <a:xfrm>
            <a:off x="4438360" y="1626470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8" name="Marker 2"/>
          <p:cNvSpPr/>
          <p:nvPr/>
        </p:nvSpPr>
        <p:spPr>
          <a:xfrm>
            <a:off x="2025624" y="2046367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9" name="Marker 3"/>
          <p:cNvSpPr/>
          <p:nvPr/>
        </p:nvSpPr>
        <p:spPr>
          <a:xfrm>
            <a:off x="2376845" y="2397554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0" name="Marker 4"/>
          <p:cNvSpPr/>
          <p:nvPr/>
        </p:nvSpPr>
        <p:spPr>
          <a:xfrm>
            <a:off x="5957773" y="2344112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Marker 5"/>
          <p:cNvSpPr/>
          <p:nvPr/>
        </p:nvSpPr>
        <p:spPr>
          <a:xfrm>
            <a:off x="5957773" y="3447297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2" name="Legend 1 marker"/>
          <p:cNvSpPr/>
          <p:nvPr/>
        </p:nvSpPr>
        <p:spPr>
          <a:xfrm>
            <a:off x="8778240" y="16642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3" name="Legend 1"/>
          <p:cNvSpPr txBox="1"/>
          <p:nvPr/>
        </p:nvSpPr>
        <p:spPr>
          <a:xfrm>
            <a:off x="9308592" y="16459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Загрузка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файлы и папки, перетаскивание, экспорт отчёта</a:t>
            </a:r>
          </a:p>
        </p:txBody>
      </p:sp>
      <p:sp>
        <p:nvSpPr>
          <p:cNvPr id="24" name="Legend 2 marker"/>
          <p:cNvSpPr/>
          <p:nvPr/>
        </p:nvSpPr>
        <p:spPr>
          <a:xfrm>
            <a:off x="8778240" y="25786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Legend 2"/>
          <p:cNvSpPr txBox="1"/>
          <p:nvPr/>
        </p:nvSpPr>
        <p:spPr>
          <a:xfrm>
            <a:off x="9308592" y="25603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Список исследований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миниатюры, метки и вероятности</a:t>
            </a:r>
          </a:p>
        </p:txBody>
      </p:sp>
      <p:sp>
        <p:nvSpPr>
          <p:cNvPr id="26" name="Legend 3 marker"/>
          <p:cNvSpPr/>
          <p:nvPr/>
        </p:nvSpPr>
        <p:spPr>
          <a:xfrm>
            <a:off x="8778240" y="34930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7" name="Legend 3"/>
          <p:cNvSpPr txBox="1"/>
          <p:nvPr/>
        </p:nvSpPr>
        <p:spPr>
          <a:xfrm>
            <a:off x="9308592" y="34747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Снимок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оригинал или тепловая карта</a:t>
            </a:r>
          </a:p>
        </p:txBody>
      </p:sp>
      <p:sp>
        <p:nvSpPr>
          <p:cNvPr id="28" name="Legend 4 marker"/>
          <p:cNvSpPr/>
          <p:nvPr/>
        </p:nvSpPr>
        <p:spPr>
          <a:xfrm>
            <a:off x="8778240" y="4407407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Legend 4"/>
          <p:cNvSpPr txBox="1"/>
          <p:nvPr/>
        </p:nvSpPr>
        <p:spPr>
          <a:xfrm>
            <a:off x="9308592" y="43891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Вердикт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Normal / Pneumonia и вероятность</a:t>
            </a:r>
          </a:p>
        </p:txBody>
      </p:sp>
      <p:sp>
        <p:nvSpPr>
          <p:cNvPr id="30" name="Legend 5 marker"/>
          <p:cNvSpPr/>
          <p:nvPr/>
        </p:nvSpPr>
        <p:spPr>
          <a:xfrm>
            <a:off x="8778240" y="5321807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Legend 5"/>
          <p:cNvSpPr txBox="1"/>
          <p:nvPr/>
        </p:nvSpPr>
        <p:spPr>
          <a:xfrm>
            <a:off x="9308592" y="53035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Порог решения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ползунок, всё пересчитывается сразу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Возможности приложения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08 · ФУНКЦИИ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09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73505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pp normal screenshot" descr="PneumoScan: здоровый снимок, вердикт «Normal», вероятность пневмонии 0.9%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5852160" cy="3528508"/>
          </a:xfrm>
          <a:prstGeom prst="roundRect">
            <a:avLst>
              <a:gd name="adj" fmla="val 20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7" name="Screenshot caption"/>
          <p:cNvSpPr txBox="1"/>
          <p:nvPr/>
        </p:nvSpPr>
        <p:spPr>
          <a:xfrm>
            <a:off x="548640" y="5357308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Здоровый снимок: вероятность пневмонии 0.9% → «Normal»</a:t>
            </a:r>
          </a:p>
        </p:txBody>
      </p:sp>
      <p:sp>
        <p:nvSpPr>
          <p:cNvPr id="18" name="Feature 1 card"/>
          <p:cNvSpPr/>
          <p:nvPr/>
        </p:nvSpPr>
        <p:spPr>
          <a:xfrm>
            <a:off x="6675120" y="1600200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eature 1 circle"/>
          <p:cNvSpPr/>
          <p:nvPr/>
        </p:nvSpPr>
        <p:spPr>
          <a:xfrm>
            <a:off x="6876288" y="1764792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Feature 1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097" y="1841601"/>
            <a:ext cx="230428" cy="230428"/>
          </a:xfrm>
          <a:prstGeom prst="rect">
            <a:avLst/>
          </a:prstGeom>
        </p:spPr>
      </p:pic>
      <p:sp>
        <p:nvSpPr>
          <p:cNvPr id="21" name="Feature 1"/>
          <p:cNvSpPr txBox="1"/>
          <p:nvPr/>
        </p:nvSpPr>
        <p:spPr>
          <a:xfrm>
            <a:off x="6876288" y="2203704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Пакетная обработка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много снимков в фоне без зависаний</a:t>
            </a:r>
          </a:p>
        </p:txBody>
      </p:sp>
      <p:sp>
        <p:nvSpPr>
          <p:cNvPr id="22" name="Feature 2 card"/>
          <p:cNvSpPr/>
          <p:nvPr/>
        </p:nvSpPr>
        <p:spPr>
          <a:xfrm>
            <a:off x="9294876" y="1600200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eature 2 circle"/>
          <p:cNvSpPr/>
          <p:nvPr/>
        </p:nvSpPr>
        <p:spPr>
          <a:xfrm>
            <a:off x="9496044" y="1764792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Feature 2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2853" y="1841601"/>
            <a:ext cx="230428" cy="230428"/>
          </a:xfrm>
          <a:prstGeom prst="rect">
            <a:avLst/>
          </a:prstGeom>
        </p:spPr>
      </p:pic>
      <p:sp>
        <p:nvSpPr>
          <p:cNvPr id="25" name="Feature 2"/>
          <p:cNvSpPr txBox="1"/>
          <p:nvPr/>
        </p:nvSpPr>
        <p:spPr>
          <a:xfrm>
            <a:off x="9496044" y="2203704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Перетаскивание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можно бросить в окно файлы или целую папку</a:t>
            </a:r>
          </a:p>
        </p:txBody>
      </p:sp>
      <p:sp>
        <p:nvSpPr>
          <p:cNvPr id="26" name="Feature 3 card"/>
          <p:cNvSpPr/>
          <p:nvPr/>
        </p:nvSpPr>
        <p:spPr>
          <a:xfrm>
            <a:off x="6675120" y="3044952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eature 3 circle"/>
          <p:cNvSpPr/>
          <p:nvPr/>
        </p:nvSpPr>
        <p:spPr>
          <a:xfrm>
            <a:off x="6876288" y="32095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Feature 3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097" y="3286353"/>
            <a:ext cx="230428" cy="230428"/>
          </a:xfrm>
          <a:prstGeom prst="rect">
            <a:avLst/>
          </a:prstGeom>
        </p:spPr>
      </p:pic>
      <p:sp>
        <p:nvSpPr>
          <p:cNvPr id="29" name="Feature 3"/>
          <p:cNvSpPr txBox="1"/>
          <p:nvPr/>
        </p:nvSpPr>
        <p:spPr>
          <a:xfrm>
            <a:off x="6876288" y="3648456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Снимок / тепловая карта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переключение кнопкой или клавишей H</a:t>
            </a:r>
          </a:p>
        </p:txBody>
      </p:sp>
      <p:sp>
        <p:nvSpPr>
          <p:cNvPr id="30" name="Feature 4 card"/>
          <p:cNvSpPr/>
          <p:nvPr/>
        </p:nvSpPr>
        <p:spPr>
          <a:xfrm>
            <a:off x="9294876" y="3044952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eature 4 circle"/>
          <p:cNvSpPr/>
          <p:nvPr/>
        </p:nvSpPr>
        <p:spPr>
          <a:xfrm>
            <a:off x="9496044" y="32095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Feature 4 icon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2853" y="3286353"/>
            <a:ext cx="230428" cy="230428"/>
          </a:xfrm>
          <a:prstGeom prst="rect">
            <a:avLst/>
          </a:prstGeom>
        </p:spPr>
      </p:pic>
      <p:sp>
        <p:nvSpPr>
          <p:cNvPr id="33" name="Feature 4"/>
          <p:cNvSpPr txBox="1"/>
          <p:nvPr/>
        </p:nvSpPr>
        <p:spPr>
          <a:xfrm>
            <a:off x="9496044" y="3648456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Отчёт и экспорт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результаты в CSV, тепловые карты в PNG</a:t>
            </a:r>
          </a:p>
        </p:txBody>
      </p:sp>
      <p:sp>
        <p:nvSpPr>
          <p:cNvPr id="34" name="Feature 5 card"/>
          <p:cNvSpPr/>
          <p:nvPr/>
        </p:nvSpPr>
        <p:spPr>
          <a:xfrm>
            <a:off x="6675120" y="4489704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eature 5 circle"/>
          <p:cNvSpPr/>
          <p:nvPr/>
        </p:nvSpPr>
        <p:spPr>
          <a:xfrm>
            <a:off x="6876288" y="4654296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Feature 5 icon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3097" y="4731105"/>
            <a:ext cx="230428" cy="230428"/>
          </a:xfrm>
          <a:prstGeom prst="rect">
            <a:avLst/>
          </a:prstGeom>
        </p:spPr>
      </p:pic>
      <p:sp>
        <p:nvSpPr>
          <p:cNvPr id="37" name="Feature 5"/>
          <p:cNvSpPr txBox="1"/>
          <p:nvPr/>
        </p:nvSpPr>
        <p:spPr>
          <a:xfrm>
            <a:off x="6876288" y="5093208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Работа на видеокарте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вычисления на GPU NVIDIA через CUDA</a:t>
            </a:r>
          </a:p>
        </p:txBody>
      </p:sp>
      <p:sp>
        <p:nvSpPr>
          <p:cNvPr id="38" name="Feature 6 card"/>
          <p:cNvSpPr/>
          <p:nvPr/>
        </p:nvSpPr>
        <p:spPr>
          <a:xfrm>
            <a:off x="9294876" y="4489704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eature 6 circle"/>
          <p:cNvSpPr/>
          <p:nvPr/>
        </p:nvSpPr>
        <p:spPr>
          <a:xfrm>
            <a:off x="9496044" y="4654296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Feature 6 ic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72853" y="4731105"/>
            <a:ext cx="230428" cy="230428"/>
          </a:xfrm>
          <a:prstGeom prst="rect">
            <a:avLst/>
          </a:prstGeom>
        </p:spPr>
      </p:pic>
      <p:sp>
        <p:nvSpPr>
          <p:cNvPr id="41" name="Feature 6"/>
          <p:cNvSpPr txBox="1"/>
          <p:nvPr/>
        </p:nvSpPr>
        <p:spPr>
          <a:xfrm>
            <a:off x="9496044" y="5093208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Две версии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приложение для Windows и веб-версия в браузере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Что сделано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09 · ИТОГИ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10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091793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ne 1 card"/>
          <p:cNvSpPr/>
          <p:nvPr/>
        </p:nvSpPr>
        <p:spPr>
          <a:xfrm>
            <a:off x="548640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ne 1 circle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Done 1 icon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2" y="1931212"/>
            <a:ext cx="307238" cy="307238"/>
          </a:xfrm>
          <a:prstGeom prst="rect">
            <a:avLst/>
          </a:prstGeom>
        </p:spPr>
      </p:pic>
      <p:sp>
        <p:nvSpPr>
          <p:cNvPr id="19" name="Done 1"/>
          <p:cNvSpPr txBox="1"/>
          <p:nvPr/>
        </p:nvSpPr>
        <p:spPr>
          <a:xfrm>
            <a:off x="822959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Нейросеть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сверточная сеть обучена на 5 216 снимках</a:t>
            </a:r>
          </a:p>
        </p:txBody>
      </p:sp>
      <p:sp>
        <p:nvSpPr>
          <p:cNvPr id="20" name="Done 2 card"/>
          <p:cNvSpPr/>
          <p:nvPr/>
        </p:nvSpPr>
        <p:spPr>
          <a:xfrm>
            <a:off x="3390138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ne 2 circle"/>
          <p:cNvSpPr/>
          <p:nvPr/>
        </p:nvSpPr>
        <p:spPr>
          <a:xfrm>
            <a:off x="3664458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Done 2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6870" y="1931212"/>
            <a:ext cx="307238" cy="307238"/>
          </a:xfrm>
          <a:prstGeom prst="rect">
            <a:avLst/>
          </a:prstGeom>
        </p:spPr>
      </p:pic>
      <p:sp>
        <p:nvSpPr>
          <p:cNvPr id="23" name="Done 2"/>
          <p:cNvSpPr txBox="1"/>
          <p:nvPr/>
        </p:nvSpPr>
        <p:spPr>
          <a:xfrm>
            <a:off x="3664458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Объяснимость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тепловые карты Grad‑CAM для каждого снимка</a:t>
            </a:r>
          </a:p>
        </p:txBody>
      </p:sp>
      <p:sp>
        <p:nvSpPr>
          <p:cNvPr id="24" name="Done 3 card"/>
          <p:cNvSpPr/>
          <p:nvPr/>
        </p:nvSpPr>
        <p:spPr>
          <a:xfrm>
            <a:off x="6231636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ne 3 circle"/>
          <p:cNvSpPr/>
          <p:nvPr/>
        </p:nvSpPr>
        <p:spPr>
          <a:xfrm>
            <a:off x="6505955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Done 3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8368" y="1931212"/>
            <a:ext cx="307238" cy="307238"/>
          </a:xfrm>
          <a:prstGeom prst="rect">
            <a:avLst/>
          </a:prstGeom>
        </p:spPr>
      </p:pic>
      <p:sp>
        <p:nvSpPr>
          <p:cNvPr id="27" name="Done 3"/>
          <p:cNvSpPr txBox="1"/>
          <p:nvPr/>
        </p:nvSpPr>
        <p:spPr>
          <a:xfrm>
            <a:off x="6505955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Приложение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PneumoScan для Windows с ярлыком на рабочем столе</a:t>
            </a:r>
          </a:p>
        </p:txBody>
      </p:sp>
      <p:sp>
        <p:nvSpPr>
          <p:cNvPr id="28" name="Done 4 card"/>
          <p:cNvSpPr/>
          <p:nvPr/>
        </p:nvSpPr>
        <p:spPr>
          <a:xfrm>
            <a:off x="9073134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ne 4 circle"/>
          <p:cNvSpPr/>
          <p:nvPr/>
        </p:nvSpPr>
        <p:spPr>
          <a:xfrm>
            <a:off x="9347454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Done 4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9866" y="1931212"/>
            <a:ext cx="307238" cy="307238"/>
          </a:xfrm>
          <a:prstGeom prst="rect">
            <a:avLst/>
          </a:prstGeom>
        </p:spPr>
      </p:pic>
      <p:sp>
        <p:nvSpPr>
          <p:cNvPr id="31" name="Done 4"/>
          <p:cNvSpPr txBox="1"/>
          <p:nvPr/>
        </p:nvSpPr>
        <p:spPr>
          <a:xfrm>
            <a:off x="9347454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Веб-версия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тот же анализ в браузере</a:t>
            </a:r>
          </a:p>
        </p:txBody>
      </p:sp>
      <p:sp>
        <p:nvSpPr>
          <p:cNvPr id="32" name="Result 1 value"/>
          <p:cNvSpPr txBox="1"/>
          <p:nvPr/>
        </p:nvSpPr>
        <p:spPr>
          <a:xfrm>
            <a:off x="548640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4F8CFF"/>
                </a:solidFill>
                <a:latin typeface="Segoe UI Semibold"/>
              </a:rPr>
              <a:t>0.971</a:t>
            </a:r>
          </a:p>
        </p:txBody>
      </p:sp>
      <p:sp>
        <p:nvSpPr>
          <p:cNvPr id="33" name="Result 1 label"/>
          <p:cNvSpPr txBox="1"/>
          <p:nvPr/>
        </p:nvSpPr>
        <p:spPr>
          <a:xfrm>
            <a:off x="548640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34" name="Result 2 value"/>
          <p:cNvSpPr txBox="1"/>
          <p:nvPr/>
        </p:nvSpPr>
        <p:spPr>
          <a:xfrm>
            <a:off x="2423160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34C47C"/>
                </a:solidFill>
                <a:latin typeface="Segoe UI Semibold"/>
              </a:rPr>
              <a:t>99.0%</a:t>
            </a:r>
          </a:p>
        </p:txBody>
      </p:sp>
      <p:sp>
        <p:nvSpPr>
          <p:cNvPr id="35" name="Result 2 label"/>
          <p:cNvSpPr txBox="1"/>
          <p:nvPr/>
        </p:nvSpPr>
        <p:spPr>
          <a:xfrm>
            <a:off x="2423160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пневмоний найдено</a:t>
            </a:r>
          </a:p>
        </p:txBody>
      </p:sp>
      <p:sp>
        <p:nvSpPr>
          <p:cNvPr id="36" name="Result 3 value"/>
          <p:cNvSpPr txBox="1"/>
          <p:nvPr/>
        </p:nvSpPr>
        <p:spPr>
          <a:xfrm>
            <a:off x="4297679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EEF0F3"/>
                </a:solidFill>
                <a:latin typeface="Segoe UI Semibold"/>
              </a:rPr>
              <a:t>88.1%</a:t>
            </a:r>
          </a:p>
        </p:txBody>
      </p:sp>
      <p:sp>
        <p:nvSpPr>
          <p:cNvPr id="37" name="Result 3 label"/>
          <p:cNvSpPr txBox="1"/>
          <p:nvPr/>
        </p:nvSpPr>
        <p:spPr>
          <a:xfrm>
            <a:off x="4297679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общая точность</a:t>
            </a:r>
          </a:p>
        </p:txBody>
      </p:sp>
      <p:sp>
        <p:nvSpPr>
          <p:cNvPr id="38" name="GitHub card"/>
          <p:cNvSpPr/>
          <p:nvPr/>
        </p:nvSpPr>
        <p:spPr>
          <a:xfrm>
            <a:off x="6355080" y="4069080"/>
            <a:ext cx="5285232" cy="20116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itHub circle"/>
          <p:cNvSpPr/>
          <p:nvPr/>
        </p:nvSpPr>
        <p:spPr>
          <a:xfrm>
            <a:off x="6629400" y="4343400"/>
            <a:ext cx="457200" cy="457200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GitHub icon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4434840"/>
            <a:ext cx="274320" cy="274320"/>
          </a:xfrm>
          <a:prstGeom prst="rect">
            <a:avLst/>
          </a:prstGeom>
        </p:spPr>
      </p:pic>
      <p:sp>
        <p:nvSpPr>
          <p:cNvPr id="41" name="GitHub title"/>
          <p:cNvSpPr txBox="1"/>
          <p:nvPr/>
        </p:nvSpPr>
        <p:spPr>
          <a:xfrm>
            <a:off x="7223760" y="43434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Исходный код на GitHub</a:t>
            </a:r>
          </a:p>
        </p:txBody>
      </p:sp>
      <p:sp>
        <p:nvSpPr>
          <p:cNvPr id="42" name="GitHub link"/>
          <p:cNvSpPr txBox="1"/>
          <p:nvPr/>
        </p:nvSpPr>
        <p:spPr>
          <a:xfrm>
            <a:off x="6629400" y="498348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4F8CFF"/>
                </a:solidFill>
                <a:latin typeface="Segoe UI Semibold"/>
                <a:hlinkClick r:id="rId9"/>
              </a:rPr>
              <a:t>github.com/SolomonDi/Python-AI</a:t>
            </a:r>
          </a:p>
        </p:txBody>
      </p:sp>
      <p:sp>
        <p:nvSpPr>
          <p:cNvPr id="43" name="GitHub note"/>
          <p:cNvSpPr txBox="1"/>
          <p:nvPr/>
        </p:nvSpPr>
        <p:spPr>
          <a:xfrm>
            <a:off x="6629400" y="53492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код, обученная модель и примеры снимков</a:t>
            </a:r>
          </a:p>
        </p:txBody>
      </p:sp>
      <p:pic>
        <p:nvPicPr>
          <p:cNvPr id="44" name="GitHub QR" descr="QR-код со ссылкой https://github.com/SolomonDi/Python-AI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77272" y="4279392"/>
            <a:ext cx="1298448" cy="1298448"/>
          </a:xfrm>
          <a:prstGeom prst="roundRect">
            <a:avLst>
              <a:gd name="adj" fmla="val 6000"/>
            </a:avLst>
          </a:prstGeom>
        </p:spPr>
      </p:pic>
      <p:sp>
        <p:nvSpPr>
          <p:cNvPr id="45" name="QR caption"/>
          <p:cNvSpPr txBox="1"/>
          <p:nvPr/>
        </p:nvSpPr>
        <p:spPr>
          <a:xfrm>
            <a:off x="9966960" y="5632704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6E7688"/>
                </a:solidFill>
                <a:latin typeface="Segoe UI"/>
              </a:rPr>
              <a:t>наведите камеру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neumoScan">
  <a:themeElements>
    <a:clrScheme name="Office">
      <a:dk1>
        <a:sysClr val="windowText" lastClr="000000"/>
      </a:dk1>
      <a:lt1>
        <a:sysClr val="window" lastClr="FFFFFF"/>
      </a:lt1>
      <a:dk2>
        <a:srgbClr val="0E1117"/>
      </a:dk2>
      <a:lt2>
        <a:srgbClr val="161B24"/>
      </a:lt2>
      <a:accent1>
        <a:srgbClr val="4F8CFF"/>
      </a:accent1>
      <a:accent2>
        <a:srgbClr val="34C47C"/>
      </a:accent2>
      <a:accent3>
        <a:srgbClr val="F0565B"/>
      </a:accent3>
      <a:accent4>
        <a:srgbClr val="8064A2"/>
      </a:accent4>
      <a:accent5>
        <a:srgbClr val="4BACC6"/>
      </a:accent5>
      <a:accent6>
        <a:srgbClr val="F79646"/>
      </a:accent6>
      <a:hlink>
        <a:srgbClr val="4F8CFF"/>
      </a:hlink>
      <a:folHlink>
        <a:srgbClr val="4F8CFF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neumoScan">
  <a:themeElements>
    <a:clrScheme name="Office">
      <a:dk1>
        <a:sysClr val="windowText" lastClr="000000"/>
      </a:dk1>
      <a:lt1>
        <a:sysClr val="window" lastClr="FFFFFF"/>
      </a:lt1>
      <a:dk2>
        <a:srgbClr val="0E1117"/>
      </a:dk2>
      <a:lt2>
        <a:srgbClr val="161B24"/>
      </a:lt2>
      <a:accent1>
        <a:srgbClr val="4F8CFF"/>
      </a:accent1>
      <a:accent2>
        <a:srgbClr val="34C47C"/>
      </a:accent2>
      <a:accent3>
        <a:srgbClr val="F0565B"/>
      </a:accent3>
      <a:accent4>
        <a:srgbClr val="8064A2"/>
      </a:accent4>
      <a:accent5>
        <a:srgbClr val="4BACC6"/>
      </a:accent5>
      <a:accent6>
        <a:srgbClr val="F79646"/>
      </a:accent6>
      <a:hlink>
        <a:srgbClr val="4F8CFF"/>
      </a:hlink>
      <a:folHlink>
        <a:srgbClr val="4F8CFF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PneumoScan — распознавание пневмонии</dc:title>
  <dc:subject/>
  <dc:creator>Соломонов Д. М., Калашников Н. Д.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