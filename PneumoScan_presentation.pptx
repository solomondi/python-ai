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Норма</c:v>
                </c:pt>
              </c:strCache>
            </c:strRef>
          </c:tx>
          <c:spPr>
            <a:solidFill>
              <a:srgbClr val="34C47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EEF0F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Обучение</c:v>
                </c:pt>
                <c:pt idx="1">
                  <c:v>Проверка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1341</c:v>
                </c:pt>
                <c:pt idx="1">
                  <c:v>234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06F-4675-BA93-B73A3C1191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Пневмония</c:v>
                </c:pt>
              </c:strCache>
            </c:strRef>
          </c:tx>
          <c:spPr>
            <a:solidFill>
              <a:srgbClr val="F0565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EEF0F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Обучение</c:v>
                </c:pt>
                <c:pt idx="1">
                  <c:v>Проверка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3875</c:v>
                </c:pt>
                <c:pt idx="1">
                  <c:v>390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06F-4675-BA93-B73A3C1191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93040"/>
            </a:solidFill>
          </a:ln>
        </c:spPr>
        <c:txPr>
          <a:bodyPr/>
          <a:lstStyle/>
          <a:p>
            <a:pPr>
              <a:defRPr>
                <a:solidFill>
                  <a:srgbClr val="EEF0F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>
              <a:solidFill>
                <a:srgbClr val="EEF0F3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A3ABB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15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PneumoScan — система, которая по рентгеновскому снимку грудной клетки определяет признаки пневмонии. Она состоит из обученной нейросети и приложения для Windows. Авторы проекта — Соломонов Д. М. и Калашников Н. 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Задача — по рентгеновскому снимку определить: норма или пневмония. Для обучения использован открытый набор Kermany et al.: 5 856 снимков детей от 1 до 5 лет. Пневмоний почти в три раза больше, чем нормы, и это учтено при обучении.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Снимок проходит пять шагов. Он приводится к одному размеру, сверточная нейросеть анализирует его и выдаёт число, которое переводится в вероятность пневмонии. Если вероятность выше порога — вердикт «пневмония». Одновременно строится тепловая карта, показывающая, на что смотрела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Нейросеть написана с нуля на PyTorch и обучена без готовых весов. Она состоит из четырёх сверточных блоков: свёртка 3×3, нормализация BatchNorm, активация ReLU и пулинг, который уменьшает изображение вдвое. Затем берётся среднее по каждому из 256 признаков, дальше полносвязный слой на 128 нейронов с Dropout и один выход — вероятность пневмонии. Всего 422 тысячи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Чтобы модель не запоминала конкретные снимки, при обучении каждый снимок каждый раз немного изменяется: поворачивается, сдвигается, обрезается, меняется яркость и контраст. Сеть обучалась с нуля на видеокарте 40 эпох; лучшая модель получена на 34-й эпохе, порог решения подобран на отдельной валидационной выборке.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Проверка — на 624 снимках, которые модель не видела при обучении. ROC-AUC 0.971 означает, что модель хорошо отделяет пневмонию от нормы. Модель нашла 386 пневмоний из 390. Часть здоровых снимков она отмечает как подозрительные — для скрининга это безопаснее, чем пропустить болезнь.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Чтобы решению можно было доверять, для каждого снимка строится тепловая карта Grad-CAM. Она показывает, какие участки сильнее всего повлияли на ответ. Здесь модель смотрит на затемнённые участки в обоих лёгких, а не на рёбра и надписи.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Приложение запускается ярлыком с рабочего стола. Слева — список снимков с метками, в центре — снимок или тепловая карта, справа — вердикт, вероятность и порог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Приложение обрабатывает сразу много снимков в фоне, позволяет менять порог, сохранять тепловые карты и выгружать отчёт. Кроме настольной версии есть веб-версия, которая открывается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Итог: написана и обучена с нуля нейросеть, которая находит 99% пневмоний при ROC-AUC 0.971, добавлены тепловые карты для объяснения решений, сделаны приложение для Windows и веб-версия. Код проекта, обученная модель и примеры снимков выложены на GitHub — ссылка и QR-код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965960"/>
            <a:ext cx="5120640" cy="1005840"/>
          </a:xfrm>
        </p:spPr>
        <p:txBody>
          <a:bodyPr lIns="0" tIns="0" rIns="0" bIns="0" anchor="ctr"/>
          <a:lstStyle/>
          <a:p>
            <a:pPr algn="l"/>
            <a:r>
              <a:rPr sz="6000">
                <a:solidFill>
                  <a:srgbClr val="EEF0F3"/>
                </a:solidFill>
                <a:latin typeface="Segoe UI Semibold"/>
              </a:rPr>
              <a:t>PneumoScan</a:t>
            </a:r>
          </a:p>
        </p:txBody>
      </p:sp>
      <p:pic>
        <p:nvPicPr>
          <p:cNvPr id="4" name="Logo" descr="Иконка PneumoSc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05840"/>
            <a:ext cx="822960" cy="822960"/>
          </a:xfrm>
          <a:prstGeom prst="rect">
            <a:avLst/>
          </a:prstGeom>
        </p:spPr>
      </p:pic>
      <p:sp>
        <p:nvSpPr>
          <p:cNvPr id="5" name="Subtitle"/>
          <p:cNvSpPr txBox="1"/>
          <p:nvPr/>
        </p:nvSpPr>
        <p:spPr>
          <a:xfrm>
            <a:off x="548640" y="306324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A3ABBA"/>
                </a:solidFill>
                <a:latin typeface="Segoe UI"/>
              </a:rPr>
              <a:t>Распознавание пневмонии по рентгеновским снимкам грудной клетки</a:t>
            </a:r>
          </a:p>
        </p:txBody>
      </p:sp>
      <p:sp>
        <p:nvSpPr>
          <p:cNvPr id="6" name="Chip 1"/>
          <p:cNvSpPr/>
          <p:nvPr/>
        </p:nvSpPr>
        <p:spPr>
          <a:xfrm>
            <a:off x="548640" y="4434840"/>
            <a:ext cx="1600200" cy="868680"/>
          </a:xfrm>
          <a:prstGeom prst="roundRect">
            <a:avLst>
              <a:gd name="adj" fmla="val 15000"/>
            </a:avLst>
          </a:prstGeom>
          <a:solidFill>
            <a:srgbClr val="1C222D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ip 1 label"/>
          <p:cNvSpPr txBox="1"/>
          <p:nvPr/>
        </p:nvSpPr>
        <p:spPr>
          <a:xfrm>
            <a:off x="731520" y="45445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A3ABBA"/>
                </a:solidFill>
                <a:latin typeface="Segoe UI"/>
              </a:rPr>
              <a:t>ROC-AUC</a:t>
            </a:r>
          </a:p>
        </p:txBody>
      </p:sp>
      <p:sp>
        <p:nvSpPr>
          <p:cNvPr id="8" name="Chip 1 value"/>
          <p:cNvSpPr txBox="1"/>
          <p:nvPr/>
        </p:nvSpPr>
        <p:spPr>
          <a:xfrm>
            <a:off x="731520" y="4773168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EEF0F3"/>
                </a:solidFill>
                <a:latin typeface="Segoe UI Semibold"/>
              </a:rPr>
              <a:t>0.971</a:t>
            </a:r>
          </a:p>
        </p:txBody>
      </p:sp>
      <p:sp>
        <p:nvSpPr>
          <p:cNvPr id="9" name="Chip 2"/>
          <p:cNvSpPr/>
          <p:nvPr/>
        </p:nvSpPr>
        <p:spPr>
          <a:xfrm>
            <a:off x="2286000" y="4434840"/>
            <a:ext cx="1600200" cy="868680"/>
          </a:xfrm>
          <a:prstGeom prst="roundRect">
            <a:avLst>
              <a:gd name="adj" fmla="val 15000"/>
            </a:avLst>
          </a:prstGeom>
          <a:solidFill>
            <a:srgbClr val="1C222D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ip 2 label"/>
          <p:cNvSpPr txBox="1"/>
          <p:nvPr/>
        </p:nvSpPr>
        <p:spPr>
          <a:xfrm>
            <a:off x="2468880" y="45445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A3ABBA"/>
                </a:solidFill>
                <a:latin typeface="Segoe UI"/>
              </a:rPr>
              <a:t>Найдено пневмоний</a:t>
            </a:r>
          </a:p>
        </p:txBody>
      </p:sp>
      <p:sp>
        <p:nvSpPr>
          <p:cNvPr id="11" name="Chip 2 value"/>
          <p:cNvSpPr txBox="1"/>
          <p:nvPr/>
        </p:nvSpPr>
        <p:spPr>
          <a:xfrm>
            <a:off x="2468880" y="4773168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EEF0F3"/>
                </a:solidFill>
                <a:latin typeface="Segoe UI Semibold"/>
              </a:rPr>
              <a:t>99.0%</a:t>
            </a:r>
          </a:p>
        </p:txBody>
      </p:sp>
      <p:sp>
        <p:nvSpPr>
          <p:cNvPr id="12" name="Chip 3"/>
          <p:cNvSpPr/>
          <p:nvPr/>
        </p:nvSpPr>
        <p:spPr>
          <a:xfrm>
            <a:off x="4023359" y="4434840"/>
            <a:ext cx="1600200" cy="868680"/>
          </a:xfrm>
          <a:prstGeom prst="roundRect">
            <a:avLst>
              <a:gd name="adj" fmla="val 15000"/>
            </a:avLst>
          </a:prstGeom>
          <a:solidFill>
            <a:srgbClr val="1C222D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ip 3 label"/>
          <p:cNvSpPr txBox="1"/>
          <p:nvPr/>
        </p:nvSpPr>
        <p:spPr>
          <a:xfrm>
            <a:off x="4206240" y="45445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A3ABBA"/>
                </a:solidFill>
                <a:latin typeface="Segoe UI"/>
              </a:rPr>
              <a:t>Нейросеть</a:t>
            </a:r>
          </a:p>
        </p:txBody>
      </p:sp>
      <p:sp>
        <p:nvSpPr>
          <p:cNvPr id="14" name="Chip 3 value"/>
          <p:cNvSpPr txBox="1"/>
          <p:nvPr/>
        </p:nvSpPr>
        <p:spPr>
          <a:xfrm>
            <a:off x="4206240" y="4773168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EEF0F3"/>
                </a:solidFill>
                <a:latin typeface="Segoe UI Semibold"/>
              </a:rPr>
              <a:t>с нуля</a:t>
            </a:r>
          </a:p>
        </p:txBody>
      </p:sp>
      <p:pic>
        <p:nvPicPr>
          <p:cNvPr id="15" name="Hero screenshot" descr="Главное окно PneumoScan: снимок с тепловой картой и вердиктом «Pneumonia»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325880"/>
            <a:ext cx="5852160" cy="3528508"/>
          </a:xfrm>
          <a:prstGeom prst="roundRect">
            <a:avLst>
              <a:gd name="adj" fmla="val 2500"/>
            </a:avLst>
          </a:prstGeom>
          <a:ln w="9525">
            <a:solidFill>
              <a:srgbClr val="293040"/>
            </a:solidFill>
          </a:ln>
          <a:effectLst>
            <a:outerShdw blurRad="381000" dist="1016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17" name="Author 1 card"/>
          <p:cNvSpPr/>
          <p:nvPr/>
        </p:nvSpPr>
        <p:spPr>
          <a:xfrm>
            <a:off x="548640" y="5870448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C222D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uthor 1 initials"/>
          <p:cNvSpPr/>
          <p:nvPr/>
        </p:nvSpPr>
        <p:spPr>
          <a:xfrm>
            <a:off x="640080" y="5961888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  <a:latin typeface="Segoe UI Semibold"/>
              </a:rPr>
              <a:t>ДС</a:t>
            </a:r>
          </a:p>
        </p:txBody>
      </p:sp>
      <p:sp>
        <p:nvSpPr>
          <p:cNvPr id="19" name="Author 1 name"/>
          <p:cNvSpPr txBox="1"/>
          <p:nvPr/>
        </p:nvSpPr>
        <p:spPr>
          <a:xfrm>
            <a:off x="1143000" y="5870448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dirty="0" err="1">
                <a:solidFill>
                  <a:srgbClr val="EEF0F3"/>
                </a:solidFill>
                <a:latin typeface="Segoe UI Semibold"/>
              </a:rPr>
              <a:t>Соломонов</a:t>
            </a:r>
            <a:r>
              <a:rPr sz="1500" dirty="0">
                <a:solidFill>
                  <a:srgbClr val="EEF0F3"/>
                </a:solidFill>
                <a:latin typeface="Segoe UI Semibold"/>
              </a:rPr>
              <a:t> Д. М.</a:t>
            </a:r>
          </a:p>
        </p:txBody>
      </p:sp>
      <p:sp>
        <p:nvSpPr>
          <p:cNvPr id="20" name="Author 2 card"/>
          <p:cNvSpPr/>
          <p:nvPr/>
        </p:nvSpPr>
        <p:spPr>
          <a:xfrm>
            <a:off x="3154985" y="5870448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C222D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uthor 2 initials"/>
          <p:cNvSpPr/>
          <p:nvPr/>
        </p:nvSpPr>
        <p:spPr>
          <a:xfrm>
            <a:off x="3246425" y="5961888"/>
            <a:ext cx="384048" cy="384048"/>
          </a:xfrm>
          <a:prstGeom prst="ellipse">
            <a:avLst/>
          </a:prstGeom>
          <a:solidFill>
            <a:srgbClr val="34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НК</a:t>
            </a:r>
          </a:p>
        </p:txBody>
      </p:sp>
      <p:sp>
        <p:nvSpPr>
          <p:cNvPr id="22" name="Author 2 name"/>
          <p:cNvSpPr txBox="1"/>
          <p:nvPr/>
        </p:nvSpPr>
        <p:spPr>
          <a:xfrm>
            <a:off x="3749345" y="5870448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dirty="0" err="1">
                <a:solidFill>
                  <a:srgbClr val="EEF0F3"/>
                </a:solidFill>
                <a:latin typeface="Segoe UI Semibold"/>
              </a:rPr>
              <a:t>Калашников</a:t>
            </a:r>
            <a:r>
              <a:rPr sz="1500" dirty="0">
                <a:solidFill>
                  <a:srgbClr val="EEF0F3"/>
                </a:solidFill>
                <a:latin typeface="Segoe UI Semibold"/>
              </a:rPr>
              <a:t> Н. Д.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Задача и данные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01 · ЗАДАЧА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02</a:t>
            </a:r>
          </a:p>
        </p:txBody>
      </p:sp>
      <p:sp>
        <p:nvSpPr>
          <p:cNvPr id="7" name="Task"/>
          <p:cNvSpPr txBox="1"/>
          <p:nvPr/>
        </p:nvSpPr>
        <p:spPr>
          <a:xfrm>
            <a:off x="548640" y="160020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>
                <a:solidFill>
                  <a:srgbClr val="EEF0F3"/>
                </a:solidFill>
                <a:latin typeface="Segoe UI"/>
              </a:rPr>
              <a:t>По рентгеновскому снимку грудной клетки определить: норма или пневмония</a:t>
            </a:r>
          </a:p>
        </p:txBody>
      </p:sp>
      <p:sp>
        <p:nvSpPr>
          <p:cNvPr id="8" name="Stat 1"/>
          <p:cNvSpPr txBox="1"/>
          <p:nvPr/>
        </p:nvSpPr>
        <p:spPr>
          <a:xfrm>
            <a:off x="548640" y="25146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4F8CFF"/>
                </a:solidFill>
                <a:latin typeface="Segoe UI Semibold"/>
              </a:rPr>
              <a:t>5 216</a:t>
            </a:r>
          </a:p>
        </p:txBody>
      </p:sp>
      <p:sp>
        <p:nvSpPr>
          <p:cNvPr id="9" name="Stat 1 label"/>
          <p:cNvSpPr txBox="1"/>
          <p:nvPr/>
        </p:nvSpPr>
        <p:spPr>
          <a:xfrm>
            <a:off x="548640" y="312724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снимков
для обучения</a:t>
            </a:r>
          </a:p>
        </p:txBody>
      </p:sp>
      <p:sp>
        <p:nvSpPr>
          <p:cNvPr id="10" name="Stat 2"/>
          <p:cNvSpPr txBox="1"/>
          <p:nvPr/>
        </p:nvSpPr>
        <p:spPr>
          <a:xfrm>
            <a:off x="2468880" y="25146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4F8CFF"/>
                </a:solidFill>
                <a:latin typeface="Segoe UI Semibold"/>
              </a:rPr>
              <a:t>624</a:t>
            </a:r>
          </a:p>
        </p:txBody>
      </p:sp>
      <p:sp>
        <p:nvSpPr>
          <p:cNvPr id="11" name="Stat 2 label"/>
          <p:cNvSpPr txBox="1"/>
          <p:nvPr/>
        </p:nvSpPr>
        <p:spPr>
          <a:xfrm>
            <a:off x="2468880" y="312724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снимка
для проверки</a:t>
            </a:r>
          </a:p>
        </p:txBody>
      </p:sp>
      <p:sp>
        <p:nvSpPr>
          <p:cNvPr id="12" name="Stat 3"/>
          <p:cNvSpPr txBox="1"/>
          <p:nvPr/>
        </p:nvSpPr>
        <p:spPr>
          <a:xfrm>
            <a:off x="4389120" y="25146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>
                <a:solidFill>
                  <a:srgbClr val="4F8CFF"/>
                </a:solidFill>
                <a:latin typeface="Segoe UI Semibold"/>
              </a:rPr>
              <a:t>1 : 2.9</a:t>
            </a:r>
          </a:p>
        </p:txBody>
      </p:sp>
      <p:sp>
        <p:nvSpPr>
          <p:cNvPr id="13" name="Stat 3 label"/>
          <p:cNvSpPr txBox="1"/>
          <p:nvPr/>
        </p:nvSpPr>
        <p:spPr>
          <a:xfrm>
            <a:off x="4389120" y="312724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норма к пневмонии
в обучении</a:t>
            </a:r>
          </a:p>
        </p:txBody>
      </p:sp>
      <p:graphicFrame>
        <p:nvGraphicFramePr>
          <p:cNvPr id="14" name="Class distribution chart"/>
          <p:cNvGraphicFramePr>
            <a:graphicFrameLocks noGrp="1"/>
          </p:cNvGraphicFramePr>
          <p:nvPr/>
        </p:nvGraphicFramePr>
        <p:xfrm>
          <a:off x="457200" y="3886200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Sample normal" descr="Пример снимка: норм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600200"/>
            <a:ext cx="2377440" cy="2377440"/>
          </a:xfrm>
          <a:prstGeom prst="roundRect">
            <a:avLst>
              <a:gd name="adj" fmla="val 4000"/>
            </a:avLst>
          </a:prstGeom>
        </p:spPr>
      </p:pic>
      <p:pic>
        <p:nvPicPr>
          <p:cNvPr id="16" name="Sample pneumonia" descr="Пример снимка: пневмони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872" y="1600200"/>
            <a:ext cx="2377440" cy="2377440"/>
          </a:xfrm>
          <a:prstGeom prst="roundRect">
            <a:avLst>
              <a:gd name="adj" fmla="val 4000"/>
            </a:avLst>
          </a:prstGeom>
        </p:spPr>
      </p:pic>
      <p:sp>
        <p:nvSpPr>
          <p:cNvPr id="17" name="Caption normal"/>
          <p:cNvSpPr txBox="1"/>
          <p:nvPr/>
        </p:nvSpPr>
        <p:spPr>
          <a:xfrm>
            <a:off x="6675120" y="4114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34C47C"/>
                </a:solidFill>
                <a:latin typeface="Segoe UI Semibold"/>
              </a:rPr>
              <a:t>Норма</a:t>
            </a:r>
          </a:p>
        </p:txBody>
      </p:sp>
      <p:sp>
        <p:nvSpPr>
          <p:cNvPr id="18" name="Caption pneumonia"/>
          <p:cNvSpPr txBox="1"/>
          <p:nvPr/>
        </p:nvSpPr>
        <p:spPr>
          <a:xfrm>
            <a:off x="9262872" y="4114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F0565B"/>
                </a:solidFill>
                <a:latin typeface="Segoe UI Semibold"/>
              </a:rPr>
              <a:t>Пневмония</a:t>
            </a:r>
          </a:p>
        </p:txBody>
      </p:sp>
      <p:sp>
        <p:nvSpPr>
          <p:cNvPr id="19" name="Dataset note"/>
          <p:cNvSpPr txBox="1"/>
          <p:nvPr/>
        </p:nvSpPr>
        <p:spPr>
          <a:xfrm>
            <a:off x="6675120" y="4754880"/>
            <a:ext cx="4965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A3ABBA"/>
                </a:solidFill>
                <a:latin typeface="Segoe UI"/>
              </a:rPr>
              <a:t>Набор Chest X-Ray Images (Kermany et al., 2018): 5 856 снимков детей 1–5 лет.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A3ABBA"/>
                </a:solidFill>
                <a:latin typeface="Segoe UI"/>
              </a:rPr>
              <a:t>При пневмонии в лёгких видны затемнения — участки воспаления.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Как это работает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02 · ПРИНЦИП РАБОТЫ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03</a:t>
            </a:r>
          </a:p>
        </p:txBody>
      </p:sp>
      <p:sp>
        <p:nvSpPr>
          <p:cNvPr id="7" name="Step 1 card"/>
          <p:cNvSpPr/>
          <p:nvPr/>
        </p:nvSpPr>
        <p:spPr>
          <a:xfrm>
            <a:off x="548640" y="1691640"/>
            <a:ext cx="1962302" cy="406908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tep 1 image" descr="Исходный рентгеновский снимо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1596542" cy="1596542"/>
          </a:xfrm>
          <a:prstGeom prst="roundRect">
            <a:avLst>
              <a:gd name="adj" fmla="val 4000"/>
            </a:avLst>
          </a:prstGeom>
        </p:spPr>
      </p:pic>
      <p:sp>
        <p:nvSpPr>
          <p:cNvPr id="9" name="Step 1 number"/>
          <p:cNvSpPr/>
          <p:nvPr/>
        </p:nvSpPr>
        <p:spPr>
          <a:xfrm>
            <a:off x="731520" y="3699662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Step 1 title"/>
          <p:cNvSpPr txBox="1"/>
          <p:nvPr/>
        </p:nvSpPr>
        <p:spPr>
          <a:xfrm>
            <a:off x="731520" y="4202582"/>
            <a:ext cx="15965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EEF0F3"/>
                </a:solidFill>
                <a:latin typeface="Segoe UI Semibold"/>
              </a:rPr>
              <a:t>Снимок</a:t>
            </a:r>
          </a:p>
        </p:txBody>
      </p:sp>
      <p:sp>
        <p:nvSpPr>
          <p:cNvPr id="11" name="Step 1 text"/>
          <p:cNvSpPr txBox="1"/>
          <p:nvPr/>
        </p:nvSpPr>
        <p:spPr>
          <a:xfrm>
            <a:off x="731520" y="4568342"/>
            <a:ext cx="15965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Рентген грудной клетки в JPEG, PNG, BMP или TIFF</a:t>
            </a:r>
          </a:p>
        </p:txBody>
      </p:sp>
      <p:sp>
        <p:nvSpPr>
          <p:cNvPr id="12" name="Arrow 1"/>
          <p:cNvSpPr txBox="1"/>
          <p:nvPr/>
        </p:nvSpPr>
        <p:spPr>
          <a:xfrm>
            <a:off x="2510942" y="2489911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>
                <a:solidFill>
                  <a:srgbClr val="4F8CFF"/>
                </a:solidFill>
                <a:latin typeface="Segoe UI Semibold"/>
              </a:rPr>
              <a:t>›</a:t>
            </a:r>
          </a:p>
        </p:txBody>
      </p:sp>
      <p:sp>
        <p:nvSpPr>
          <p:cNvPr id="13" name="Step 2 card"/>
          <p:cNvSpPr/>
          <p:nvPr/>
        </p:nvSpPr>
        <p:spPr>
          <a:xfrm>
            <a:off x="2830982" y="1691640"/>
            <a:ext cx="1962302" cy="406908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ep 2 canvas"/>
          <p:cNvSpPr/>
          <p:nvPr/>
        </p:nvSpPr>
        <p:spPr>
          <a:xfrm>
            <a:off x="3013862" y="1874519"/>
            <a:ext cx="1596542" cy="1596542"/>
          </a:xfrm>
          <a:prstGeom prst="roundRect">
            <a:avLst>
              <a:gd name="adj" fmla="val 4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Step 2 image" descr="Снимок, уменьшенный до 224 на 2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213" y="2057400"/>
            <a:ext cx="1005840" cy="1005840"/>
          </a:xfrm>
          <a:prstGeom prst="roundRect">
            <a:avLst>
              <a:gd name="adj" fmla="val 2000"/>
            </a:avLst>
          </a:prstGeom>
          <a:ln w="9525">
            <a:solidFill>
              <a:srgbClr val="4F8CFF"/>
            </a:solidFill>
          </a:ln>
        </p:spPr>
      </p:pic>
      <p:sp>
        <p:nvSpPr>
          <p:cNvPr id="16" name="Step 2 size"/>
          <p:cNvSpPr txBox="1"/>
          <p:nvPr/>
        </p:nvSpPr>
        <p:spPr>
          <a:xfrm>
            <a:off x="3013862" y="3154679"/>
            <a:ext cx="159654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A3ABBA"/>
                </a:solidFill>
                <a:latin typeface="Segoe UI"/>
              </a:rPr>
              <a:t>224 × 224 px</a:t>
            </a:r>
          </a:p>
        </p:txBody>
      </p:sp>
      <p:sp>
        <p:nvSpPr>
          <p:cNvPr id="17" name="Step 2 number"/>
          <p:cNvSpPr/>
          <p:nvPr/>
        </p:nvSpPr>
        <p:spPr>
          <a:xfrm>
            <a:off x="3013862" y="3699662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Step 2 title"/>
          <p:cNvSpPr txBox="1"/>
          <p:nvPr/>
        </p:nvSpPr>
        <p:spPr>
          <a:xfrm>
            <a:off x="3013862" y="4202582"/>
            <a:ext cx="15965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EEF0F3"/>
                </a:solidFill>
                <a:latin typeface="Segoe UI Semibold"/>
              </a:rPr>
              <a:t>Подготовка</a:t>
            </a:r>
          </a:p>
        </p:txBody>
      </p:sp>
      <p:sp>
        <p:nvSpPr>
          <p:cNvPr id="19" name="Step 2 text"/>
          <p:cNvSpPr txBox="1"/>
          <p:nvPr/>
        </p:nvSpPr>
        <p:spPr>
          <a:xfrm>
            <a:off x="3013862" y="4568342"/>
            <a:ext cx="15965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Оттенки серого, 224 × 224 пикселя, нормализация</a:t>
            </a:r>
          </a:p>
        </p:txBody>
      </p:sp>
      <p:sp>
        <p:nvSpPr>
          <p:cNvPr id="20" name="Arrow 2"/>
          <p:cNvSpPr txBox="1"/>
          <p:nvPr/>
        </p:nvSpPr>
        <p:spPr>
          <a:xfrm>
            <a:off x="4793284" y="2489911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>
                <a:solidFill>
                  <a:srgbClr val="4F8CFF"/>
                </a:solidFill>
                <a:latin typeface="Segoe UI Semibold"/>
              </a:rPr>
              <a:t>›</a:t>
            </a:r>
          </a:p>
        </p:txBody>
      </p:sp>
      <p:sp>
        <p:nvSpPr>
          <p:cNvPr id="21" name="Step 3 card"/>
          <p:cNvSpPr/>
          <p:nvPr/>
        </p:nvSpPr>
        <p:spPr>
          <a:xfrm>
            <a:off x="5113324" y="1691640"/>
            <a:ext cx="1962302" cy="406908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ep 3 canvas"/>
          <p:cNvSpPr/>
          <p:nvPr/>
        </p:nvSpPr>
        <p:spPr>
          <a:xfrm>
            <a:off x="5296204" y="1874519"/>
            <a:ext cx="1596542" cy="1596542"/>
          </a:xfrm>
          <a:prstGeom prst="roundRect">
            <a:avLst>
              <a:gd name="adj" fmla="val 4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ayer 1"/>
          <p:cNvSpPr/>
          <p:nvPr/>
        </p:nvSpPr>
        <p:spPr>
          <a:xfrm>
            <a:off x="5454396" y="2055571"/>
            <a:ext cx="182880" cy="1234440"/>
          </a:xfrm>
          <a:prstGeom prst="roundRect">
            <a:avLst>
              <a:gd name="adj" fmla="val 25000"/>
            </a:avLst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Layer 2"/>
          <p:cNvSpPr/>
          <p:nvPr/>
        </p:nvSpPr>
        <p:spPr>
          <a:xfrm>
            <a:off x="5728716" y="2147011"/>
            <a:ext cx="182880" cy="1051560"/>
          </a:xfrm>
          <a:prstGeom prst="roundRect">
            <a:avLst>
              <a:gd name="adj" fmla="val 25000"/>
            </a:avLst>
          </a:prstGeom>
          <a:solidFill>
            <a:srgbClr val="79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ayer 3"/>
          <p:cNvSpPr/>
          <p:nvPr/>
        </p:nvSpPr>
        <p:spPr>
          <a:xfrm>
            <a:off x="6003036" y="2238451"/>
            <a:ext cx="182880" cy="868680"/>
          </a:xfrm>
          <a:prstGeom prst="roundRect">
            <a:avLst>
              <a:gd name="adj" fmla="val 25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yer 4"/>
          <p:cNvSpPr/>
          <p:nvPr/>
        </p:nvSpPr>
        <p:spPr>
          <a:xfrm>
            <a:off x="6277356" y="2329891"/>
            <a:ext cx="182880" cy="685800"/>
          </a:xfrm>
          <a:prstGeom prst="roundRect">
            <a:avLst>
              <a:gd name="adj" fmla="val 25000"/>
            </a:avLst>
          </a:prstGeom>
          <a:solidFill>
            <a:srgbClr val="3A7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Layer 5"/>
          <p:cNvSpPr/>
          <p:nvPr/>
        </p:nvSpPr>
        <p:spPr>
          <a:xfrm>
            <a:off x="6551676" y="2421331"/>
            <a:ext cx="182880" cy="502920"/>
          </a:xfrm>
          <a:prstGeom prst="roundRect">
            <a:avLst>
              <a:gd name="adj" fmla="val 25000"/>
            </a:avLst>
          </a:prstGeom>
          <a:solidFill>
            <a:srgbClr val="2F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tep 3 number"/>
          <p:cNvSpPr/>
          <p:nvPr/>
        </p:nvSpPr>
        <p:spPr>
          <a:xfrm>
            <a:off x="5296204" y="3699662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9" name="Step 3 title"/>
          <p:cNvSpPr txBox="1"/>
          <p:nvPr/>
        </p:nvSpPr>
        <p:spPr>
          <a:xfrm>
            <a:off x="5296204" y="4202582"/>
            <a:ext cx="15965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EEF0F3"/>
                </a:solidFill>
                <a:latin typeface="Segoe UI Semibold"/>
              </a:rPr>
              <a:t>Нейросеть</a:t>
            </a:r>
          </a:p>
        </p:txBody>
      </p:sp>
      <p:sp>
        <p:nvSpPr>
          <p:cNvPr id="30" name="Step 3 text"/>
          <p:cNvSpPr txBox="1"/>
          <p:nvPr/>
        </p:nvSpPr>
        <p:spPr>
          <a:xfrm>
            <a:off x="5296204" y="4568342"/>
            <a:ext cx="15965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Сверточная сеть находит признаки воспаления</a:t>
            </a:r>
          </a:p>
        </p:txBody>
      </p:sp>
      <p:sp>
        <p:nvSpPr>
          <p:cNvPr id="31" name="Arrow 3"/>
          <p:cNvSpPr txBox="1"/>
          <p:nvPr/>
        </p:nvSpPr>
        <p:spPr>
          <a:xfrm>
            <a:off x="7075627" y="2489911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>
                <a:solidFill>
                  <a:srgbClr val="4F8CFF"/>
                </a:solidFill>
                <a:latin typeface="Segoe UI Semibold"/>
              </a:rPr>
              <a:t>›</a:t>
            </a:r>
          </a:p>
        </p:txBody>
      </p:sp>
      <p:sp>
        <p:nvSpPr>
          <p:cNvPr id="32" name="Step 4 card"/>
          <p:cNvSpPr/>
          <p:nvPr/>
        </p:nvSpPr>
        <p:spPr>
          <a:xfrm>
            <a:off x="7395667" y="1691640"/>
            <a:ext cx="1962302" cy="406908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tep 4 canvas"/>
          <p:cNvSpPr/>
          <p:nvPr/>
        </p:nvSpPr>
        <p:spPr>
          <a:xfrm>
            <a:off x="7578547" y="1874519"/>
            <a:ext cx="1596542" cy="1596542"/>
          </a:xfrm>
          <a:prstGeom prst="roundRect">
            <a:avLst>
              <a:gd name="adj" fmla="val 4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robability value"/>
          <p:cNvSpPr txBox="1"/>
          <p:nvPr/>
        </p:nvSpPr>
        <p:spPr>
          <a:xfrm>
            <a:off x="7578547" y="2286000"/>
            <a:ext cx="15965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>
                <a:solidFill>
                  <a:srgbClr val="EEF0F3"/>
                </a:solidFill>
                <a:latin typeface="Segoe UI Semibold"/>
              </a:rPr>
              <a:t>99.6%</a:t>
            </a:r>
          </a:p>
        </p:txBody>
      </p:sp>
      <p:sp>
        <p:nvSpPr>
          <p:cNvPr id="35" name="Probability track"/>
          <p:cNvSpPr/>
          <p:nvPr/>
        </p:nvSpPr>
        <p:spPr>
          <a:xfrm>
            <a:off x="7761427" y="2971800"/>
            <a:ext cx="1230782" cy="82296"/>
          </a:xfrm>
          <a:prstGeom prst="roundRect">
            <a:avLst>
              <a:gd name="adj" fmla="val 50000"/>
            </a:avLst>
          </a:prstGeom>
          <a:solidFill>
            <a:srgbClr val="29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robability fill"/>
          <p:cNvSpPr/>
          <p:nvPr/>
        </p:nvSpPr>
        <p:spPr>
          <a:xfrm>
            <a:off x="7761427" y="2971800"/>
            <a:ext cx="1225859" cy="82296"/>
          </a:xfrm>
          <a:prstGeom prst="roundRect">
            <a:avLst>
              <a:gd name="adj" fmla="val 50000"/>
            </a:avLst>
          </a:prstGeom>
          <a:solidFill>
            <a:srgbClr val="F0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Step 4 number"/>
          <p:cNvSpPr/>
          <p:nvPr/>
        </p:nvSpPr>
        <p:spPr>
          <a:xfrm>
            <a:off x="7578547" y="3699662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8" name="Step 4 title"/>
          <p:cNvSpPr txBox="1"/>
          <p:nvPr/>
        </p:nvSpPr>
        <p:spPr>
          <a:xfrm>
            <a:off x="7578547" y="4202582"/>
            <a:ext cx="15965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EEF0F3"/>
                </a:solidFill>
                <a:latin typeface="Segoe UI Semibold"/>
              </a:rPr>
              <a:t>Вероятность</a:t>
            </a:r>
          </a:p>
        </p:txBody>
      </p:sp>
      <p:sp>
        <p:nvSpPr>
          <p:cNvPr id="39" name="Step 4 text"/>
          <p:cNvSpPr txBox="1"/>
          <p:nvPr/>
        </p:nvSpPr>
        <p:spPr>
          <a:xfrm>
            <a:off x="7578547" y="4568342"/>
            <a:ext cx="15965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Ответ сети переводится в шкалу 0–100%</a:t>
            </a:r>
          </a:p>
        </p:txBody>
      </p:sp>
      <p:sp>
        <p:nvSpPr>
          <p:cNvPr id="40" name="Arrow 4"/>
          <p:cNvSpPr txBox="1"/>
          <p:nvPr/>
        </p:nvSpPr>
        <p:spPr>
          <a:xfrm>
            <a:off x="9357969" y="2489911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>
                <a:solidFill>
                  <a:srgbClr val="4F8CFF"/>
                </a:solidFill>
                <a:latin typeface="Segoe UI Semibold"/>
              </a:rPr>
              <a:t>›</a:t>
            </a:r>
          </a:p>
        </p:txBody>
      </p:sp>
      <p:sp>
        <p:nvSpPr>
          <p:cNvPr id="41" name="Step 5 card"/>
          <p:cNvSpPr/>
          <p:nvPr/>
        </p:nvSpPr>
        <p:spPr>
          <a:xfrm>
            <a:off x="9678009" y="1691640"/>
            <a:ext cx="1962302" cy="406908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Step 5 image" descr="Снимок с тепловой картой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0889" y="1874519"/>
            <a:ext cx="1596542" cy="1596542"/>
          </a:xfrm>
          <a:prstGeom prst="roundRect">
            <a:avLst>
              <a:gd name="adj" fmla="val 4000"/>
            </a:avLst>
          </a:prstGeom>
        </p:spPr>
      </p:pic>
      <p:sp>
        <p:nvSpPr>
          <p:cNvPr id="43" name="Step 5 number"/>
          <p:cNvSpPr/>
          <p:nvPr/>
        </p:nvSpPr>
        <p:spPr>
          <a:xfrm>
            <a:off x="9860889" y="3699662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4" name="Step 5 title"/>
          <p:cNvSpPr txBox="1"/>
          <p:nvPr/>
        </p:nvSpPr>
        <p:spPr>
          <a:xfrm>
            <a:off x="9860889" y="4202582"/>
            <a:ext cx="15965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>
                <a:solidFill>
                  <a:srgbClr val="EEF0F3"/>
                </a:solidFill>
                <a:latin typeface="Segoe UI Semibold"/>
              </a:rPr>
              <a:t>Результат</a:t>
            </a:r>
          </a:p>
        </p:txBody>
      </p:sp>
      <p:sp>
        <p:nvSpPr>
          <p:cNvPr id="45" name="Step 5 text"/>
          <p:cNvSpPr txBox="1"/>
          <p:nvPr/>
        </p:nvSpPr>
        <p:spPr>
          <a:xfrm>
            <a:off x="9860889" y="4568342"/>
            <a:ext cx="15965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Сравнение с порогом 22% и тепловая карта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Сверточная нейросеть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03 · МОДЕЛЬ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04</a:t>
            </a:r>
          </a:p>
        </p:txBody>
      </p:sp>
      <p:pic>
        <p:nvPicPr>
          <p:cNvPr id="7" name="Input image" descr="Входной снимо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057400"/>
            <a:ext cx="1097280" cy="1097280"/>
          </a:xfrm>
          <a:prstGeom prst="roundRect">
            <a:avLst>
              <a:gd name="adj" fmla="val 4000"/>
            </a:avLst>
          </a:prstGeom>
        </p:spPr>
      </p:pic>
      <p:sp>
        <p:nvSpPr>
          <p:cNvPr id="8" name="Вход label"/>
          <p:cNvSpPr txBox="1"/>
          <p:nvPr/>
        </p:nvSpPr>
        <p:spPr>
          <a:xfrm>
            <a:off x="557784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Вход</a:t>
            </a:r>
          </a:p>
        </p:txBody>
      </p:sp>
      <p:sp>
        <p:nvSpPr>
          <p:cNvPr id="9" name="Вход dims"/>
          <p:cNvSpPr txBox="1"/>
          <p:nvPr/>
        </p:nvSpPr>
        <p:spPr>
          <a:xfrm>
            <a:off x="512064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224 × 224</a:t>
            </a:r>
          </a:p>
        </p:txBody>
      </p:sp>
      <p:sp>
        <p:nvSpPr>
          <p:cNvPr id="10" name="Flow 1"/>
          <p:cNvSpPr txBox="1"/>
          <p:nvPr/>
        </p:nvSpPr>
        <p:spPr>
          <a:xfrm>
            <a:off x="1746504" y="2404872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6E7688"/>
                </a:solidFill>
                <a:latin typeface="Segoe UI Semibold"/>
              </a:rPr>
              <a:t>›</a:t>
            </a:r>
          </a:p>
        </p:txBody>
      </p:sp>
      <p:sp>
        <p:nvSpPr>
          <p:cNvPr id="11" name="Блок 1 block"/>
          <p:cNvSpPr/>
          <p:nvPr/>
        </p:nvSpPr>
        <p:spPr>
          <a:xfrm>
            <a:off x="2185416" y="1737360"/>
            <a:ext cx="822959" cy="1737360"/>
          </a:xfrm>
          <a:prstGeom prst="roundRect">
            <a:avLst>
              <a:gd name="adj" fmla="val 12000"/>
            </a:avLst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Блок 1 label"/>
          <p:cNvSpPr txBox="1"/>
          <p:nvPr/>
        </p:nvSpPr>
        <p:spPr>
          <a:xfrm>
            <a:off x="1956816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Блок 1</a:t>
            </a:r>
          </a:p>
        </p:txBody>
      </p:sp>
      <p:sp>
        <p:nvSpPr>
          <p:cNvPr id="13" name="Блок 1 dims"/>
          <p:cNvSpPr txBox="1"/>
          <p:nvPr/>
        </p:nvSpPr>
        <p:spPr>
          <a:xfrm>
            <a:off x="1911096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112 × 112 · 32</a:t>
            </a:r>
          </a:p>
        </p:txBody>
      </p:sp>
      <p:sp>
        <p:nvSpPr>
          <p:cNvPr id="14" name="Flow 2"/>
          <p:cNvSpPr txBox="1"/>
          <p:nvPr/>
        </p:nvSpPr>
        <p:spPr>
          <a:xfrm>
            <a:off x="3145536" y="2404872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6E7688"/>
                </a:solidFill>
                <a:latin typeface="Segoe UI Semibold"/>
              </a:rPr>
              <a:t>›</a:t>
            </a:r>
          </a:p>
        </p:txBody>
      </p:sp>
      <p:sp>
        <p:nvSpPr>
          <p:cNvPr id="15" name="Блок 2 block"/>
          <p:cNvSpPr/>
          <p:nvPr/>
        </p:nvSpPr>
        <p:spPr>
          <a:xfrm>
            <a:off x="3584448" y="1874519"/>
            <a:ext cx="822959" cy="1463040"/>
          </a:xfrm>
          <a:prstGeom prst="roundRect">
            <a:avLst>
              <a:gd name="adj" fmla="val 12000"/>
            </a:avLst>
          </a:prstGeom>
          <a:solidFill>
            <a:srgbClr val="86A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Блок 2 label"/>
          <p:cNvSpPr txBox="1"/>
          <p:nvPr/>
        </p:nvSpPr>
        <p:spPr>
          <a:xfrm>
            <a:off x="3355848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Блок 2</a:t>
            </a:r>
          </a:p>
        </p:txBody>
      </p:sp>
      <p:sp>
        <p:nvSpPr>
          <p:cNvPr id="17" name="Блок 2 dims"/>
          <p:cNvSpPr txBox="1"/>
          <p:nvPr/>
        </p:nvSpPr>
        <p:spPr>
          <a:xfrm>
            <a:off x="3310128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56 × 56 · 64</a:t>
            </a:r>
          </a:p>
        </p:txBody>
      </p:sp>
      <p:sp>
        <p:nvSpPr>
          <p:cNvPr id="18" name="Flow 3"/>
          <p:cNvSpPr txBox="1"/>
          <p:nvPr/>
        </p:nvSpPr>
        <p:spPr>
          <a:xfrm>
            <a:off x="4544568" y="2404872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6E7688"/>
                </a:solidFill>
                <a:latin typeface="Segoe UI Semibold"/>
              </a:rPr>
              <a:t>›</a:t>
            </a:r>
          </a:p>
        </p:txBody>
      </p:sp>
      <p:sp>
        <p:nvSpPr>
          <p:cNvPr id="19" name="Блок 3 block"/>
          <p:cNvSpPr/>
          <p:nvPr/>
        </p:nvSpPr>
        <p:spPr>
          <a:xfrm>
            <a:off x="4983480" y="2011680"/>
            <a:ext cx="822959" cy="1188720"/>
          </a:xfrm>
          <a:prstGeom prst="roundRect">
            <a:avLst>
              <a:gd name="adj" fmla="val 12000"/>
            </a:avLst>
          </a:prstGeom>
          <a:solidFill>
            <a:srgbClr val="6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Блок 3 label"/>
          <p:cNvSpPr txBox="1"/>
          <p:nvPr/>
        </p:nvSpPr>
        <p:spPr>
          <a:xfrm>
            <a:off x="4754880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Блок 3</a:t>
            </a:r>
          </a:p>
        </p:txBody>
      </p:sp>
      <p:sp>
        <p:nvSpPr>
          <p:cNvPr id="21" name="Блок 3 dims"/>
          <p:cNvSpPr txBox="1"/>
          <p:nvPr/>
        </p:nvSpPr>
        <p:spPr>
          <a:xfrm>
            <a:off x="4709159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28 × 28 · 128</a:t>
            </a:r>
          </a:p>
        </p:txBody>
      </p:sp>
      <p:sp>
        <p:nvSpPr>
          <p:cNvPr id="22" name="Flow 4"/>
          <p:cNvSpPr txBox="1"/>
          <p:nvPr/>
        </p:nvSpPr>
        <p:spPr>
          <a:xfrm>
            <a:off x="5943600" y="2404872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6E7688"/>
                </a:solidFill>
                <a:latin typeface="Segoe UI Semibold"/>
              </a:rPr>
              <a:t>›</a:t>
            </a:r>
          </a:p>
        </p:txBody>
      </p:sp>
      <p:sp>
        <p:nvSpPr>
          <p:cNvPr id="23" name="Блок 4 block"/>
          <p:cNvSpPr/>
          <p:nvPr/>
        </p:nvSpPr>
        <p:spPr>
          <a:xfrm>
            <a:off x="6382512" y="2148840"/>
            <a:ext cx="822959" cy="914400"/>
          </a:xfrm>
          <a:prstGeom prst="roundRect">
            <a:avLst>
              <a:gd name="adj" fmla="val 12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Блок 4 label"/>
          <p:cNvSpPr txBox="1"/>
          <p:nvPr/>
        </p:nvSpPr>
        <p:spPr>
          <a:xfrm>
            <a:off x="6153912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Блок 4</a:t>
            </a:r>
          </a:p>
        </p:txBody>
      </p:sp>
      <p:sp>
        <p:nvSpPr>
          <p:cNvPr id="25" name="Блок 4 dims"/>
          <p:cNvSpPr txBox="1"/>
          <p:nvPr/>
        </p:nvSpPr>
        <p:spPr>
          <a:xfrm>
            <a:off x="6108192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14 × 14 · 256</a:t>
            </a:r>
          </a:p>
        </p:txBody>
      </p:sp>
      <p:sp>
        <p:nvSpPr>
          <p:cNvPr id="26" name="Flow 5"/>
          <p:cNvSpPr txBox="1"/>
          <p:nvPr/>
        </p:nvSpPr>
        <p:spPr>
          <a:xfrm>
            <a:off x="7342631" y="2404872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6E7688"/>
                </a:solidFill>
                <a:latin typeface="Segoe UI Semibold"/>
              </a:rPr>
              <a:t>›</a:t>
            </a:r>
          </a:p>
        </p:txBody>
      </p:sp>
      <p:sp>
        <p:nvSpPr>
          <p:cNvPr id="27" name="Пулинг block"/>
          <p:cNvSpPr/>
          <p:nvPr/>
        </p:nvSpPr>
        <p:spPr>
          <a:xfrm>
            <a:off x="7781544" y="2286000"/>
            <a:ext cx="822959" cy="640080"/>
          </a:xfrm>
          <a:prstGeom prst="roundRect">
            <a:avLst>
              <a:gd name="adj" fmla="val 12000"/>
            </a:avLst>
          </a:prstGeom>
          <a:solidFill>
            <a:srgbClr val="3A7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Пулинг label"/>
          <p:cNvSpPr txBox="1"/>
          <p:nvPr/>
        </p:nvSpPr>
        <p:spPr>
          <a:xfrm>
            <a:off x="7552944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Пулинг</a:t>
            </a:r>
          </a:p>
        </p:txBody>
      </p:sp>
      <p:sp>
        <p:nvSpPr>
          <p:cNvPr id="29" name="Пулинг dims"/>
          <p:cNvSpPr txBox="1"/>
          <p:nvPr/>
        </p:nvSpPr>
        <p:spPr>
          <a:xfrm>
            <a:off x="7507224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256 признаков</a:t>
            </a:r>
          </a:p>
        </p:txBody>
      </p:sp>
      <p:sp>
        <p:nvSpPr>
          <p:cNvPr id="30" name="Flow 6"/>
          <p:cNvSpPr txBox="1"/>
          <p:nvPr/>
        </p:nvSpPr>
        <p:spPr>
          <a:xfrm>
            <a:off x="8741664" y="2404872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6E7688"/>
                </a:solidFill>
                <a:latin typeface="Segoe UI Semibold"/>
              </a:rPr>
              <a:t>›</a:t>
            </a:r>
          </a:p>
        </p:txBody>
      </p:sp>
      <p:sp>
        <p:nvSpPr>
          <p:cNvPr id="31" name="Слой 128 block"/>
          <p:cNvSpPr/>
          <p:nvPr/>
        </p:nvSpPr>
        <p:spPr>
          <a:xfrm>
            <a:off x="9180576" y="2354580"/>
            <a:ext cx="822959" cy="502920"/>
          </a:xfrm>
          <a:prstGeom prst="roundRect">
            <a:avLst>
              <a:gd name="adj" fmla="val 12000"/>
            </a:avLst>
          </a:prstGeom>
          <a:solidFill>
            <a:srgbClr val="2F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Слой 128 label"/>
          <p:cNvSpPr txBox="1"/>
          <p:nvPr/>
        </p:nvSpPr>
        <p:spPr>
          <a:xfrm>
            <a:off x="8951976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Слой 128</a:t>
            </a:r>
          </a:p>
        </p:txBody>
      </p:sp>
      <p:sp>
        <p:nvSpPr>
          <p:cNvPr id="33" name="Слой 128 dims"/>
          <p:cNvSpPr txBox="1"/>
          <p:nvPr/>
        </p:nvSpPr>
        <p:spPr>
          <a:xfrm>
            <a:off x="8906256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+ Dropout 0.4</a:t>
            </a:r>
          </a:p>
        </p:txBody>
      </p:sp>
      <p:sp>
        <p:nvSpPr>
          <p:cNvPr id="34" name="Flow 7"/>
          <p:cNvSpPr txBox="1"/>
          <p:nvPr/>
        </p:nvSpPr>
        <p:spPr>
          <a:xfrm>
            <a:off x="10140696" y="2404872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>
                <a:solidFill>
                  <a:srgbClr val="6E7688"/>
                </a:solidFill>
                <a:latin typeface="Segoe UI Semibold"/>
              </a:rPr>
              <a:t>›</a:t>
            </a:r>
          </a:p>
        </p:txBody>
      </p:sp>
      <p:sp>
        <p:nvSpPr>
          <p:cNvPr id="35" name="Output node"/>
          <p:cNvSpPr/>
          <p:nvPr/>
        </p:nvSpPr>
        <p:spPr>
          <a:xfrm>
            <a:off x="10625328" y="2240280"/>
            <a:ext cx="731520" cy="731520"/>
          </a:xfrm>
          <a:prstGeom prst="ellipse">
            <a:avLst/>
          </a:prstGeom>
          <a:solidFill>
            <a:srgbClr val="34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36" name="Выход label"/>
          <p:cNvSpPr txBox="1"/>
          <p:nvPr/>
        </p:nvSpPr>
        <p:spPr>
          <a:xfrm>
            <a:off x="10351008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EEF0F3"/>
                </a:solidFill>
                <a:latin typeface="Segoe UI Semibold"/>
              </a:rPr>
              <a:t>Выход</a:t>
            </a:r>
          </a:p>
        </p:txBody>
      </p:sp>
      <p:sp>
        <p:nvSpPr>
          <p:cNvPr id="37" name="Выход dims"/>
          <p:cNvSpPr txBox="1"/>
          <p:nvPr/>
        </p:nvSpPr>
        <p:spPr>
          <a:xfrm>
            <a:off x="10305288" y="3886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A3ABBA"/>
                </a:solidFill>
                <a:latin typeface="Segoe UI"/>
              </a:rPr>
              <a:t>вероятность</a:t>
            </a:r>
          </a:p>
        </p:txBody>
      </p:sp>
      <p:sp>
        <p:nvSpPr>
          <p:cNvPr id="38" name="Fact 1 card"/>
          <p:cNvSpPr/>
          <p:nvPr/>
        </p:nvSpPr>
        <p:spPr>
          <a:xfrm>
            <a:off x="548640" y="4572000"/>
            <a:ext cx="3514344" cy="137160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act 1"/>
          <p:cNvSpPr txBox="1"/>
          <p:nvPr/>
        </p:nvSpPr>
        <p:spPr>
          <a:xfrm>
            <a:off x="822959" y="4773168"/>
            <a:ext cx="29657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EEF0F3"/>
                </a:solidFill>
                <a:latin typeface="Segoe UI Semibold"/>
              </a:rPr>
              <a:t>Написана с нуля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Архитектура на PyTorch, обучение без готовых весов</a:t>
            </a:r>
          </a:p>
        </p:txBody>
      </p:sp>
      <p:sp>
        <p:nvSpPr>
          <p:cNvPr id="40" name="Fact 2 card"/>
          <p:cNvSpPr/>
          <p:nvPr/>
        </p:nvSpPr>
        <p:spPr>
          <a:xfrm>
            <a:off x="4337304" y="4572000"/>
            <a:ext cx="3514344" cy="137160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act 2"/>
          <p:cNvSpPr txBox="1"/>
          <p:nvPr/>
        </p:nvSpPr>
        <p:spPr>
          <a:xfrm>
            <a:off x="4611624" y="4773168"/>
            <a:ext cx="29657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EEF0F3"/>
                </a:solidFill>
                <a:latin typeface="Segoe UI Semibold"/>
              </a:rPr>
              <a:t>Сверточный блок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Свёртка 3 × 3 → BatchNorm → ReLU → MaxPool</a:t>
            </a:r>
          </a:p>
        </p:txBody>
      </p:sp>
      <p:sp>
        <p:nvSpPr>
          <p:cNvPr id="42" name="Fact 3 card"/>
          <p:cNvSpPr/>
          <p:nvPr/>
        </p:nvSpPr>
        <p:spPr>
          <a:xfrm>
            <a:off x="8125968" y="4572000"/>
            <a:ext cx="3514344" cy="137160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act 3"/>
          <p:cNvSpPr txBox="1"/>
          <p:nvPr/>
        </p:nvSpPr>
        <p:spPr>
          <a:xfrm>
            <a:off x="8400288" y="4773168"/>
            <a:ext cx="29657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EEF0F3"/>
                </a:solidFill>
                <a:latin typeface="Segoe UI Semibold"/>
              </a:rPr>
              <a:t>422 тыс. параметров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Компактная модель: файл весит всего 1.7 МБ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Как обучалась модель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04 · ОБУЧЕНИЕ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05</a:t>
            </a:r>
          </a:p>
        </p:txBody>
      </p:sp>
      <p:pic>
        <p:nvPicPr>
          <p:cNvPr id="7" name="Augment original" descr="Исходный обучающий снимо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2743200" cy="2743200"/>
          </a:xfrm>
          <a:prstGeom prst="roundRect">
            <a:avLst>
              <a:gd name="adj" fmla="val 4000"/>
            </a:avLst>
          </a:prstGeom>
        </p:spPr>
      </p:pic>
      <p:pic>
        <p:nvPicPr>
          <p:cNvPr id="8" name="Augment 1" descr="Вариант аугментации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1600200"/>
            <a:ext cx="1298448" cy="1298448"/>
          </a:xfrm>
          <a:prstGeom prst="roundRect">
            <a:avLst>
              <a:gd name="adj" fmla="val 4000"/>
            </a:avLst>
          </a:prstGeom>
        </p:spPr>
      </p:pic>
      <p:pic>
        <p:nvPicPr>
          <p:cNvPr id="9" name="Augment 2" descr="Вариант аугментации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1600200"/>
            <a:ext cx="1298448" cy="1298448"/>
          </a:xfrm>
          <a:prstGeom prst="roundRect">
            <a:avLst>
              <a:gd name="adj" fmla="val 4000"/>
            </a:avLst>
          </a:prstGeom>
        </p:spPr>
      </p:pic>
      <p:pic>
        <p:nvPicPr>
          <p:cNvPr id="10" name="Augment 3" descr="Вариант аугментации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044952"/>
            <a:ext cx="1298448" cy="1298448"/>
          </a:xfrm>
          <a:prstGeom prst="roundRect">
            <a:avLst>
              <a:gd name="adj" fmla="val 4000"/>
            </a:avLst>
          </a:prstGeom>
        </p:spPr>
      </p:pic>
      <p:pic>
        <p:nvPicPr>
          <p:cNvPr id="11" name="Augment 4" descr="Вариант аугментации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3044952"/>
            <a:ext cx="1298448" cy="1298448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Augment caption original"/>
          <p:cNvSpPr txBox="1"/>
          <p:nvPr/>
        </p:nvSpPr>
        <p:spPr>
          <a:xfrm>
            <a:off x="548640" y="44805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Исходный снимок</a:t>
            </a:r>
          </a:p>
        </p:txBody>
      </p:sp>
      <p:sp>
        <p:nvSpPr>
          <p:cNvPr id="13" name="Augment caption variants"/>
          <p:cNvSpPr txBox="1"/>
          <p:nvPr/>
        </p:nvSpPr>
        <p:spPr>
          <a:xfrm>
            <a:off x="3520440" y="44805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Варианты для обучения</a:t>
            </a:r>
          </a:p>
        </p:txBody>
      </p:sp>
      <p:sp>
        <p:nvSpPr>
          <p:cNvPr id="14" name="Augment note"/>
          <p:cNvSpPr txBox="1"/>
          <p:nvPr/>
        </p:nvSpPr>
        <p:spPr>
          <a:xfrm>
            <a:off x="548640" y="5029200"/>
            <a:ext cx="5715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 err="1">
                <a:solidFill>
                  <a:srgbClr val="EEF0F3"/>
                </a:solidFill>
                <a:latin typeface="Segoe UI"/>
              </a:rPr>
              <a:t>Аугментации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снимок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каждый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раз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немного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поворачивается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сдвигается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обрезается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меняется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яркость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контраст</a:t>
            </a:r>
            <a:r>
              <a:rPr lang="en-US" sz="1400" dirty="0">
                <a:solidFill>
                  <a:srgbClr val="EEF0F3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модель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учится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обобщать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, а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не</a:t>
            </a:r>
            <a:r>
              <a:rPr sz="14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EF0F3"/>
                </a:solidFill>
                <a:latin typeface="Segoe UI"/>
              </a:rPr>
              <a:t>запоминать</a:t>
            </a:r>
            <a:endParaRPr sz="1400" dirty="0">
              <a:solidFill>
                <a:srgbClr val="EEF0F3"/>
              </a:solidFill>
              <a:latin typeface="Segoe UI"/>
            </a:endParaRPr>
          </a:p>
        </p:txBody>
      </p:sp>
      <p:sp>
        <p:nvSpPr>
          <p:cNvPr id="15" name="Settings card"/>
          <p:cNvSpPr/>
          <p:nvPr/>
        </p:nvSpPr>
        <p:spPr>
          <a:xfrm>
            <a:off x="6675120" y="1600200"/>
            <a:ext cx="4965192" cy="452628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etting 1 label"/>
          <p:cNvSpPr txBox="1"/>
          <p:nvPr/>
        </p:nvSpPr>
        <p:spPr>
          <a:xfrm>
            <a:off x="6949440" y="182880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Разбиение</a:t>
            </a:r>
          </a:p>
        </p:txBody>
      </p:sp>
      <p:sp>
        <p:nvSpPr>
          <p:cNvPr id="17" name="Setting 1 value"/>
          <p:cNvSpPr txBox="1"/>
          <p:nvPr/>
        </p:nvSpPr>
        <p:spPr>
          <a:xfrm>
            <a:off x="8595360" y="1828800"/>
            <a:ext cx="2834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EEF0F3"/>
                </a:solidFill>
                <a:latin typeface="Segoe UI"/>
              </a:rPr>
              <a:t>4 433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снимка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lang="ru-RU" sz="1300" dirty="0">
                <a:solidFill>
                  <a:srgbClr val="EEF0F3"/>
                </a:solidFill>
                <a:latin typeface="Segoe UI"/>
              </a:rPr>
              <a:t>для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обучени</a:t>
            </a:r>
            <a:r>
              <a:rPr lang="ru-RU" sz="1300" dirty="0">
                <a:solidFill>
                  <a:srgbClr val="EEF0F3"/>
                </a:solidFill>
                <a:latin typeface="Segoe UI"/>
              </a:rPr>
              <a:t>я</a:t>
            </a:r>
            <a:r>
              <a:rPr lang="en-US" sz="1300" dirty="0">
                <a:solidFill>
                  <a:srgbClr val="EEF0F3"/>
                </a:solidFill>
                <a:latin typeface="Segoe UI"/>
              </a:rPr>
              <a:t>,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783 </a:t>
            </a:r>
            <a:r>
              <a:rPr lang="ru-RU" sz="1300" dirty="0">
                <a:solidFill>
                  <a:srgbClr val="EEF0F3"/>
                </a:solidFill>
                <a:latin typeface="Segoe UI"/>
              </a:rPr>
              <a:t>для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валидация</a:t>
            </a:r>
            <a:endParaRPr sz="1300" dirty="0">
              <a:solidFill>
                <a:srgbClr val="EEF0F3"/>
              </a:solidFill>
              <a:latin typeface="Segoe UI"/>
            </a:endParaRPr>
          </a:p>
        </p:txBody>
      </p:sp>
      <p:sp>
        <p:nvSpPr>
          <p:cNvPr id="18" name="Setting 2 label"/>
          <p:cNvSpPr txBox="1"/>
          <p:nvPr/>
        </p:nvSpPr>
        <p:spPr>
          <a:xfrm>
            <a:off x="6949440" y="2523744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Баланс классов</a:t>
            </a:r>
          </a:p>
        </p:txBody>
      </p:sp>
      <p:sp>
        <p:nvSpPr>
          <p:cNvPr id="19" name="Setting 2 value"/>
          <p:cNvSpPr txBox="1"/>
          <p:nvPr/>
        </p:nvSpPr>
        <p:spPr>
          <a:xfrm>
            <a:off x="8595360" y="2523744"/>
            <a:ext cx="2834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EEF0F3"/>
                </a:solidFill>
                <a:latin typeface="Segoe UI"/>
              </a:rPr>
              <a:t>вес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пневмонии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≈ 0.35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классы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равноценны</a:t>
            </a:r>
            <a:endParaRPr sz="1300" dirty="0">
              <a:solidFill>
                <a:srgbClr val="EEF0F3"/>
              </a:solidFill>
              <a:latin typeface="Segoe UI"/>
            </a:endParaRPr>
          </a:p>
        </p:txBody>
      </p:sp>
      <p:sp>
        <p:nvSpPr>
          <p:cNvPr id="20" name="Setting 3 label"/>
          <p:cNvSpPr txBox="1"/>
          <p:nvPr/>
        </p:nvSpPr>
        <p:spPr>
          <a:xfrm>
            <a:off x="6949440" y="3218688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Оптимизатор</a:t>
            </a:r>
          </a:p>
        </p:txBody>
      </p:sp>
      <p:sp>
        <p:nvSpPr>
          <p:cNvPr id="21" name="Setting 3 value"/>
          <p:cNvSpPr txBox="1"/>
          <p:nvPr/>
        </p:nvSpPr>
        <p:spPr>
          <a:xfrm>
            <a:off x="8595360" y="321868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EEF0F3"/>
                </a:solidFill>
                <a:latin typeface="Segoe UI"/>
              </a:rPr>
              <a:t>AdamW + OneCycle, шаг до 10⁻³</a:t>
            </a:r>
          </a:p>
        </p:txBody>
      </p:sp>
      <p:sp>
        <p:nvSpPr>
          <p:cNvPr id="22" name="Setting 4 label"/>
          <p:cNvSpPr txBox="1"/>
          <p:nvPr/>
        </p:nvSpPr>
        <p:spPr>
          <a:xfrm>
            <a:off x="6949440" y="3913632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Ускорение</a:t>
            </a:r>
          </a:p>
        </p:txBody>
      </p:sp>
      <p:sp>
        <p:nvSpPr>
          <p:cNvPr id="23" name="Setting 4 value"/>
          <p:cNvSpPr txBox="1"/>
          <p:nvPr/>
        </p:nvSpPr>
        <p:spPr>
          <a:xfrm>
            <a:off x="8595360" y="39136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EEF0F3"/>
                </a:solidFill>
                <a:latin typeface="Segoe UI"/>
              </a:rPr>
              <a:t>смешанная точность на GPU RTX 3080 Ti</a:t>
            </a:r>
          </a:p>
        </p:txBody>
      </p:sp>
      <p:sp>
        <p:nvSpPr>
          <p:cNvPr id="24" name="Setting 5 label"/>
          <p:cNvSpPr txBox="1"/>
          <p:nvPr/>
        </p:nvSpPr>
        <p:spPr>
          <a:xfrm>
            <a:off x="6949440" y="4608576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Эпохи</a:t>
            </a:r>
          </a:p>
        </p:txBody>
      </p:sp>
      <p:sp>
        <p:nvSpPr>
          <p:cNvPr id="25" name="Setting 5 value"/>
          <p:cNvSpPr txBox="1"/>
          <p:nvPr/>
        </p:nvSpPr>
        <p:spPr>
          <a:xfrm>
            <a:off x="8595360" y="4608576"/>
            <a:ext cx="2834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EEF0F3"/>
                </a:solidFill>
                <a:latin typeface="Segoe UI"/>
              </a:rPr>
              <a:t>40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эпох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,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лучшая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34-я,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валидация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96.0%</a:t>
            </a:r>
          </a:p>
        </p:txBody>
      </p:sp>
      <p:sp>
        <p:nvSpPr>
          <p:cNvPr id="26" name="Setting 6 label"/>
          <p:cNvSpPr txBox="1"/>
          <p:nvPr/>
        </p:nvSpPr>
        <p:spPr>
          <a:xfrm>
            <a:off x="6949440" y="530352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Порог</a:t>
            </a:r>
          </a:p>
        </p:txBody>
      </p:sp>
      <p:sp>
        <p:nvSpPr>
          <p:cNvPr id="27" name="Setting 6 value"/>
          <p:cNvSpPr txBox="1"/>
          <p:nvPr/>
        </p:nvSpPr>
        <p:spPr>
          <a:xfrm>
            <a:off x="8595360" y="5303520"/>
            <a:ext cx="2834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EEF0F3"/>
                </a:solidFill>
                <a:latin typeface="Segoe UI"/>
              </a:rPr>
              <a:t>0.22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подобран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на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валидации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по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индексу</a:t>
            </a:r>
            <a:r>
              <a:rPr sz="1300" dirty="0">
                <a:solidFill>
                  <a:srgbClr val="EEF0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EF0F3"/>
                </a:solidFill>
                <a:latin typeface="Segoe UI"/>
              </a:rPr>
              <a:t>Юдена</a:t>
            </a:r>
            <a:endParaRPr sz="1300" dirty="0">
              <a:solidFill>
                <a:srgbClr val="EEF0F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 dirty="0" err="1">
                <a:solidFill>
                  <a:srgbClr val="EEF0F3"/>
                </a:solidFill>
                <a:latin typeface="Segoe UI Semibold"/>
              </a:rPr>
              <a:t>Результаты</a:t>
            </a:r>
            <a:r>
              <a:rPr sz="3200" dirty="0">
                <a:solidFill>
                  <a:srgbClr val="EEF0F3"/>
                </a:solidFill>
                <a:latin typeface="Segoe UI Semibold"/>
              </a:rPr>
              <a:t> </a:t>
            </a:r>
            <a:r>
              <a:rPr sz="3200" dirty="0" err="1">
                <a:solidFill>
                  <a:srgbClr val="EEF0F3"/>
                </a:solidFill>
                <a:latin typeface="Segoe UI Semibold"/>
              </a:rPr>
              <a:t>на</a:t>
            </a:r>
            <a:r>
              <a:rPr sz="3200" dirty="0">
                <a:solidFill>
                  <a:srgbClr val="EEF0F3"/>
                </a:solidFill>
                <a:latin typeface="Segoe UI Semibold"/>
              </a:rPr>
              <a:t> 624 </a:t>
            </a:r>
            <a:r>
              <a:rPr sz="3200" dirty="0" err="1">
                <a:solidFill>
                  <a:srgbClr val="EEF0F3"/>
                </a:solidFill>
                <a:latin typeface="Segoe UI Semibold"/>
              </a:rPr>
              <a:t>снимках</a:t>
            </a:r>
            <a:r>
              <a:rPr lang="ru-RU" sz="3200" dirty="0">
                <a:solidFill>
                  <a:srgbClr val="EEF0F3"/>
                </a:solidFill>
                <a:latin typeface="Segoe UI Semibold"/>
              </a:rPr>
              <a:t> валидации</a:t>
            </a:r>
            <a:endParaRPr sz="3200" dirty="0">
              <a:solidFill>
                <a:srgbClr val="EEF0F3"/>
              </a:solidFill>
              <a:latin typeface="Segoe UI Semibold"/>
            </a:endParaRP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05 · РЕЗУЛЬТАТЫ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06</a:t>
            </a:r>
          </a:p>
        </p:txBody>
      </p:sp>
      <p:sp>
        <p:nvSpPr>
          <p:cNvPr id="7" name="Metric 1 card"/>
          <p:cNvSpPr/>
          <p:nvPr/>
        </p:nvSpPr>
        <p:spPr>
          <a:xfrm>
            <a:off x="548640" y="1600200"/>
            <a:ext cx="2834640" cy="214884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etric 1 label"/>
          <p:cNvSpPr txBox="1"/>
          <p:nvPr/>
        </p:nvSpPr>
        <p:spPr>
          <a:xfrm>
            <a:off x="822959" y="18562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ROC-AUC</a:t>
            </a:r>
          </a:p>
        </p:txBody>
      </p:sp>
      <p:sp>
        <p:nvSpPr>
          <p:cNvPr id="9" name="Metric 1 value"/>
          <p:cNvSpPr txBox="1"/>
          <p:nvPr/>
        </p:nvSpPr>
        <p:spPr>
          <a:xfrm>
            <a:off x="822959" y="216712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>
                <a:solidFill>
                  <a:srgbClr val="4F8CFF"/>
                </a:solidFill>
                <a:latin typeface="Segoe UI Semibold"/>
              </a:rPr>
              <a:t>0.971</a:t>
            </a:r>
          </a:p>
        </p:txBody>
      </p:sp>
      <p:sp>
        <p:nvSpPr>
          <p:cNvPr id="10" name="Metric 1 note"/>
          <p:cNvSpPr txBox="1"/>
          <p:nvPr/>
        </p:nvSpPr>
        <p:spPr>
          <a:xfrm>
            <a:off x="822959" y="29718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качество разделения классов (максимум — 1.0)</a:t>
            </a:r>
          </a:p>
        </p:txBody>
      </p:sp>
      <p:sp>
        <p:nvSpPr>
          <p:cNvPr id="11" name="Metric 2 card"/>
          <p:cNvSpPr/>
          <p:nvPr/>
        </p:nvSpPr>
        <p:spPr>
          <a:xfrm>
            <a:off x="3566160" y="1600200"/>
            <a:ext cx="2834640" cy="214884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etric 2 label"/>
          <p:cNvSpPr txBox="1"/>
          <p:nvPr/>
        </p:nvSpPr>
        <p:spPr>
          <a:xfrm>
            <a:off x="3840480" y="18562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Точность</a:t>
            </a:r>
          </a:p>
        </p:txBody>
      </p:sp>
      <p:sp>
        <p:nvSpPr>
          <p:cNvPr id="13" name="Metric 2 value"/>
          <p:cNvSpPr txBox="1"/>
          <p:nvPr/>
        </p:nvSpPr>
        <p:spPr>
          <a:xfrm>
            <a:off x="3840480" y="216712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>
                <a:solidFill>
                  <a:srgbClr val="EEF0F3"/>
                </a:solidFill>
                <a:latin typeface="Segoe UI Semibold"/>
              </a:rPr>
              <a:t>88.1%</a:t>
            </a:r>
          </a:p>
        </p:txBody>
      </p:sp>
      <p:sp>
        <p:nvSpPr>
          <p:cNvPr id="14" name="Metric 2 note"/>
          <p:cNvSpPr txBox="1"/>
          <p:nvPr/>
        </p:nvSpPr>
        <p:spPr>
          <a:xfrm>
            <a:off x="3840480" y="29718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550 из 624 снимков определены верно</a:t>
            </a:r>
          </a:p>
        </p:txBody>
      </p:sp>
      <p:sp>
        <p:nvSpPr>
          <p:cNvPr id="15" name="Metric 3 card"/>
          <p:cNvSpPr/>
          <p:nvPr/>
        </p:nvSpPr>
        <p:spPr>
          <a:xfrm>
            <a:off x="548640" y="3931920"/>
            <a:ext cx="2834640" cy="214884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etric 3 label"/>
          <p:cNvSpPr txBox="1"/>
          <p:nvPr/>
        </p:nvSpPr>
        <p:spPr>
          <a:xfrm>
            <a:off x="822959" y="4187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Чувствительность</a:t>
            </a:r>
          </a:p>
        </p:txBody>
      </p:sp>
      <p:sp>
        <p:nvSpPr>
          <p:cNvPr id="17" name="Metric 3 value"/>
          <p:cNvSpPr txBox="1"/>
          <p:nvPr/>
        </p:nvSpPr>
        <p:spPr>
          <a:xfrm>
            <a:off x="822959" y="449884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>
                <a:solidFill>
                  <a:srgbClr val="34C47C"/>
                </a:solidFill>
                <a:latin typeface="Segoe UI Semibold"/>
              </a:rPr>
              <a:t>99.0%</a:t>
            </a:r>
          </a:p>
        </p:txBody>
      </p:sp>
      <p:sp>
        <p:nvSpPr>
          <p:cNvPr id="18" name="Metric 3 note"/>
          <p:cNvSpPr txBox="1"/>
          <p:nvPr/>
        </p:nvSpPr>
        <p:spPr>
          <a:xfrm>
            <a:off x="822959" y="53035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найдено 386 из 390 пневмоний</a:t>
            </a:r>
          </a:p>
        </p:txBody>
      </p:sp>
      <p:sp>
        <p:nvSpPr>
          <p:cNvPr id="19" name="Metric 4 card"/>
          <p:cNvSpPr/>
          <p:nvPr/>
        </p:nvSpPr>
        <p:spPr>
          <a:xfrm>
            <a:off x="3566160" y="3931920"/>
            <a:ext cx="2834640" cy="214884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Metric 4 label"/>
          <p:cNvSpPr txBox="1"/>
          <p:nvPr/>
        </p:nvSpPr>
        <p:spPr>
          <a:xfrm>
            <a:off x="3840480" y="4187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Специфичность</a:t>
            </a:r>
          </a:p>
        </p:txBody>
      </p:sp>
      <p:sp>
        <p:nvSpPr>
          <p:cNvPr id="21" name="Metric 4 value"/>
          <p:cNvSpPr txBox="1"/>
          <p:nvPr/>
        </p:nvSpPr>
        <p:spPr>
          <a:xfrm>
            <a:off x="3840480" y="449884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>
                <a:solidFill>
                  <a:srgbClr val="EEF0F3"/>
                </a:solidFill>
                <a:latin typeface="Segoe UI Semibold"/>
              </a:rPr>
              <a:t>70.1%</a:t>
            </a:r>
          </a:p>
        </p:txBody>
      </p:sp>
      <p:sp>
        <p:nvSpPr>
          <p:cNvPr id="22" name="Metric 4 note"/>
          <p:cNvSpPr txBox="1"/>
          <p:nvPr/>
        </p:nvSpPr>
        <p:spPr>
          <a:xfrm>
            <a:off x="3840480" y="53035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164 из 234 здоровых распознаны верно</a:t>
            </a:r>
          </a:p>
        </p:txBody>
      </p:sp>
      <p:sp>
        <p:nvSpPr>
          <p:cNvPr id="23" name="Confusion card"/>
          <p:cNvSpPr/>
          <p:nvPr/>
        </p:nvSpPr>
        <p:spPr>
          <a:xfrm>
            <a:off x="6675120" y="1600200"/>
            <a:ext cx="4965192" cy="448056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onfusion title"/>
          <p:cNvSpPr txBox="1"/>
          <p:nvPr/>
        </p:nvSpPr>
        <p:spPr>
          <a:xfrm>
            <a:off x="6949440" y="181051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>
                <a:solidFill>
                  <a:srgbClr val="EEF0F3"/>
                </a:solidFill>
                <a:latin typeface="Segoe UI Semibold"/>
              </a:rPr>
              <a:t>Матрица ошибок</a:t>
            </a:r>
          </a:p>
        </p:txBody>
      </p:sp>
      <p:sp>
        <p:nvSpPr>
          <p:cNvPr id="25" name="Predicted header"/>
          <p:cNvSpPr txBox="1"/>
          <p:nvPr/>
        </p:nvSpPr>
        <p:spPr>
          <a:xfrm>
            <a:off x="8366760" y="2286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spc="100">
                <a:solidFill>
                  <a:srgbClr val="6E7688"/>
                </a:solidFill>
                <a:latin typeface="Segoe UI Semibold"/>
              </a:rPr>
              <a:t>ПРЕДСКАЗАНИЕ МОДЕЛИ</a:t>
            </a:r>
          </a:p>
        </p:txBody>
      </p:sp>
      <p:sp>
        <p:nvSpPr>
          <p:cNvPr id="26" name="Col 1"/>
          <p:cNvSpPr txBox="1"/>
          <p:nvPr/>
        </p:nvSpPr>
        <p:spPr>
          <a:xfrm>
            <a:off x="8366760" y="26060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A3ABBA"/>
                </a:solidFill>
                <a:latin typeface="Segoe UI"/>
              </a:rPr>
              <a:t>Норма</a:t>
            </a:r>
          </a:p>
        </p:txBody>
      </p:sp>
      <p:sp>
        <p:nvSpPr>
          <p:cNvPr id="27" name="Row 1"/>
          <p:cNvSpPr txBox="1"/>
          <p:nvPr/>
        </p:nvSpPr>
        <p:spPr>
          <a:xfrm>
            <a:off x="6949440" y="338328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EEF0F3"/>
                </a:solidFill>
                <a:latin typeface="Segoe UI"/>
              </a:rPr>
              <a:t>Норма</a:t>
            </a:r>
          </a:p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реально</a:t>
            </a:r>
          </a:p>
        </p:txBody>
      </p:sp>
      <p:sp>
        <p:nvSpPr>
          <p:cNvPr id="28" name="Col 2"/>
          <p:cNvSpPr txBox="1"/>
          <p:nvPr/>
        </p:nvSpPr>
        <p:spPr>
          <a:xfrm>
            <a:off x="9921240" y="26060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A3ABBA"/>
                </a:solidFill>
                <a:latin typeface="Segoe UI"/>
              </a:rPr>
              <a:t>Пневмония</a:t>
            </a:r>
          </a:p>
        </p:txBody>
      </p:sp>
      <p:sp>
        <p:nvSpPr>
          <p:cNvPr id="29" name="Row 2"/>
          <p:cNvSpPr txBox="1"/>
          <p:nvPr/>
        </p:nvSpPr>
        <p:spPr>
          <a:xfrm>
            <a:off x="6949440" y="484632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EEF0F3"/>
                </a:solidFill>
                <a:latin typeface="Segoe UI"/>
              </a:rPr>
              <a:t>Пневмония</a:t>
            </a:r>
          </a:p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реально</a:t>
            </a:r>
          </a:p>
        </p:txBody>
      </p:sp>
      <p:sp>
        <p:nvSpPr>
          <p:cNvPr id="30" name="Cell 11"/>
          <p:cNvSpPr/>
          <p:nvPr/>
        </p:nvSpPr>
        <p:spPr>
          <a:xfrm>
            <a:off x="8366760" y="297180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7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ell 11 value"/>
          <p:cNvSpPr txBox="1"/>
          <p:nvPr/>
        </p:nvSpPr>
        <p:spPr>
          <a:xfrm>
            <a:off x="8366760" y="3200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>
                <a:solidFill>
                  <a:srgbClr val="34C47C"/>
                </a:solidFill>
                <a:latin typeface="Segoe UI Semibold"/>
              </a:rPr>
              <a:t>164</a:t>
            </a:r>
          </a:p>
        </p:txBody>
      </p:sp>
      <p:sp>
        <p:nvSpPr>
          <p:cNvPr id="32" name="Cell 11 label"/>
          <p:cNvSpPr txBox="1"/>
          <p:nvPr/>
        </p:nvSpPr>
        <p:spPr>
          <a:xfrm>
            <a:off x="836676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A3ABBA"/>
                </a:solidFill>
                <a:latin typeface="Segoe UI"/>
              </a:rPr>
              <a:t>верно</a:t>
            </a:r>
          </a:p>
        </p:txBody>
      </p:sp>
      <p:sp>
        <p:nvSpPr>
          <p:cNvPr id="33" name="Cell 12"/>
          <p:cNvSpPr/>
          <p:nvPr/>
        </p:nvSpPr>
        <p:spPr>
          <a:xfrm>
            <a:off x="9921240" y="297180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3A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ell 12 value"/>
          <p:cNvSpPr txBox="1"/>
          <p:nvPr/>
        </p:nvSpPr>
        <p:spPr>
          <a:xfrm>
            <a:off x="9921240" y="32004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>
                <a:solidFill>
                  <a:srgbClr val="F0565B"/>
                </a:solidFill>
                <a:latin typeface="Segoe UI Semibold"/>
              </a:rPr>
              <a:t>70</a:t>
            </a:r>
          </a:p>
        </p:txBody>
      </p:sp>
      <p:sp>
        <p:nvSpPr>
          <p:cNvPr id="35" name="Cell 12 label"/>
          <p:cNvSpPr txBox="1"/>
          <p:nvPr/>
        </p:nvSpPr>
        <p:spPr>
          <a:xfrm>
            <a:off x="9921240" y="3794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A3ABBA"/>
                </a:solidFill>
                <a:latin typeface="Segoe UI"/>
              </a:rPr>
              <a:t>ложная тревога</a:t>
            </a:r>
          </a:p>
        </p:txBody>
      </p:sp>
      <p:sp>
        <p:nvSpPr>
          <p:cNvPr id="36" name="Cell 21"/>
          <p:cNvSpPr/>
          <p:nvPr/>
        </p:nvSpPr>
        <p:spPr>
          <a:xfrm>
            <a:off x="8366760" y="443484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3A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ell 21 value"/>
          <p:cNvSpPr txBox="1"/>
          <p:nvPr/>
        </p:nvSpPr>
        <p:spPr>
          <a:xfrm>
            <a:off x="8366760" y="46634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>
                <a:solidFill>
                  <a:srgbClr val="F0565B"/>
                </a:solidFill>
                <a:latin typeface="Segoe UI Semibold"/>
              </a:rPr>
              <a:t>4</a:t>
            </a:r>
          </a:p>
        </p:txBody>
      </p:sp>
      <p:sp>
        <p:nvSpPr>
          <p:cNvPr id="38" name="Cell 21 label"/>
          <p:cNvSpPr txBox="1"/>
          <p:nvPr/>
        </p:nvSpPr>
        <p:spPr>
          <a:xfrm>
            <a:off x="8366760" y="5257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A3ABBA"/>
                </a:solidFill>
                <a:latin typeface="Segoe UI"/>
              </a:rPr>
              <a:t>пропуск</a:t>
            </a:r>
          </a:p>
        </p:txBody>
      </p:sp>
      <p:sp>
        <p:nvSpPr>
          <p:cNvPr id="39" name="Cell 22"/>
          <p:cNvSpPr/>
          <p:nvPr/>
        </p:nvSpPr>
        <p:spPr>
          <a:xfrm>
            <a:off x="9921240" y="443484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7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ell 22 value"/>
          <p:cNvSpPr txBox="1"/>
          <p:nvPr/>
        </p:nvSpPr>
        <p:spPr>
          <a:xfrm>
            <a:off x="9921240" y="466344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>
                <a:solidFill>
                  <a:srgbClr val="34C47C"/>
                </a:solidFill>
                <a:latin typeface="Segoe UI Semibold"/>
              </a:rPr>
              <a:t>386</a:t>
            </a:r>
          </a:p>
        </p:txBody>
      </p:sp>
      <p:sp>
        <p:nvSpPr>
          <p:cNvPr id="41" name="Cell 22 label"/>
          <p:cNvSpPr txBox="1"/>
          <p:nvPr/>
        </p:nvSpPr>
        <p:spPr>
          <a:xfrm>
            <a:off x="9921240" y="5257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A3ABBA"/>
                </a:solidFill>
                <a:latin typeface="Segoe UI"/>
              </a:rPr>
              <a:t>верно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Тепловая карта: куда смотрит модель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06 · ОБЪЯСНИМОСТЬ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07</a:t>
            </a:r>
          </a:p>
        </p:txBody>
      </p:sp>
      <p:pic>
        <p:nvPicPr>
          <p:cNvPr id="7" name="Grad-CAM original" descr="Исходный снимок с пневмонией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3886200" cy="2677472"/>
          </a:xfrm>
          <a:prstGeom prst="roundRect">
            <a:avLst>
              <a:gd name="adj" fmla="val 4000"/>
            </a:avLst>
          </a:prstGeom>
        </p:spPr>
      </p:pic>
      <p:pic>
        <p:nvPicPr>
          <p:cNvPr id="8" name="Grad-CAM heatmap" descr="Тот же снимок с тепловой картой Grad-C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59" y="1600200"/>
            <a:ext cx="3886200" cy="2677472"/>
          </a:xfrm>
          <a:prstGeom prst="roundRect">
            <a:avLst>
              <a:gd name="adj" fmla="val 4000"/>
            </a:avLst>
          </a:prstGeom>
        </p:spPr>
      </p:pic>
      <p:sp>
        <p:nvSpPr>
          <p:cNvPr id="9" name="Caption original"/>
          <p:cNvSpPr txBox="1"/>
          <p:nvPr/>
        </p:nvSpPr>
        <p:spPr>
          <a:xfrm>
            <a:off x="548640" y="4414832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A3ABBA"/>
                </a:solidFill>
                <a:latin typeface="Segoe UI"/>
              </a:rPr>
              <a:t>Исходный снимок</a:t>
            </a:r>
          </a:p>
        </p:txBody>
      </p:sp>
      <p:sp>
        <p:nvSpPr>
          <p:cNvPr id="10" name="Caption heatmap"/>
          <p:cNvSpPr txBox="1"/>
          <p:nvPr/>
        </p:nvSpPr>
        <p:spPr>
          <a:xfrm>
            <a:off x="4709159" y="4414832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A3ABBA"/>
                </a:solidFill>
                <a:latin typeface="Segoe UI"/>
              </a:rPr>
              <a:t>Тепловая карта · пневмония 99.6%</a:t>
            </a:r>
          </a:p>
        </p:txBody>
      </p:sp>
      <p:pic>
        <p:nvPicPr>
          <p:cNvPr id="11" name="Colorbar" descr="Цветовая шкала: от синего к красному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54912"/>
            <a:ext cx="8046720" cy="182880"/>
          </a:xfrm>
          <a:prstGeom prst="roundRect">
            <a:avLst>
              <a:gd name="adj" fmla="val 50000"/>
            </a:avLst>
          </a:prstGeom>
        </p:spPr>
      </p:pic>
      <p:sp>
        <p:nvSpPr>
          <p:cNvPr id="12" name="Colorbar low"/>
          <p:cNvSpPr txBox="1"/>
          <p:nvPr/>
        </p:nvSpPr>
        <p:spPr>
          <a:xfrm>
            <a:off x="548640" y="5347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слабое влияние</a:t>
            </a:r>
          </a:p>
        </p:txBody>
      </p:sp>
      <p:sp>
        <p:nvSpPr>
          <p:cNvPr id="13" name="Colorbar high"/>
          <p:cNvSpPr txBox="1"/>
          <p:nvPr/>
        </p:nvSpPr>
        <p:spPr>
          <a:xfrm>
            <a:off x="5852160" y="5347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>
                <a:solidFill>
                  <a:srgbClr val="A3ABBA"/>
                </a:solidFill>
                <a:latin typeface="Segoe UI"/>
              </a:rPr>
              <a:t>сильное влияние</a:t>
            </a:r>
          </a:p>
        </p:txBody>
      </p:sp>
      <p:sp>
        <p:nvSpPr>
          <p:cNvPr id="14" name="Point 1 marker"/>
          <p:cNvSpPr/>
          <p:nvPr/>
        </p:nvSpPr>
        <p:spPr>
          <a:xfrm>
            <a:off x="8915400" y="1618488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Point 1"/>
          <p:cNvSpPr txBox="1"/>
          <p:nvPr/>
        </p:nvSpPr>
        <p:spPr>
          <a:xfrm>
            <a:off x="9445752" y="16002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>
                <a:solidFill>
                  <a:srgbClr val="EEF0F3"/>
                </a:solidFill>
                <a:latin typeface="Segoe UI Semibold"/>
              </a:rPr>
              <a:t>Grad-CAM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карта строится по градиентам последнего сверточного блока</a:t>
            </a:r>
          </a:p>
        </p:txBody>
      </p:sp>
      <p:sp>
        <p:nvSpPr>
          <p:cNvPr id="16" name="Point 2 marker"/>
          <p:cNvSpPr/>
          <p:nvPr/>
        </p:nvSpPr>
        <p:spPr>
          <a:xfrm>
            <a:off x="8915400" y="3081528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Point 2"/>
          <p:cNvSpPr txBox="1"/>
          <p:nvPr/>
        </p:nvSpPr>
        <p:spPr>
          <a:xfrm>
            <a:off x="9445752" y="306324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>
                <a:solidFill>
                  <a:srgbClr val="EEF0F3"/>
                </a:solidFill>
                <a:latin typeface="Segoe UI Semibold"/>
              </a:rPr>
              <a:t>Красные зоны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сильнее всего повлияли на решение «пневмония»</a:t>
            </a:r>
          </a:p>
        </p:txBody>
      </p:sp>
      <p:sp>
        <p:nvSpPr>
          <p:cNvPr id="18" name="Point 3 marker"/>
          <p:cNvSpPr/>
          <p:nvPr/>
        </p:nvSpPr>
        <p:spPr>
          <a:xfrm>
            <a:off x="8915400" y="4544568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Point 3"/>
          <p:cNvSpPr txBox="1"/>
          <p:nvPr/>
        </p:nvSpPr>
        <p:spPr>
          <a:xfrm>
            <a:off x="9445752" y="45262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>
                <a:solidFill>
                  <a:srgbClr val="EEF0F3"/>
                </a:solidFill>
                <a:latin typeface="Segoe UI Semibold"/>
              </a:rPr>
              <a:t>Проверка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видно, что модель смотрит на лёгкие, а не на надписи и рамки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Приложение PneumoScan для Windows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07 · ПРИЛОЖЕНИЕ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08</a:t>
            </a:r>
          </a:p>
        </p:txBody>
      </p:sp>
      <p:pic>
        <p:nvPicPr>
          <p:cNvPr id="7" name="App screenshot" descr="Главное окно PneumoScan с пронумерованными зонами интерфейс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7635240" cy="4603601"/>
          </a:xfrm>
          <a:prstGeom prst="roundRect">
            <a:avLst>
              <a:gd name="adj" fmla="val 2000"/>
            </a:avLst>
          </a:prstGeom>
          <a:ln w="9525">
            <a:solidFill>
              <a:srgbClr val="293040"/>
            </a:solidFill>
          </a:ln>
          <a:effectLst>
            <a:outerShdw blurRad="381000" dist="1016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8" name="Marker 1"/>
          <p:cNvSpPr/>
          <p:nvPr/>
        </p:nvSpPr>
        <p:spPr>
          <a:xfrm>
            <a:off x="4438360" y="1626470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Marker 2"/>
          <p:cNvSpPr/>
          <p:nvPr/>
        </p:nvSpPr>
        <p:spPr>
          <a:xfrm>
            <a:off x="2025624" y="2046367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0" name="Marker 3"/>
          <p:cNvSpPr/>
          <p:nvPr/>
        </p:nvSpPr>
        <p:spPr>
          <a:xfrm>
            <a:off x="2376845" y="239755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1" name="Marker 4"/>
          <p:cNvSpPr/>
          <p:nvPr/>
        </p:nvSpPr>
        <p:spPr>
          <a:xfrm>
            <a:off x="5957773" y="2344112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2" name="Marker 5"/>
          <p:cNvSpPr/>
          <p:nvPr/>
        </p:nvSpPr>
        <p:spPr>
          <a:xfrm>
            <a:off x="5957773" y="3447297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13" name="Legend 1 marker"/>
          <p:cNvSpPr/>
          <p:nvPr/>
        </p:nvSpPr>
        <p:spPr>
          <a:xfrm>
            <a:off x="8778240" y="1664208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Legend 1"/>
          <p:cNvSpPr txBox="1"/>
          <p:nvPr/>
        </p:nvSpPr>
        <p:spPr>
          <a:xfrm>
            <a:off x="9308592" y="164592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EEF0F3"/>
                </a:solidFill>
                <a:latin typeface="Segoe UI Semibold"/>
              </a:rPr>
              <a:t>Загрузка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A3ABBA"/>
                </a:solidFill>
                <a:latin typeface="Segoe UI"/>
              </a:rPr>
              <a:t>файлы и папки, перетаскивание, экспорт отчёта</a:t>
            </a:r>
          </a:p>
        </p:txBody>
      </p:sp>
      <p:sp>
        <p:nvSpPr>
          <p:cNvPr id="15" name="Legend 2 marker"/>
          <p:cNvSpPr/>
          <p:nvPr/>
        </p:nvSpPr>
        <p:spPr>
          <a:xfrm>
            <a:off x="8778240" y="2578608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Legend 2"/>
          <p:cNvSpPr txBox="1"/>
          <p:nvPr/>
        </p:nvSpPr>
        <p:spPr>
          <a:xfrm>
            <a:off x="9308592" y="256032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EEF0F3"/>
                </a:solidFill>
                <a:latin typeface="Segoe UI Semibold"/>
              </a:rPr>
              <a:t>Список исследований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A3ABBA"/>
                </a:solidFill>
                <a:latin typeface="Segoe UI"/>
              </a:rPr>
              <a:t>миниатюры, метки и вероятности</a:t>
            </a:r>
          </a:p>
        </p:txBody>
      </p:sp>
      <p:sp>
        <p:nvSpPr>
          <p:cNvPr id="17" name="Legend 3 marker"/>
          <p:cNvSpPr/>
          <p:nvPr/>
        </p:nvSpPr>
        <p:spPr>
          <a:xfrm>
            <a:off x="8778240" y="3493008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Legend 3"/>
          <p:cNvSpPr txBox="1"/>
          <p:nvPr/>
        </p:nvSpPr>
        <p:spPr>
          <a:xfrm>
            <a:off x="9308592" y="347472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EEF0F3"/>
                </a:solidFill>
                <a:latin typeface="Segoe UI Semibold"/>
              </a:rPr>
              <a:t>Снимок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A3ABBA"/>
                </a:solidFill>
                <a:latin typeface="Segoe UI"/>
              </a:rPr>
              <a:t>оригинал или тепловая карта</a:t>
            </a:r>
          </a:p>
        </p:txBody>
      </p:sp>
      <p:sp>
        <p:nvSpPr>
          <p:cNvPr id="19" name="Legend 4 marker"/>
          <p:cNvSpPr/>
          <p:nvPr/>
        </p:nvSpPr>
        <p:spPr>
          <a:xfrm>
            <a:off x="8778240" y="4407407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Legend 4"/>
          <p:cNvSpPr txBox="1"/>
          <p:nvPr/>
        </p:nvSpPr>
        <p:spPr>
          <a:xfrm>
            <a:off x="9308592" y="438912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EEF0F3"/>
                </a:solidFill>
                <a:latin typeface="Segoe UI Semibold"/>
              </a:rPr>
              <a:t>Вердикт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A3ABBA"/>
                </a:solidFill>
                <a:latin typeface="Segoe UI"/>
              </a:rPr>
              <a:t>Normal / Pneumonia и вероятность</a:t>
            </a:r>
          </a:p>
        </p:txBody>
      </p:sp>
      <p:sp>
        <p:nvSpPr>
          <p:cNvPr id="21" name="Legend 5 marker"/>
          <p:cNvSpPr/>
          <p:nvPr/>
        </p:nvSpPr>
        <p:spPr>
          <a:xfrm>
            <a:off x="8778240" y="5321807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Legend 5"/>
          <p:cNvSpPr txBox="1"/>
          <p:nvPr/>
        </p:nvSpPr>
        <p:spPr>
          <a:xfrm>
            <a:off x="9308592" y="530352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EEF0F3"/>
                </a:solidFill>
                <a:latin typeface="Segoe UI Semibold"/>
              </a:rPr>
              <a:t>Порог решения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A3ABBA"/>
                </a:solidFill>
                <a:latin typeface="Segoe UI"/>
              </a:rPr>
              <a:t>ползунок, всё пересчитывается сразу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Возможности приложения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08 · ФУНКЦИИ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09</a:t>
            </a:r>
          </a:p>
        </p:txBody>
      </p:sp>
      <p:pic>
        <p:nvPicPr>
          <p:cNvPr id="7" name="App normal screenshot" descr="PneumoScan: здоровый снимок, вердикт «Normal», вероятность пневмонии 0.9%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5852160" cy="3528508"/>
          </a:xfrm>
          <a:prstGeom prst="roundRect">
            <a:avLst>
              <a:gd name="adj" fmla="val 2000"/>
            </a:avLst>
          </a:prstGeom>
          <a:ln w="9525">
            <a:solidFill>
              <a:srgbClr val="293040"/>
            </a:solidFill>
          </a:ln>
          <a:effectLst>
            <a:outerShdw blurRad="381000" dist="1016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8" name="Screenshot caption"/>
          <p:cNvSpPr txBox="1"/>
          <p:nvPr/>
        </p:nvSpPr>
        <p:spPr>
          <a:xfrm>
            <a:off x="548640" y="535730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A3ABBA"/>
                </a:solidFill>
                <a:latin typeface="Segoe UI"/>
              </a:rPr>
              <a:t>Здоровый снимок: вероятность пневмонии 0.9% → «Normal»</a:t>
            </a:r>
          </a:p>
        </p:txBody>
      </p:sp>
      <p:sp>
        <p:nvSpPr>
          <p:cNvPr id="9" name="Feature 1 card"/>
          <p:cNvSpPr/>
          <p:nvPr/>
        </p:nvSpPr>
        <p:spPr>
          <a:xfrm>
            <a:off x="6675120" y="1600200"/>
            <a:ext cx="2345436" cy="128016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eature 1 marker"/>
          <p:cNvSpPr/>
          <p:nvPr/>
        </p:nvSpPr>
        <p:spPr>
          <a:xfrm>
            <a:off x="6876288" y="1801368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1" name="Feature 1"/>
          <p:cNvSpPr txBox="1"/>
          <p:nvPr/>
        </p:nvSpPr>
        <p:spPr>
          <a:xfrm>
            <a:off x="6876288" y="2203704"/>
            <a:ext cx="19796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EEF0F3"/>
                </a:solidFill>
                <a:latin typeface="Segoe UI Semibold"/>
              </a:rPr>
              <a:t>Пакетная обработка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A3ABBA"/>
                </a:solidFill>
                <a:latin typeface="Segoe UI"/>
              </a:rPr>
              <a:t>много снимков в фоне — окно не зависает</a:t>
            </a:r>
          </a:p>
        </p:txBody>
      </p:sp>
      <p:sp>
        <p:nvSpPr>
          <p:cNvPr id="12" name="Feature 2 card"/>
          <p:cNvSpPr/>
          <p:nvPr/>
        </p:nvSpPr>
        <p:spPr>
          <a:xfrm>
            <a:off x="9294876" y="1600200"/>
            <a:ext cx="2345436" cy="128016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eature 2 marker"/>
          <p:cNvSpPr/>
          <p:nvPr/>
        </p:nvSpPr>
        <p:spPr>
          <a:xfrm>
            <a:off x="9496044" y="1801368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4" name="Feature 2"/>
          <p:cNvSpPr txBox="1"/>
          <p:nvPr/>
        </p:nvSpPr>
        <p:spPr>
          <a:xfrm>
            <a:off x="9496044" y="2203704"/>
            <a:ext cx="19796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EEF0F3"/>
                </a:solidFill>
                <a:latin typeface="Segoe UI Semibold"/>
              </a:rPr>
              <a:t>Перетаскивание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A3ABBA"/>
                </a:solidFill>
                <a:latin typeface="Segoe UI"/>
              </a:rPr>
              <a:t>можно бросить в окно файлы или целую папку</a:t>
            </a:r>
          </a:p>
        </p:txBody>
      </p:sp>
      <p:sp>
        <p:nvSpPr>
          <p:cNvPr id="15" name="Feature 3 card"/>
          <p:cNvSpPr/>
          <p:nvPr/>
        </p:nvSpPr>
        <p:spPr>
          <a:xfrm>
            <a:off x="6675120" y="3044952"/>
            <a:ext cx="2345436" cy="128016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eature 3 marker"/>
          <p:cNvSpPr/>
          <p:nvPr/>
        </p:nvSpPr>
        <p:spPr>
          <a:xfrm>
            <a:off x="6876288" y="3246120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7" name="Feature 3"/>
          <p:cNvSpPr txBox="1"/>
          <p:nvPr/>
        </p:nvSpPr>
        <p:spPr>
          <a:xfrm>
            <a:off x="6876288" y="3648456"/>
            <a:ext cx="19796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EEF0F3"/>
                </a:solidFill>
                <a:latin typeface="Segoe UI Semibold"/>
              </a:rPr>
              <a:t>Снимок / тепловая карта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A3ABBA"/>
                </a:solidFill>
                <a:latin typeface="Segoe UI"/>
              </a:rPr>
              <a:t>переключение кнопкой или клавишей H</a:t>
            </a:r>
          </a:p>
        </p:txBody>
      </p:sp>
      <p:sp>
        <p:nvSpPr>
          <p:cNvPr id="18" name="Feature 4 card"/>
          <p:cNvSpPr/>
          <p:nvPr/>
        </p:nvSpPr>
        <p:spPr>
          <a:xfrm>
            <a:off x="9294876" y="3044952"/>
            <a:ext cx="2345436" cy="128016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eature 4 marker"/>
          <p:cNvSpPr/>
          <p:nvPr/>
        </p:nvSpPr>
        <p:spPr>
          <a:xfrm>
            <a:off x="9496044" y="3246120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0" name="Feature 4"/>
          <p:cNvSpPr txBox="1"/>
          <p:nvPr/>
        </p:nvSpPr>
        <p:spPr>
          <a:xfrm>
            <a:off x="9496044" y="3648456"/>
            <a:ext cx="19796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EEF0F3"/>
                </a:solidFill>
                <a:latin typeface="Segoe UI Semibold"/>
              </a:rPr>
              <a:t>Отчёт и экспорт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A3ABBA"/>
                </a:solidFill>
                <a:latin typeface="Segoe UI"/>
              </a:rPr>
              <a:t>результаты в CSV, тепловые карты в PNG</a:t>
            </a:r>
          </a:p>
        </p:txBody>
      </p:sp>
      <p:sp>
        <p:nvSpPr>
          <p:cNvPr id="21" name="Feature 5 card"/>
          <p:cNvSpPr/>
          <p:nvPr/>
        </p:nvSpPr>
        <p:spPr>
          <a:xfrm>
            <a:off x="6675120" y="4489704"/>
            <a:ext cx="2345436" cy="128016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eature 5 marker"/>
          <p:cNvSpPr/>
          <p:nvPr/>
        </p:nvSpPr>
        <p:spPr>
          <a:xfrm>
            <a:off x="6876288" y="4690872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3" name="Feature 5"/>
          <p:cNvSpPr txBox="1"/>
          <p:nvPr/>
        </p:nvSpPr>
        <p:spPr>
          <a:xfrm>
            <a:off x="6876288" y="5093208"/>
            <a:ext cx="19796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EEF0F3"/>
                </a:solidFill>
                <a:latin typeface="Segoe UI Semibold"/>
              </a:rPr>
              <a:t>Работа на видеокарте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A3ABBA"/>
                </a:solidFill>
                <a:latin typeface="Segoe UI"/>
              </a:rPr>
              <a:t>вычисления на GPU NVIDIA через CUDA</a:t>
            </a:r>
          </a:p>
        </p:txBody>
      </p:sp>
      <p:sp>
        <p:nvSpPr>
          <p:cNvPr id="24" name="Feature 6 card"/>
          <p:cNvSpPr/>
          <p:nvPr/>
        </p:nvSpPr>
        <p:spPr>
          <a:xfrm>
            <a:off x="9294876" y="4489704"/>
            <a:ext cx="2345436" cy="128016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eature 6 marker"/>
          <p:cNvSpPr/>
          <p:nvPr/>
        </p:nvSpPr>
        <p:spPr>
          <a:xfrm>
            <a:off x="9496044" y="4690872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6" name="Feature 6"/>
          <p:cNvSpPr txBox="1"/>
          <p:nvPr/>
        </p:nvSpPr>
        <p:spPr>
          <a:xfrm>
            <a:off x="9496044" y="5093208"/>
            <a:ext cx="19796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EEF0F3"/>
                </a:solidFill>
                <a:latin typeface="Segoe UI Semibold"/>
              </a:rPr>
              <a:t>Две версии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A3ABBA"/>
                </a:solidFill>
                <a:latin typeface="Segoe UI"/>
              </a:rPr>
              <a:t>приложение для Windows и веб-версия в браузере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1672" cy="685800"/>
          </a:xfrm>
        </p:spPr>
        <p:txBody>
          <a:bodyPr wrap="square" lIns="0" tIns="0" rIns="0" bIns="0" anchor="ctr"/>
          <a:lstStyle/>
          <a:p>
            <a:pPr algn="l"/>
            <a:r>
              <a:rPr sz="3200">
                <a:solidFill>
                  <a:srgbClr val="EEF0F3"/>
                </a:solidFill>
                <a:latin typeface="Segoe UI Semibold"/>
              </a:rPr>
              <a:t>Что сделано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spc="200">
                <a:solidFill>
                  <a:srgbClr val="4F8CFF"/>
                </a:solidFill>
                <a:latin typeface="Segoe UI Semibold"/>
              </a:rPr>
              <a:t>09 · ИТОГИ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E7688"/>
                </a:solidFill>
                <a:latin typeface="Segoe UI"/>
              </a:rPr>
              <a:t>PneumoScan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9811512" y="640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E7688"/>
                </a:solidFill>
                <a:latin typeface="Segoe UI"/>
              </a:rPr>
              <a:t>10</a:t>
            </a:r>
          </a:p>
        </p:txBody>
      </p:sp>
      <p:sp>
        <p:nvSpPr>
          <p:cNvPr id="7" name="Done 1 card"/>
          <p:cNvSpPr/>
          <p:nvPr/>
        </p:nvSpPr>
        <p:spPr>
          <a:xfrm>
            <a:off x="548640" y="1600200"/>
            <a:ext cx="2567178" cy="210312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one 1 marker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34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9" name="Done 1"/>
          <p:cNvSpPr txBox="1"/>
          <p:nvPr/>
        </p:nvSpPr>
        <p:spPr>
          <a:xfrm>
            <a:off x="822959" y="2468880"/>
            <a:ext cx="20185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EEF0F3"/>
                </a:solidFill>
                <a:latin typeface="Segoe UI Semibold"/>
              </a:rPr>
              <a:t>Нейросеть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написана с нуля и обучена на 5 216 снимках</a:t>
            </a:r>
          </a:p>
        </p:txBody>
      </p:sp>
      <p:sp>
        <p:nvSpPr>
          <p:cNvPr id="10" name="Done 2 card"/>
          <p:cNvSpPr/>
          <p:nvPr/>
        </p:nvSpPr>
        <p:spPr>
          <a:xfrm>
            <a:off x="3390138" y="1600200"/>
            <a:ext cx="2567178" cy="210312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ne 2 marker"/>
          <p:cNvSpPr/>
          <p:nvPr/>
        </p:nvSpPr>
        <p:spPr>
          <a:xfrm>
            <a:off x="3664458" y="1828800"/>
            <a:ext cx="457200" cy="457200"/>
          </a:xfrm>
          <a:prstGeom prst="ellipse">
            <a:avLst/>
          </a:prstGeom>
          <a:solidFill>
            <a:srgbClr val="34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2" name="Done 2"/>
          <p:cNvSpPr txBox="1"/>
          <p:nvPr/>
        </p:nvSpPr>
        <p:spPr>
          <a:xfrm>
            <a:off x="3664458" y="2468880"/>
            <a:ext cx="20185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EEF0F3"/>
                </a:solidFill>
                <a:latin typeface="Segoe UI Semibold"/>
              </a:rPr>
              <a:t>Объяснимость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тепловые карты Grad‑CAM для каждого снимка</a:t>
            </a:r>
          </a:p>
        </p:txBody>
      </p:sp>
      <p:sp>
        <p:nvSpPr>
          <p:cNvPr id="13" name="Done 3 card"/>
          <p:cNvSpPr/>
          <p:nvPr/>
        </p:nvSpPr>
        <p:spPr>
          <a:xfrm>
            <a:off x="6231636" y="1600200"/>
            <a:ext cx="2567178" cy="210312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ne 3 marker"/>
          <p:cNvSpPr/>
          <p:nvPr/>
        </p:nvSpPr>
        <p:spPr>
          <a:xfrm>
            <a:off x="6505955" y="1828800"/>
            <a:ext cx="457200" cy="457200"/>
          </a:xfrm>
          <a:prstGeom prst="ellipse">
            <a:avLst/>
          </a:prstGeom>
          <a:solidFill>
            <a:srgbClr val="34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5" name="Done 3"/>
          <p:cNvSpPr txBox="1"/>
          <p:nvPr/>
        </p:nvSpPr>
        <p:spPr>
          <a:xfrm>
            <a:off x="6505955" y="2468880"/>
            <a:ext cx="20185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EEF0F3"/>
                </a:solidFill>
                <a:latin typeface="Segoe UI Semibold"/>
              </a:rPr>
              <a:t>Приложение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PneumoScan для Windows с ярлыком на рабочем столе</a:t>
            </a:r>
          </a:p>
        </p:txBody>
      </p:sp>
      <p:sp>
        <p:nvSpPr>
          <p:cNvPr id="16" name="Done 4 card"/>
          <p:cNvSpPr/>
          <p:nvPr/>
        </p:nvSpPr>
        <p:spPr>
          <a:xfrm>
            <a:off x="9073134" y="1600200"/>
            <a:ext cx="2567178" cy="210312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ne 4 marker"/>
          <p:cNvSpPr/>
          <p:nvPr/>
        </p:nvSpPr>
        <p:spPr>
          <a:xfrm>
            <a:off x="9347454" y="1828800"/>
            <a:ext cx="457200" cy="457200"/>
          </a:xfrm>
          <a:prstGeom prst="ellipse">
            <a:avLst/>
          </a:prstGeom>
          <a:solidFill>
            <a:srgbClr val="34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Done 4"/>
          <p:cNvSpPr txBox="1"/>
          <p:nvPr/>
        </p:nvSpPr>
        <p:spPr>
          <a:xfrm>
            <a:off x="9347454" y="2468880"/>
            <a:ext cx="20185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EEF0F3"/>
                </a:solidFill>
                <a:latin typeface="Segoe UI Semibold"/>
              </a:rPr>
              <a:t>Веб-версия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A3ABBA"/>
                </a:solidFill>
                <a:latin typeface="Segoe UI"/>
              </a:rPr>
              <a:t>тот же анализ в браузере</a:t>
            </a:r>
          </a:p>
        </p:txBody>
      </p:sp>
      <p:sp>
        <p:nvSpPr>
          <p:cNvPr id="19" name="Result 1 value"/>
          <p:cNvSpPr txBox="1"/>
          <p:nvPr/>
        </p:nvSpPr>
        <p:spPr>
          <a:xfrm>
            <a:off x="548640" y="434340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>
                <a:solidFill>
                  <a:srgbClr val="4F8CFF"/>
                </a:solidFill>
                <a:latin typeface="Segoe UI Semibold"/>
              </a:rPr>
              <a:t>0.971</a:t>
            </a:r>
          </a:p>
        </p:txBody>
      </p:sp>
      <p:sp>
        <p:nvSpPr>
          <p:cNvPr id="20" name="Result 1 label"/>
          <p:cNvSpPr txBox="1"/>
          <p:nvPr/>
        </p:nvSpPr>
        <p:spPr>
          <a:xfrm>
            <a:off x="548640" y="5166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A3ABBA"/>
                </a:solidFill>
                <a:latin typeface="Segoe UI"/>
              </a:rPr>
              <a:t>ROC-AUC</a:t>
            </a:r>
          </a:p>
        </p:txBody>
      </p:sp>
      <p:sp>
        <p:nvSpPr>
          <p:cNvPr id="21" name="Result 2 value"/>
          <p:cNvSpPr txBox="1"/>
          <p:nvPr/>
        </p:nvSpPr>
        <p:spPr>
          <a:xfrm>
            <a:off x="2926080" y="434340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>
                <a:solidFill>
                  <a:srgbClr val="34C47C"/>
                </a:solidFill>
                <a:latin typeface="Segoe UI Semibold"/>
              </a:rPr>
              <a:t>99.0%</a:t>
            </a:r>
          </a:p>
        </p:txBody>
      </p:sp>
      <p:sp>
        <p:nvSpPr>
          <p:cNvPr id="22" name="Result 2 label"/>
          <p:cNvSpPr txBox="1"/>
          <p:nvPr/>
        </p:nvSpPr>
        <p:spPr>
          <a:xfrm>
            <a:off x="2926080" y="5166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A3ABBA"/>
                </a:solidFill>
                <a:latin typeface="Segoe UI"/>
              </a:rPr>
              <a:t>пневмоний найдено</a:t>
            </a:r>
          </a:p>
        </p:txBody>
      </p:sp>
      <p:sp>
        <p:nvSpPr>
          <p:cNvPr id="23" name="Result 3 value"/>
          <p:cNvSpPr txBox="1"/>
          <p:nvPr/>
        </p:nvSpPr>
        <p:spPr>
          <a:xfrm>
            <a:off x="5303520" y="434340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>
                <a:solidFill>
                  <a:srgbClr val="EEF0F3"/>
                </a:solidFill>
                <a:latin typeface="Segoe UI Semibold"/>
              </a:rPr>
              <a:t>88.1%</a:t>
            </a:r>
          </a:p>
        </p:txBody>
      </p:sp>
      <p:sp>
        <p:nvSpPr>
          <p:cNvPr id="24" name="Result 3 label"/>
          <p:cNvSpPr txBox="1"/>
          <p:nvPr/>
        </p:nvSpPr>
        <p:spPr>
          <a:xfrm>
            <a:off x="5303520" y="5166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A3ABBA"/>
                </a:solidFill>
                <a:latin typeface="Segoe UI"/>
              </a:rPr>
              <a:t>общая точность</a:t>
            </a:r>
          </a:p>
        </p:txBody>
      </p:sp>
      <p:sp>
        <p:nvSpPr>
          <p:cNvPr id="25" name="GitHub card"/>
          <p:cNvSpPr/>
          <p:nvPr/>
        </p:nvSpPr>
        <p:spPr>
          <a:xfrm>
            <a:off x="7726679" y="4069080"/>
            <a:ext cx="3913632" cy="2011680"/>
          </a:xfrm>
          <a:prstGeom prst="roundRect">
            <a:avLst>
              <a:gd name="adj" fmla="val 5000"/>
            </a:avLst>
          </a:prstGeom>
          <a:solidFill>
            <a:srgbClr val="161B24"/>
          </a:solidFill>
          <a:ln w="9525">
            <a:solidFill>
              <a:srgbClr val="29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GitHub icon"/>
          <p:cNvSpPr/>
          <p:nvPr/>
        </p:nvSpPr>
        <p:spPr>
          <a:xfrm>
            <a:off x="8001000" y="4343400"/>
            <a:ext cx="457200" cy="457200"/>
          </a:xfrm>
          <a:prstGeom prst="ellipse">
            <a:avLst/>
          </a:prstGeom>
          <a:solidFill>
            <a:srgbClr val="1C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EEF0F3"/>
                </a:solidFill>
                <a:latin typeface="Segoe UI Semibold"/>
              </a:rPr>
              <a:t>&lt;/&gt;</a:t>
            </a:r>
          </a:p>
        </p:txBody>
      </p:sp>
      <p:sp>
        <p:nvSpPr>
          <p:cNvPr id="27" name="GitHub title"/>
          <p:cNvSpPr txBox="1"/>
          <p:nvPr/>
        </p:nvSpPr>
        <p:spPr>
          <a:xfrm>
            <a:off x="8595360" y="4343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EEF0F3"/>
                </a:solidFill>
                <a:latin typeface="Segoe UI Semibold"/>
              </a:rPr>
              <a:t>Исходный код</a:t>
            </a:r>
          </a:p>
        </p:txBody>
      </p:sp>
      <p:sp>
        <p:nvSpPr>
          <p:cNvPr id="28" name="GitHub link"/>
          <p:cNvSpPr txBox="1"/>
          <p:nvPr/>
        </p:nvSpPr>
        <p:spPr>
          <a:xfrm>
            <a:off x="8001000" y="49834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F8CFF"/>
                </a:solidFill>
                <a:latin typeface="Segoe UI Semibold"/>
              </a:rPr>
              <a:t>[ссылка на GitHub]</a:t>
            </a:r>
          </a:p>
        </p:txBody>
      </p:sp>
      <p:sp>
        <p:nvSpPr>
          <p:cNvPr id="29" name="GitHub note"/>
          <p:cNvSpPr txBox="1"/>
          <p:nvPr/>
        </p:nvSpPr>
        <p:spPr>
          <a:xfrm>
            <a:off x="8001000" y="53492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A3ABBA"/>
                </a:solidFill>
                <a:latin typeface="Segoe UI"/>
              </a:rPr>
              <a:t>код, модель и примеры снимков</a:t>
            </a:r>
          </a:p>
        </p:txBody>
      </p:sp>
      <p:sp>
        <p:nvSpPr>
          <p:cNvPr id="30" name="GitHub QR placeholder"/>
          <p:cNvSpPr/>
          <p:nvPr/>
        </p:nvSpPr>
        <p:spPr>
          <a:xfrm>
            <a:off x="10424160" y="434340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161B24"/>
          </a:solidFill>
          <a:ln w="9525">
            <a:solidFill>
              <a:srgbClr val="6E76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6E7688"/>
                </a:solidFill>
                <a:latin typeface="Segoe UI Semibold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eumoScan">
  <a:themeElements>
    <a:clrScheme name="Office">
      <a:dk1>
        <a:sysClr val="windowText" lastClr="000000"/>
      </a:dk1>
      <a:lt1>
        <a:sysClr val="window" lastClr="FFFFFF"/>
      </a:lt1>
      <a:dk2>
        <a:srgbClr val="0E1117"/>
      </a:dk2>
      <a:lt2>
        <a:srgbClr val="161B24"/>
      </a:lt2>
      <a:accent1>
        <a:srgbClr val="4F8CFF"/>
      </a:accent1>
      <a:accent2>
        <a:srgbClr val="34C47C"/>
      </a:accent2>
      <a:accent3>
        <a:srgbClr val="F0565B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1125</Words>
  <Application>Microsoft Office PowerPoint</Application>
  <PresentationFormat>Широкоэкранный</PresentationFormat>
  <Paragraphs>238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Segoe UI</vt:lpstr>
      <vt:lpstr>Segoe UI Semibold</vt:lpstr>
      <vt:lpstr>PneumoScan</vt:lpstr>
      <vt:lpstr>PneumoScan</vt:lpstr>
      <vt:lpstr>Задача и данные</vt:lpstr>
      <vt:lpstr>Как это работает</vt:lpstr>
      <vt:lpstr>Сверточная нейросеть</vt:lpstr>
      <vt:lpstr>Как обучалась модель</vt:lpstr>
      <vt:lpstr>Результаты на 624 снимках валидации</vt:lpstr>
      <vt:lpstr>Тепловая карта: куда смотрит модель</vt:lpstr>
      <vt:lpstr>Приложение PneumoScan для Windows</vt:lpstr>
      <vt:lpstr>Возможности приложения</vt:lpstr>
      <vt:lpstr>Что сделано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PneumoScan — распознавание пневмонии</dc:title>
  <dc:subject/>
  <dc:creator>Соломонов Д. М., Калашников Н. Д.</dc:creator>
  <cp:keywords/>
  <dc:description>generated using python-pptx</dc:description>
  <cp:lastModifiedBy>Dmitriy Solomonov</cp:lastModifiedBy>
  <cp:revision>2</cp:revision>
  <dcterms:created xsi:type="dcterms:W3CDTF">2013-01-27T09:14:16Z</dcterms:created>
  <dcterms:modified xsi:type="dcterms:W3CDTF">2026-10-08T09:22:07Z</dcterms:modified>
  <cp:category/>
</cp:coreProperties>
</file>